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8ed0e5795247e4" /><Relationship Type="http://schemas.openxmlformats.org/officeDocument/2006/relationships/extended-properties" Target="/docProps/app.xml" Id="R68cf0cdc4989464f" /><Relationship Type="http://schemas.openxmlformats.org/officeDocument/2006/relationships/officeDocument" Target="/ppt/presentation.xml" Id="R1868f35104ac467f" /></Relationships>
</file>

<file path=ppt/presentation.xml><?xml version="1.0" encoding="utf-8"?>
<p:presentation xmlns:p="http://schemas.openxmlformats.org/presentationml/2006/main">
  <p:sldMasterIdLst>
    <p:sldMasterId xmlns:r="http://schemas.openxmlformats.org/officeDocument/2006/relationships" id="2147483648" r:id="Rbcb77217165849f1"/>
  </p:sldMasterIdLst>
  <p:notesMasterIdLst>
    <p:notesMasterId xmlns:r="http://schemas.openxmlformats.org/officeDocument/2006/relationships" r:id="R8eb8711ae4c14216"/>
  </p:notesMasterIdLst>
  <p:sldIdLst>
    <p:sldId xmlns:r="http://schemas.openxmlformats.org/officeDocument/2006/relationships" id="256" r:id="Rfd8e73bb537f4d5c"/>
    <p:sldId xmlns:r="http://schemas.openxmlformats.org/officeDocument/2006/relationships" id="257" r:id="Rbafee269cfa84b3c"/>
    <p:sldId xmlns:r="http://schemas.openxmlformats.org/officeDocument/2006/relationships" id="258" r:id="Rbe3a42689aa04c93"/>
    <p:sldId xmlns:r="http://schemas.openxmlformats.org/officeDocument/2006/relationships" id="259" r:id="R34722c8a68e34027"/>
    <p:sldId xmlns:r="http://schemas.openxmlformats.org/officeDocument/2006/relationships" id="260" r:id="R6cbdeb9c378d460e"/>
    <p:sldId xmlns:r="http://schemas.openxmlformats.org/officeDocument/2006/relationships" id="261" r:id="Rf82f28ab64bd43ea"/>
    <p:sldId xmlns:r="http://schemas.openxmlformats.org/officeDocument/2006/relationships" id="262" r:id="R5466e0b0f17c4ccd"/>
    <p:sldId xmlns:r="http://schemas.openxmlformats.org/officeDocument/2006/relationships" id="263" r:id="Rffa9e21a97764e66"/>
    <p:sldId xmlns:r="http://schemas.openxmlformats.org/officeDocument/2006/relationships" id="264" r:id="R056db3e481774de8"/>
    <p:sldId xmlns:r="http://schemas.openxmlformats.org/officeDocument/2006/relationships" id="265" r:id="R037d5f82488541e1"/>
    <p:sldId xmlns:r="http://schemas.openxmlformats.org/officeDocument/2006/relationships" id="266" r:id="Rdddb9c543f314a43"/>
    <p:sldId xmlns:r="http://schemas.openxmlformats.org/officeDocument/2006/relationships" id="267" r:id="R8c50036abb6b4a12"/>
    <p:sldId xmlns:r="http://schemas.openxmlformats.org/officeDocument/2006/relationships" id="268" r:id="R6898e3c700f64cfd"/>
    <p:sldId xmlns:r="http://schemas.openxmlformats.org/officeDocument/2006/relationships" id="269" r:id="Rec55933123434394"/>
    <p:sldId xmlns:r="http://schemas.openxmlformats.org/officeDocument/2006/relationships" id="270" r:id="Re32389c51f10432c"/>
    <p:sldId xmlns:r="http://schemas.openxmlformats.org/officeDocument/2006/relationships" id="271" r:id="R2287d37047904d33"/>
    <p:sldId xmlns:r="http://schemas.openxmlformats.org/officeDocument/2006/relationships" id="272" r:id="Rf5ee4b2023e94a97"/>
    <p:sldId xmlns:r="http://schemas.openxmlformats.org/officeDocument/2006/relationships" id="273" r:id="Reb3819b265ef41c6"/>
    <p:sldId xmlns:r="http://schemas.openxmlformats.org/officeDocument/2006/relationships" id="274" r:id="Rf1204597879d42f2"/>
    <p:sldId xmlns:r="http://schemas.openxmlformats.org/officeDocument/2006/relationships" id="275" r:id="R009b8d16a8724f98"/>
    <p:sldId xmlns:r="http://schemas.openxmlformats.org/officeDocument/2006/relationships" id="276" r:id="Re109b2238e4b4576"/>
    <p:sldId xmlns:r="http://schemas.openxmlformats.org/officeDocument/2006/relationships" id="277" r:id="R54de3bc20dda4189"/>
    <p:sldId xmlns:r="http://schemas.openxmlformats.org/officeDocument/2006/relationships" id="278" r:id="R76ede09418514d27"/>
    <p:sldId xmlns:r="http://schemas.openxmlformats.org/officeDocument/2006/relationships" id="279" r:id="R035a1db0a1cd4a4d"/>
    <p:sldId xmlns:r="http://schemas.openxmlformats.org/officeDocument/2006/relationships" id="280" r:id="Rcefb3590a1e447db"/>
    <p:sldId xmlns:r="http://schemas.openxmlformats.org/officeDocument/2006/relationships" id="281" r:id="R50fa28957b434404"/>
    <p:sldId xmlns:r="http://schemas.openxmlformats.org/officeDocument/2006/relationships" id="282" r:id="Rfabf96b21aa44e46"/>
    <p:sldId xmlns:r="http://schemas.openxmlformats.org/officeDocument/2006/relationships" id="283" r:id="R21ad2d65041f48e2"/>
    <p:sldId xmlns:r="http://schemas.openxmlformats.org/officeDocument/2006/relationships" id="284" r:id="R7d8498af68914937"/>
    <p:sldId xmlns:r="http://schemas.openxmlformats.org/officeDocument/2006/relationships" id="285" r:id="Rd25db2cf839745d2"/>
    <p:sldId xmlns:r="http://schemas.openxmlformats.org/officeDocument/2006/relationships" id="286" r:id="Rb4d712ac45ba42ea"/>
    <p:sldId xmlns:r="http://schemas.openxmlformats.org/officeDocument/2006/relationships" id="287" r:id="R59b87462807a4550"/>
    <p:sldId xmlns:r="http://schemas.openxmlformats.org/officeDocument/2006/relationships" id="288" r:id="Rcc456686fd1e476e"/>
    <p:sldId xmlns:r="http://schemas.openxmlformats.org/officeDocument/2006/relationships" id="289" r:id="Ra87afc3ae4e14525"/>
    <p:sldId xmlns:r="http://schemas.openxmlformats.org/officeDocument/2006/relationships" id="290" r:id="R3f077e7c6bfc4e53"/>
    <p:sldId xmlns:r="http://schemas.openxmlformats.org/officeDocument/2006/relationships" id="291" r:id="R0d1393d72207479c"/>
    <p:sldId xmlns:r="http://schemas.openxmlformats.org/officeDocument/2006/relationships" id="292" r:id="Rd6b18ba31d1f4e7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889fbb94924708" /><Relationship Type="http://schemas.openxmlformats.org/officeDocument/2006/relationships/slideMaster" Target="/ppt/slideMasters/slideMaster1.xml" Id="Rbcb77217165849f1" /><Relationship Type="http://schemas.openxmlformats.org/officeDocument/2006/relationships/notesMaster" Target="/ppt/notesMasters/notesMaster1.xml" Id="R8eb8711ae4c14216" /><Relationship Type="http://schemas.openxmlformats.org/officeDocument/2006/relationships/presProps" Target="/ppt/presProps.xml" Id="R73bfe8f48ec443c5" /><Relationship Type="http://schemas.openxmlformats.org/officeDocument/2006/relationships/tableStyles" Target="/ppt/tableStyles.xml" Id="R6faab181f0a543ab" /><Relationship Type="http://schemas.openxmlformats.org/officeDocument/2006/relationships/slide" Target="/ppt/slides/slide1.xml" Id="Rfd8e73bb537f4d5c" /><Relationship Type="http://schemas.openxmlformats.org/officeDocument/2006/relationships/slide" Target="/ppt/slides/slide2.xml" Id="Rbafee269cfa84b3c" /><Relationship Type="http://schemas.openxmlformats.org/officeDocument/2006/relationships/slide" Target="/ppt/slides/slide3.xml" Id="Rbe3a42689aa04c93" /><Relationship Type="http://schemas.openxmlformats.org/officeDocument/2006/relationships/slide" Target="/ppt/slides/slide4.xml" Id="R34722c8a68e34027" /><Relationship Type="http://schemas.openxmlformats.org/officeDocument/2006/relationships/slide" Target="/ppt/slides/slide5.xml" Id="R6cbdeb9c378d460e" /><Relationship Type="http://schemas.openxmlformats.org/officeDocument/2006/relationships/slide" Target="/ppt/slides/slide6.xml" Id="Rf82f28ab64bd43ea" /><Relationship Type="http://schemas.openxmlformats.org/officeDocument/2006/relationships/slide" Target="/ppt/slides/slide7.xml" Id="R5466e0b0f17c4ccd" /><Relationship Type="http://schemas.openxmlformats.org/officeDocument/2006/relationships/slide" Target="/ppt/slides/slide8.xml" Id="Rffa9e21a97764e66" /><Relationship Type="http://schemas.openxmlformats.org/officeDocument/2006/relationships/slide" Target="/ppt/slides/slide9.xml" Id="R056db3e481774de8" /><Relationship Type="http://schemas.openxmlformats.org/officeDocument/2006/relationships/slide" Target="/ppt/slides/slide10.xml" Id="R037d5f82488541e1" /><Relationship Type="http://schemas.openxmlformats.org/officeDocument/2006/relationships/slide" Target="/ppt/slides/slide11.xml" Id="Rdddb9c543f314a43" /><Relationship Type="http://schemas.openxmlformats.org/officeDocument/2006/relationships/slide" Target="/ppt/slides/slide12.xml" Id="R8c50036abb6b4a12" /><Relationship Type="http://schemas.openxmlformats.org/officeDocument/2006/relationships/slide" Target="/ppt/slides/slide13.xml" Id="R6898e3c700f64cfd" /><Relationship Type="http://schemas.openxmlformats.org/officeDocument/2006/relationships/slide" Target="/ppt/slides/slide14.xml" Id="Rec55933123434394" /><Relationship Type="http://schemas.openxmlformats.org/officeDocument/2006/relationships/slide" Target="/ppt/slides/slide15.xml" Id="Re32389c51f10432c" /><Relationship Type="http://schemas.openxmlformats.org/officeDocument/2006/relationships/slide" Target="/ppt/slides/slide16.xml" Id="R2287d37047904d33" /><Relationship Type="http://schemas.openxmlformats.org/officeDocument/2006/relationships/slide" Target="/ppt/slides/slide17.xml" Id="Rf5ee4b2023e94a97" /><Relationship Type="http://schemas.openxmlformats.org/officeDocument/2006/relationships/slide" Target="/ppt/slides/slide18.xml" Id="Reb3819b265ef41c6" /><Relationship Type="http://schemas.openxmlformats.org/officeDocument/2006/relationships/slide" Target="/ppt/slides/slide19.xml" Id="Rf1204597879d42f2" /><Relationship Type="http://schemas.openxmlformats.org/officeDocument/2006/relationships/slide" Target="/ppt/slides/slide20.xml" Id="R009b8d16a8724f98" /><Relationship Type="http://schemas.openxmlformats.org/officeDocument/2006/relationships/slide" Target="/ppt/slides/slide21.xml" Id="Re109b2238e4b4576" /><Relationship Type="http://schemas.openxmlformats.org/officeDocument/2006/relationships/slide" Target="/ppt/slides/slide22.xml" Id="R54de3bc20dda4189" /><Relationship Type="http://schemas.openxmlformats.org/officeDocument/2006/relationships/slide" Target="/ppt/slides/slide23.xml" Id="R76ede09418514d27" /><Relationship Type="http://schemas.openxmlformats.org/officeDocument/2006/relationships/slide" Target="/ppt/slides/slide24.xml" Id="R035a1db0a1cd4a4d" /><Relationship Type="http://schemas.openxmlformats.org/officeDocument/2006/relationships/slide" Target="/ppt/slides/slide25.xml" Id="Rcefb3590a1e447db" /><Relationship Type="http://schemas.openxmlformats.org/officeDocument/2006/relationships/slide" Target="/ppt/slides/slide26.xml" Id="R50fa28957b434404" /><Relationship Type="http://schemas.openxmlformats.org/officeDocument/2006/relationships/slide" Target="/ppt/slides/slide27.xml" Id="Rfabf96b21aa44e46" /><Relationship Type="http://schemas.openxmlformats.org/officeDocument/2006/relationships/slide" Target="/ppt/slides/slide28.xml" Id="R21ad2d65041f48e2" /><Relationship Type="http://schemas.openxmlformats.org/officeDocument/2006/relationships/slide" Target="/ppt/slides/slide29.xml" Id="R7d8498af68914937" /><Relationship Type="http://schemas.openxmlformats.org/officeDocument/2006/relationships/slide" Target="/ppt/slides/slide30.xml" Id="Rd25db2cf839745d2" /><Relationship Type="http://schemas.openxmlformats.org/officeDocument/2006/relationships/slide" Target="/ppt/slides/slide31.xml" Id="Rb4d712ac45ba42ea" /><Relationship Type="http://schemas.openxmlformats.org/officeDocument/2006/relationships/slide" Target="/ppt/slides/slide32.xml" Id="R59b87462807a4550" /><Relationship Type="http://schemas.openxmlformats.org/officeDocument/2006/relationships/slide" Target="/ppt/slides/slide33.xml" Id="Rcc456686fd1e476e" /><Relationship Type="http://schemas.openxmlformats.org/officeDocument/2006/relationships/slide" Target="/ppt/slides/slide34.xml" Id="Ra87afc3ae4e14525" /><Relationship Type="http://schemas.openxmlformats.org/officeDocument/2006/relationships/slide" Target="/ppt/slides/slide35.xml" Id="R3f077e7c6bfc4e53" /><Relationship Type="http://schemas.openxmlformats.org/officeDocument/2006/relationships/slide" Target="/ppt/slides/slide36.xml" Id="R0d1393d72207479c" /><Relationship Type="http://schemas.openxmlformats.org/officeDocument/2006/relationships/slide" Target="/ppt/slides/slide37.xml" Id="Rd6b18ba31d1f4e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3c72b23e164b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689ac9fd984fc1" /><Relationship Type="http://schemas.openxmlformats.org/officeDocument/2006/relationships/notesMaster" Target="/ppt/notesMasters/notesMaster1.xml" Id="R8f41e3a1ae5b4f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a60ed607514219" /><Relationship Type="http://schemas.openxmlformats.org/officeDocument/2006/relationships/notesMaster" Target="/ppt/notesMasters/notesMaster1.xml" Id="Rbb891df2d84241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509690a16c425b" /><Relationship Type="http://schemas.openxmlformats.org/officeDocument/2006/relationships/notesMaster" Target="/ppt/notesMasters/notesMaster1.xml" Id="R90b2c5bb724e47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cfec24af664e3a" /><Relationship Type="http://schemas.openxmlformats.org/officeDocument/2006/relationships/notesMaster" Target="/ppt/notesMasters/notesMaster1.xml" Id="Rf1124832d29b47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8daa763c7b4773" /><Relationship Type="http://schemas.openxmlformats.org/officeDocument/2006/relationships/notesMaster" Target="/ppt/notesMasters/notesMaster1.xml" Id="Rfaf4a807081f4e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95b96026c346fb" /><Relationship Type="http://schemas.openxmlformats.org/officeDocument/2006/relationships/notesMaster" Target="/ppt/notesMasters/notesMaster1.xml" Id="R9ace6cf4a2464f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4b7f7535354b6a" /><Relationship Type="http://schemas.openxmlformats.org/officeDocument/2006/relationships/notesMaster" Target="/ppt/notesMasters/notesMaster1.xml" Id="R7dd2a1349d8f49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c2fb1528844ae7" /><Relationship Type="http://schemas.openxmlformats.org/officeDocument/2006/relationships/notesMaster" Target="/ppt/notesMasters/notesMaster1.xml" Id="R34f66f58c1ea4a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900a62e73b41fe" /><Relationship Type="http://schemas.openxmlformats.org/officeDocument/2006/relationships/notesMaster" Target="/ppt/notesMasters/notesMaster1.xml" Id="Rc8a570b3542b48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1f40504fc24b14" /><Relationship Type="http://schemas.openxmlformats.org/officeDocument/2006/relationships/notesMaster" Target="/ppt/notesMasters/notesMaster1.xml" Id="R87fcee9a00e842c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710644bb23b428b" /><Relationship Type="http://schemas.openxmlformats.org/officeDocument/2006/relationships/notesMaster" Target="/ppt/notesMasters/notesMaster1.xml" Id="Rc2b1c9de0e5c45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7cab62734f4f18" /><Relationship Type="http://schemas.openxmlformats.org/officeDocument/2006/relationships/notesMaster" Target="/ppt/notesMasters/notesMaster1.xml" Id="R7ada85615b4a49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c6face055e34daa" /><Relationship Type="http://schemas.openxmlformats.org/officeDocument/2006/relationships/notesMaster" Target="/ppt/notesMasters/notesMaster1.xml" Id="Rb486aad202044a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1362919253b4cff" /><Relationship Type="http://schemas.openxmlformats.org/officeDocument/2006/relationships/notesMaster" Target="/ppt/notesMasters/notesMaster1.xml" Id="Reaea544f0e3649e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587368a5c804bc8" /><Relationship Type="http://schemas.openxmlformats.org/officeDocument/2006/relationships/notesMaster" Target="/ppt/notesMasters/notesMaster1.xml" Id="Rbda25c04072e4cd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ed3107884aa4287" /><Relationship Type="http://schemas.openxmlformats.org/officeDocument/2006/relationships/notesMaster" Target="/ppt/notesMasters/notesMaster1.xml" Id="Re88267c21bc24af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0c0488194054ff5" /><Relationship Type="http://schemas.openxmlformats.org/officeDocument/2006/relationships/notesMaster" Target="/ppt/notesMasters/notesMaster1.xml" Id="R94b0612fad5446f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49dd687f33d4164" /><Relationship Type="http://schemas.openxmlformats.org/officeDocument/2006/relationships/notesMaster" Target="/ppt/notesMasters/notesMaster1.xml" Id="Ree137ee854c7482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0c2bd2f7061460c" /><Relationship Type="http://schemas.openxmlformats.org/officeDocument/2006/relationships/notesMaster" Target="/ppt/notesMasters/notesMaster1.xml" Id="R21e21e54881c476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a8ae42315af4525" /><Relationship Type="http://schemas.openxmlformats.org/officeDocument/2006/relationships/notesMaster" Target="/ppt/notesMasters/notesMaster1.xml" Id="Rad4810a61d0a49d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fb55b06e06949f0" /><Relationship Type="http://schemas.openxmlformats.org/officeDocument/2006/relationships/notesMaster" Target="/ppt/notesMasters/notesMaster1.xml" Id="Re39fd00d52a640b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bdbdb6871b34f71" /><Relationship Type="http://schemas.openxmlformats.org/officeDocument/2006/relationships/notesMaster" Target="/ppt/notesMasters/notesMaster1.xml" Id="Rb80044f8dc684bc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b37037a17804075" /><Relationship Type="http://schemas.openxmlformats.org/officeDocument/2006/relationships/notesMaster" Target="/ppt/notesMasters/notesMaster1.xml" Id="R2c9f43a117ff4d6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b904b1cf97a4cd8" /><Relationship Type="http://schemas.openxmlformats.org/officeDocument/2006/relationships/notesMaster" Target="/ppt/notesMasters/notesMaster1.xml" Id="Rbfb506189642496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f42852a83e94f70" /><Relationship Type="http://schemas.openxmlformats.org/officeDocument/2006/relationships/notesMaster" Target="/ppt/notesMasters/notesMaster1.xml" Id="R8cf52e3f58c74ae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9916c61023948b8" /><Relationship Type="http://schemas.openxmlformats.org/officeDocument/2006/relationships/notesMaster" Target="/ppt/notesMasters/notesMaster1.xml" Id="R9e53110a49954ae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d51fe14c2434e08" /><Relationship Type="http://schemas.openxmlformats.org/officeDocument/2006/relationships/notesMaster" Target="/ppt/notesMasters/notesMaster1.xml" Id="Rbd0ed70ccd464d9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1b8a2c7e1f34d80" /><Relationship Type="http://schemas.openxmlformats.org/officeDocument/2006/relationships/notesMaster" Target="/ppt/notesMasters/notesMaster1.xml" Id="Rfee3fe93409b445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e7cccf508ff49dc" /><Relationship Type="http://schemas.openxmlformats.org/officeDocument/2006/relationships/notesMaster" Target="/ppt/notesMasters/notesMaster1.xml" Id="Rf59aa6c7f439442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03daa51426a44cc" /><Relationship Type="http://schemas.openxmlformats.org/officeDocument/2006/relationships/notesMaster" Target="/ppt/notesMasters/notesMaster1.xml" Id="Rcbcc90fee24c4f9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bd4de09a75d494a" /><Relationship Type="http://schemas.openxmlformats.org/officeDocument/2006/relationships/notesMaster" Target="/ppt/notesMasters/notesMaster1.xml" Id="R36ae16ae260b41b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81634f51ac34c6e" /><Relationship Type="http://schemas.openxmlformats.org/officeDocument/2006/relationships/notesMaster" Target="/ppt/notesMasters/notesMaster1.xml" Id="R883c4b4c61a64b4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76b52974cf945a1" /><Relationship Type="http://schemas.openxmlformats.org/officeDocument/2006/relationships/notesMaster" Target="/ppt/notesMasters/notesMaster1.xml" Id="Rc120946730d04b6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78b2a415cb94fef" /><Relationship Type="http://schemas.openxmlformats.org/officeDocument/2006/relationships/notesMaster" Target="/ppt/notesMasters/notesMaster1.xml" Id="R778f2f2a6b9f437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7870fdbfba64fef" /><Relationship Type="http://schemas.openxmlformats.org/officeDocument/2006/relationships/notesMaster" Target="/ppt/notesMasters/notesMaster1.xml" Id="Rac87ae3c99734df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2f8d60b91734ed0" /><Relationship Type="http://schemas.openxmlformats.org/officeDocument/2006/relationships/notesMaster" Target="/ppt/notesMasters/notesMaster1.xml" Id="Rebb44ead322f4e2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0ea61fdbe284630" /><Relationship Type="http://schemas.openxmlformats.org/officeDocument/2006/relationships/notesMaster" Target="/ppt/notesMasters/notesMaster1.xml" Id="Raef890cf23a648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Presentar el propósito: convertir una experiencia de desarrollo con IA en un método que los participantes puedan practicar. La aplicación sirve de caso conductor. No prometer una aplicación completa terminada durante la clase. El laboratorio trabaja una funcionalidad acotada. Duración sugerida: 90 minutos con herramientas instaladas. Si todos instalan desde cero, reservar una sesión adicional de preparación.</a:t>
            </a:r>
          </a:p>
          <a:p xmlns:a="http://schemas.openxmlformats.org/drawingml/2006/main">
            <a:r>
              <a:t/>
            </a:r>
          </a:p>
          <a:p xmlns:a="http://schemas.openxmlformats.org/drawingml/2006/main">
            <a:r>
              <a:t>FUENTES</a:t>
            </a:r>
          </a:p>
          <a:p xmlns:a="http://schemas.openxmlformats.org/drawingml/2006/main">
            <a:r>
              <a:t>Ejemplos didácticos originales y contexto del proyecto compartido por Jean.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Al final, cada participante debe poder explicar los conceptos, preparar un repositorio, redactar una especificación y revisar el resultado de un agente. Preguntar quién conoce .NET, SQL y Git. Si faltan conocimientos, mostrar la demostración en pareja y entregar los comandos para practicar después. El tiempo es una propuesta didáctica y depende del nivel del grupo.</a:t>
            </a:r>
          </a:p>
          <a:p xmlns:a="http://schemas.openxmlformats.org/drawingml/2006/main">
            <a:r>
              <a:t/>
            </a:r>
          </a:p>
          <a:p xmlns:a="http://schemas.openxmlformats.org/drawingml/2006/main">
            <a:r>
              <a:t>FUENTES</a:t>
            </a:r>
          </a:p>
          <a:p xmlns:a="http://schemas.openxmlformats.org/drawingml/2006/main">
            <a:r>
              <a:t>Ejemplos didácticos originales y contexto del proyecto compartido por Jean.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Alfa y Beta son empresas ficticias para el ejercicio. La descripción general del producto proviene del proyecto compartido por Jean. Pedir a los asistentes que indiquen qué datos necesitarían para responder la pregunta. Diferenciar una tecnología estándar aprobada corporativamente de una implementación concreta. No afirmar que todo el flujo propuesto ya esté desplegado.</a:t>
            </a:r>
          </a:p>
          <a:p xmlns:a="http://schemas.openxmlformats.org/drawingml/2006/main">
            <a:r>
              <a:t/>
            </a:r>
          </a:p>
          <a:p xmlns:a="http://schemas.openxmlformats.org/drawingml/2006/main">
            <a:r>
              <a:t>FUENTES</a:t>
            </a:r>
          </a:p>
          <a:p xmlns:a="http://schemas.openxmlformats.org/drawingml/2006/main">
            <a:r>
              <a:t>Ejemplos didácticos originales y contexto del proyecto compartido por Jean.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Usar esta diapositiva para mantener el relato honesto. El historial recoge esas herramientas y actividades, pero no aporta una auditoría del repositorio actual ni la lista exacta de instalaciones. OpenSpec se enseña como una propuesta para formalizar el trabajo. GitHub y los comandos de instalación se presentan como una ruta reproducible, no como la transcripción de lo que Jean ejecutó.</a:t>
            </a:r>
          </a:p>
          <a:p xmlns:a="http://schemas.openxmlformats.org/drawingml/2006/main">
            <a:r>
              <a:t/>
            </a:r>
          </a:p>
          <a:p xmlns:a="http://schemas.openxmlformats.org/drawingml/2006/main">
            <a:r>
              <a:t>FUENTES</a:t>
            </a:r>
          </a:p>
          <a:p xmlns:a="http://schemas.openxmlformats.org/drawingml/2006/main">
            <a:r>
              <a:t>Ejemplos didácticos originales y contexto del proyecto compartido por Jean.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Esta separación evita comparar productos que resuelven problemas distintos. Kiro combina un entorno con soporte de especificaciones. Codex ejecuta tareas y OpenSpec puede aportar la estructura que esas tareas siguen. ASP.NET Core es un framework de la aplicación, mientras que OpenSpec organiza el proceso de desarrollo. Pedir a los asistentes que ubiquen Visual Studio y GitHub en este mapa.</a:t>
            </a:r>
          </a:p>
          <a:p xmlns:a="http://schemas.openxmlformats.org/drawingml/2006/main">
            <a:r>
              <a:t/>
            </a:r>
          </a:p>
          <a:p xmlns:a="http://schemas.openxmlformats.org/drawingml/2006/main">
            <a:r>
              <a:t>FUENTES</a:t>
            </a:r>
          </a:p>
          <a:p xmlns:a="http://schemas.openxmlformats.org/drawingml/2006/main">
            <a:r>
              <a:t>https://github.com/Fission-AI/OpenSpec</a:t>
            </a:r>
          </a:p>
          <a:p xmlns:a="http://schemas.openxmlformats.org/drawingml/2006/main">
            <a:r>
              <a:t>https://kiro.dev/docs/specs/</a:t>
            </a:r>
          </a:p>
          <a:p xmlns:a="http://schemas.openxmlformats.org/drawingml/2006/main">
            <a:r>
              <a:t>https://developers.openai.com/codex/cli/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Explicar el término como una forma de interacción, no como un estándar técnico formal. Evitar presentar todo uso de un asistente como Vibe Coding estricto. Ejemplo: un formulario puede verse correcto, pero permitir duplicados o aceptar una petición de un usuario sin autorización. Preguntar qué riesgos no aparecen en una captura de pantalla. La distinción es conceptual y no un juicio sobre una herramienta.</a:t>
            </a:r>
          </a:p>
          <a:p xmlns:a="http://schemas.openxmlformats.org/drawingml/2006/main">
            <a:r>
              <a:t/>
            </a:r>
          </a:p>
          <a:p xmlns:a="http://schemas.openxmlformats.org/drawingml/2006/main">
            <a:r>
              <a:t>FUENTES</a:t>
            </a:r>
          </a:p>
          <a:p xmlns:a="http://schemas.openxmlformats.org/drawingml/2006/main">
            <a:r>
              <a:t>Ejemplos didácticos originales y contexto del proyecto compartido por Jean.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Hacer una pausa de un minuto para que el grupo proponga preguntas. Algunas respuestas: si puede haber varias tecnologías, si una empresa puede estar en varios Building Blocks, si se permiten bajas y qué ocurre con registros existentes. Enseñar que una buena especificación comienza resolviendo ambigüedades. El agente no debe inventar respuestas de negocio para completar el formulario.</a:t>
            </a:r>
          </a:p>
          <a:p xmlns:a="http://schemas.openxmlformats.org/drawingml/2006/main">
            <a:r>
              <a:t/>
            </a:r>
          </a:p>
          <a:p xmlns:a="http://schemas.openxmlformats.org/drawingml/2006/main">
            <a:r>
              <a:t>FUENTES</a:t>
            </a:r>
          </a:p>
          <a:p xmlns:a="http://schemas.openxmlformats.org/drawingml/2006/main">
            <a:r>
              <a:t>Ejemplos didácticos originales y contexto del proyecto compartido por Jean.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SDD significa Specification Driven Development. Presentar esta secuencia como una guía que admite iteración. Un hallazgo en las pruebas puede requerir modificar el requisito o el diseño. La especificación no debe congelar una mala decisión. Su valor es servir de referencia común para el humano y el agente. Mantenerla cerca del código permite revisarla junto con el cambio.</a:t>
            </a:r>
          </a:p>
          <a:p xmlns:a="http://schemas.openxmlformats.org/drawingml/2006/main">
            <a:r>
              <a:t/>
            </a:r>
          </a:p>
          <a:p xmlns:a="http://schemas.openxmlformats.org/drawingml/2006/main">
            <a:r>
              <a:t>FUENTES</a:t>
            </a:r>
          </a:p>
          <a:p xmlns:a="http://schemas.openxmlformats.org/drawingml/2006/main">
            <a:r>
              <a:t>https://github.com/github/spec-kit</a:t>
            </a:r>
          </a:p>
          <a:p xmlns:a="http://schemas.openxmlformats.org/drawingml/2006/main">
            <a:r>
              <a:t>https://github.com/Fission-AI/OpenSpec/blob/main/docs/concepts.md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Explicar Dado, Cuando y Entonces sin exigir que todos memoricen una sintaxis. Dado establece el contexto; Cuando es la acción; Entonces expresa una observación. Para duplicados se debe probar tanto la respuesta al usuario como el estado persistido. La interfaz puede deshabilitar opciones, pero eso no sustituye la protección en servidor o la restricción de datos.</a:t>
            </a:r>
          </a:p>
          <a:p xmlns:a="http://schemas.openxmlformats.org/drawingml/2006/main">
            <a:r>
              <a:t/>
            </a:r>
          </a:p>
          <a:p xmlns:a="http://schemas.openxmlformats.org/drawingml/2006/main">
            <a:r>
              <a:t>FUENTES</a:t>
            </a:r>
          </a:p>
          <a:p xmlns:a="http://schemas.openxmlformats.org/drawingml/2006/main">
            <a:r>
              <a:t>Ejemplos didácticos originales y contexto del proyecto compartido por Jean.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Comparar función y forma de adopción, no popularidad. OpenSpec y Spec Kit son abiertos aunque tengan organizaciones impulsoras. BMAD cubre un conjunto más amplio de actividades. Kiro es un producto con soporte SDD integrado. Las condiciones de acceso a modelos son independientes de que las plantillas sean abiertas. La columna de encaje es una valoración para la clase, no una medición comparativa.</a:t>
            </a:r>
          </a:p>
          <a:p xmlns:a="http://schemas.openxmlformats.org/drawingml/2006/main">
            <a:r>
              <a:t/>
            </a:r>
          </a:p>
          <a:p xmlns:a="http://schemas.openxmlformats.org/drawingml/2006/main">
            <a:r>
              <a:t>FUENTES</a:t>
            </a:r>
          </a:p>
          <a:p xmlns:a="http://schemas.openxmlformats.org/drawingml/2006/main">
            <a:r>
              <a:t>https://github.com/Fission-AI/OpenSpec</a:t>
            </a:r>
          </a:p>
          <a:p xmlns:a="http://schemas.openxmlformats.org/drawingml/2006/main">
            <a:r>
              <a:t>https://github.com/github/spec-kit</a:t>
            </a:r>
          </a:p>
          <a:p xmlns:a="http://schemas.openxmlformats.org/drawingml/2006/main">
            <a:r>
              <a:t>https://github.com/bmad-code-org/BMAD-METHOD</a:t>
            </a:r>
          </a:p>
          <a:p xmlns:a="http://schemas.openxmlformats.org/drawingml/2006/main">
            <a:r>
              <a:t>https://kiro.dev/docs/specs/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No presentar Codex, Cursor o Antigravity como sustitutos directos de OpenSpec. Un agente puede trabajar siguiendo una especificación producida con diferentes métodos. La apertura del CLI de Codex no significa que todo el servicio sea abierto. No fijar precios ni cuotas en esta clase porque dependen de la cuenta y del momento. Mostrar en vivo solo el entorno disponible para el taller.</a:t>
            </a:r>
          </a:p>
          <a:p xmlns:a="http://schemas.openxmlformats.org/drawingml/2006/main">
            <a:r>
              <a:t/>
            </a:r>
          </a:p>
          <a:p xmlns:a="http://schemas.openxmlformats.org/drawingml/2006/main">
            <a:r>
              <a:t>FUENTES</a:t>
            </a:r>
          </a:p>
          <a:p xmlns:a="http://schemas.openxmlformats.org/drawingml/2006/main">
            <a:r>
              <a:t>https://developers.openai.com/codex/cli/</a:t>
            </a:r>
          </a:p>
          <a:p xmlns:a="http://schemas.openxmlformats.org/drawingml/2006/main">
            <a:r>
              <a:t>https://cursor.com/docs/agent/overview</a:t>
            </a:r>
          </a:p>
          <a:p xmlns:a="http://schemas.openxmlformats.org/drawingml/2006/main">
            <a:r>
              <a:t>https://codelabs.developers.google.com/getting-started-google-antigravity</a:t>
            </a:r>
          </a:p>
          <a:p xmlns:a="http://schemas.openxmlformats.org/drawingml/2006/main">
            <a:r>
              <a:t>https://kiro.dev/docs/specs/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Esta es una recomendación contextual: el proyecto ya existe y necesita continuidad. No migrar simultáneamente editor, arquitectura y datos para evaluar una herramienta de proceso. Proponer indicadores sencillos: criterios omitidos, defectos encontrados y tareas reabiertas. No atribuir mejoras cuantificadas al proyecto sin mediciones. Una prueba limitada permite aprender con un alcance controlado.</a:t>
            </a:r>
          </a:p>
          <a:p xmlns:a="http://schemas.openxmlformats.org/drawingml/2006/main">
            <a:r>
              <a:t/>
            </a:r>
          </a:p>
          <a:p xmlns:a="http://schemas.openxmlformats.org/drawingml/2006/main">
            <a:r>
              <a:t>FUENTES</a:t>
            </a:r>
          </a:p>
          <a:p xmlns:a="http://schemas.openxmlformats.org/drawingml/2006/main">
            <a:r>
              <a:t>https://github.com/Fission-AI/OpenSpec</a:t>
            </a:r>
          </a:p>
          <a:p xmlns:a="http://schemas.openxmlformats.org/drawingml/2006/main">
            <a:r>
              <a:t>https://github.com/Fission-AI/OpenSpec/blob/main/docs/getting-started.md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Aclarar que Node.js no reemplaza .NET. npm instala los CLI de este tutorial; NuGet resuelve paquetes del proyecto .NET. SSMS es un cliente de administración y no es el motor SQL Server. Si SQL es remoto, comprobar conectividad y permisos antes de la clase. No usar la cuenta administrativa del motor como identidad de la aplicación.</a:t>
            </a:r>
          </a:p>
          <a:p xmlns:a="http://schemas.openxmlformats.org/drawingml/2006/main">
            <a:r>
              <a:t/>
            </a:r>
          </a:p>
          <a:p xmlns:a="http://schemas.openxmlformats.org/drawingml/2006/main">
            <a:r>
              <a:t>FUENTES</a:t>
            </a:r>
          </a:p>
          <a:p xmlns:a="http://schemas.openxmlformats.org/drawingml/2006/main">
            <a:r>
              <a:t>https://github.com/Fission-AI/OpenSpec</a:t>
            </a:r>
          </a:p>
          <a:p xmlns:a="http://schemas.openxmlformats.org/drawingml/2006/main">
            <a:r>
              <a:t>https://developers.openai.com/codex/cli/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La memoria es una recomendación para el laboratorio, no un mínimo oficial ni la configuración confirmada de Jean. El almacenamiento depende del tamaño de la base y las herramientas. No cambiar el framework objetivo del proyecto por comodidad. Registrar las versiones exactas después de instalar. Si los equipos no cumplen, usar una demostración guiada o una instancia preparada.</a:t>
            </a:r>
          </a:p>
          <a:p xmlns:a="http://schemas.openxmlformats.org/drawingml/2006/main">
            <a:r>
              <a:t/>
            </a:r>
          </a:p>
          <a:p xmlns:a="http://schemas.openxmlformats.org/drawingml/2006/main">
            <a:r>
              <a:t>FUENTES</a:t>
            </a:r>
          </a:p>
          <a:p xmlns:a="http://schemas.openxmlformats.org/drawingml/2006/main">
            <a:r>
              <a:t>https://github.com/Fission-AI/OpenSpec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Ejecutar cada comando y leer su resultado. Si un comando no existe, instalar primero su herramienta desde el proveedor. La instalación puede depender de los permisos del equipo. No resolver errores desactivando políticas corporativas. npm --version confirma npm; no confirma acceso al registro de paquetes. Registrar las versiones finales y probar los pasos antes de exponer.</a:t>
            </a:r>
          </a:p>
          <a:p xmlns:a="http://schemas.openxmlformats.org/drawingml/2006/main">
            <a:r>
              <a:t/>
            </a:r>
          </a:p>
          <a:p xmlns:a="http://schemas.openxmlformats.org/drawingml/2006/main">
            <a:r>
              <a:t>FUENTES</a:t>
            </a:r>
          </a:p>
          <a:p xmlns:a="http://schemas.openxmlformats.org/drawingml/2006/main">
            <a:r>
              <a:t>https://github.com/Fission-AI/OpenSpec</a:t>
            </a:r>
          </a:p>
          <a:p xmlns:a="http://schemas.openxmlformats.org/drawingml/2006/main">
            <a:r>
              <a:t>https://developers.openai.com/codex/cli/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Distinguir Git, que mantiene el historial local, de GitHub, que aloja el repositorio y la revisión. No hace falta habilitar CI/CD para comenzar. La rama representa un cambio concreto. Si hay archivos locales modificados, entender su origen y conservarlos antes de continuar. No incluir credenciales o bases privadas en el commit. Demostrar git status con una copia preparada.</a:t>
            </a:r>
          </a:p>
          <a:p xmlns:a="http://schemas.openxmlformats.org/drawingml/2006/main">
            <a:r>
              <a:t/>
            </a:r>
          </a:p>
          <a:p xmlns:a="http://schemas.openxmlformats.org/drawingml/2006/main">
            <a:r>
              <a:t>FUENTES</a:t>
            </a:r>
          </a:p>
          <a:p xmlns:a="http://schemas.openxmlformats.org/drawingml/2006/main">
            <a:r>
              <a:t>https://docs.github.com/en/get-started/using-github/hello-world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Una falla previa al cambio debe registrarse como línea base. La configuración de conexión depende del proyecto real; no inventar nombres de claves. Usar User Secrets o el mecanismo local acordado. User Secrets evita que el secreto viaje con el repositorio, pero no lo cifra. EF Core Database First genera entidades y contexto desde el esquema; no regenerarlos indiscriminadamente porque podría pisar personalizaciones.</a:t>
            </a:r>
          </a:p>
          <a:p xmlns:a="http://schemas.openxmlformats.org/drawingml/2006/main">
            <a:r>
              <a:t/>
            </a:r>
          </a:p>
          <a:p xmlns:a="http://schemas.openxmlformats.org/drawingml/2006/main">
            <a:r>
              <a:t>FUENTES</a:t>
            </a:r>
          </a:p>
          <a:p xmlns:a="http://schemas.openxmlformats.org/drawingml/2006/main">
            <a:r>
              <a:t>https://learn.microsoft.com/en-us/aspnet/core/security/app-secrets?view=aspnetcore-10.0</a:t>
            </a:r>
          </a:p>
          <a:p xmlns:a="http://schemas.openxmlformats.org/drawingml/2006/main">
            <a:r>
              <a:t>https://learn.microsoft.com/en-us/ef/core/managing-schemas/scaffolding/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Codex reconoce el nombre AGENTS.md. El archivo agent.md mencionado en la experiencia no garantiza la misma carga automática. Adaptar las instrucciones al repositorio real y añadir los comandos de pruebas confirmados. No convertir este archivo en un registro ilimitado de todas las conversaciones. Guardar el estado de cada cambio donde corresponde y revisar qué archivos lee cada asistente.</a:t>
            </a:r>
          </a:p>
          <a:p xmlns:a="http://schemas.openxmlformats.org/drawingml/2006/main">
            <a:r>
              <a:t/>
            </a:r>
          </a:p>
          <a:p xmlns:a="http://schemas.openxmlformats.org/drawingml/2006/main">
            <a:r>
              <a:t>FUENTES</a:t>
            </a:r>
          </a:p>
          <a:p xmlns:a="http://schemas.openxmlformats.org/drawingml/2006/main">
            <a:r>
              <a:t>https://developers.openai.com/codex/guides/agents-md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Este prompt es un ejemplo elaborado para el taller, no una transcripción de una conversación histórica. ChatGPT puede ayudar a ordenar una necesidad, pero no conoce automáticamente el contenido actual del repositorio. Se deben adjuntar o describir los elementos relevantes sin secretos. Pedir preguntas pendientes permite descubrir decisiones de negocio antes de convertirlas en código.</a:t>
            </a:r>
          </a:p>
          <a:p xmlns:a="http://schemas.openxmlformats.org/drawingml/2006/main">
            <a:r>
              <a:t/>
            </a:r>
          </a:p>
          <a:p xmlns:a="http://schemas.openxmlformats.org/drawingml/2006/main">
            <a:r>
              <a:t>FUENTES</a:t>
            </a:r>
          </a:p>
          <a:p xmlns:a="http://schemas.openxmlformats.org/drawingml/2006/main">
            <a:r>
              <a:t>Ejemplos didácticos originales y contexto del proyecto compartido por Jean.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Mostrar que el agente debe trabajar desde la raíz correcta. Revisar qué archivos localiza antes de pedir implementación. El uso de Codex en desarrollo no agrega automáticamente una dependencia de OpenAI a la aplicación. Usar una cuenta habilitada; una integración de API es otro escenario con su configuración y consumo. No colocar claves API en los prompts o diapositivas.</a:t>
            </a:r>
          </a:p>
          <a:p xmlns:a="http://schemas.openxmlformats.org/drawingml/2006/main">
            <a:r>
              <a:t/>
            </a:r>
          </a:p>
          <a:p xmlns:a="http://schemas.openxmlformats.org/drawingml/2006/main">
            <a:r>
              <a:t>FUENTES</a:t>
            </a:r>
          </a:p>
          <a:p xmlns:a="http://schemas.openxmlformats.org/drawingml/2006/main">
            <a:r>
              <a:t>https://developers.openai.com/codex/cli/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Antes de iniciar sobre una aplicación existente, revisar su estado de Git y si ya tiene configuración. El asistente de inicialización debe ejecutarse en la carpeta elegida, no en cualquier directorio de usuario. Abrir los archivos creados y explicar su propósito. En nuevas configuraciones se puede definir el idioma según las opciones documentadas. No usar force en la demostración por defecto.</a:t>
            </a:r>
          </a:p>
          <a:p xmlns:a="http://schemas.openxmlformats.org/drawingml/2006/main">
            <a:r>
              <a:t/>
            </a:r>
          </a:p>
          <a:p xmlns:a="http://schemas.openxmlformats.org/drawingml/2006/main">
            <a:r>
              <a:t>FUENTES</a:t>
            </a:r>
          </a:p>
          <a:p xmlns:a="http://schemas.openxmlformats.org/drawingml/2006/main">
            <a:r>
              <a:t>https://github.com/Fission-AI/OpenSpec/blob/main/docs/cli.md</a:t>
            </a:r>
          </a:p>
          <a:p xmlns:a="http://schemas.openxmlformats.org/drawingml/2006/main">
            <a:r>
              <a:t>https://github.com/Fission-AI/OpenSpec/blob/main/docs/supported-tools.md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Mostrar una carpeta de cambio real si se preparó el laboratorio, o explicar la tabla como estructura de referencia. No confundir specs vigentes con propuestas pendientes. Para este caso, una decisión como crear un índice compuesto va en diseño; el comportamiento de impedir duplicados va en especificación. Las tareas son acciones que implementan ambas cosas. Los artefactos pueden revisarse al descubrir información.</a:t>
            </a:r>
          </a:p>
          <a:p xmlns:a="http://schemas.openxmlformats.org/drawingml/2006/main">
            <a:r>
              <a:t/>
            </a:r>
          </a:p>
          <a:p xmlns:a="http://schemas.openxmlformats.org/drawingml/2006/main">
            <a:r>
              <a:t>FUENTES</a:t>
            </a:r>
          </a:p>
          <a:p xmlns:a="http://schemas.openxmlformats.org/drawingml/2006/main">
            <a:r>
              <a:t>https://github.com/Fission-AI/OpenSpec/blob/main/docs/getting-started.md</a:t>
            </a:r>
          </a:p>
          <a:p xmlns:a="http://schemas.openxmlformats.org/drawingml/2006/main">
            <a:r>
              <a:t>https://github.com/Fission-AI/OpenSpec/blob/main/docs/concepts.md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Es un ejemplo didáctico para el taller. Los marcadores del formato se mantienen en inglés para respetar la convención del framework; el contenido del dominio puede redactarse en español. El escenario aún puede ampliarse con concurrencia o permisos. La validación documental revisa la estructura, no demuestra que el código cumpla la regla. Contrastar siempre contra las pruebas.</a:t>
            </a:r>
          </a:p>
          <a:p xmlns:a="http://schemas.openxmlformats.org/drawingml/2006/main">
            <a:r>
              <a:t/>
            </a:r>
          </a:p>
          <a:p xmlns:a="http://schemas.openxmlformats.org/drawingml/2006/main">
            <a:r>
              <a:t>FUENTES</a:t>
            </a:r>
          </a:p>
          <a:p xmlns:a="http://schemas.openxmlformats.org/drawingml/2006/main">
            <a:r>
              <a:t>https://github.com/Fission-AI/OpenSpec/blob/main/docs/concepts.md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Los nombres con dos puntos son los canónicos de la documentación. En Codex se utilizan habilidades como $openspec-propose; otras herramientas pueden mostrar formas distintas. Usar la invocación que generó openspec init. No pegar un comando de chat en PowerShell. Los comandos disponibles también dependen del perfil. La verificación funcional del laboratorio se hace aunque no se habilite el flujo ampliado verify.</a:t>
            </a:r>
          </a:p>
          <a:p xmlns:a="http://schemas.openxmlformats.org/drawingml/2006/main">
            <a:r>
              <a:t/>
            </a:r>
          </a:p>
          <a:p xmlns:a="http://schemas.openxmlformats.org/drawingml/2006/main">
            <a:r>
              <a:t>FUENTES</a:t>
            </a:r>
          </a:p>
          <a:p xmlns:a="http://schemas.openxmlformats.org/drawingml/2006/main">
            <a:r>
              <a:t>https://github.com/Fission-AI/OpenSpec/blob/main/docs/commands.md</a:t>
            </a:r>
          </a:p>
          <a:p xmlns:a="http://schemas.openxmlformats.org/drawingml/2006/main">
            <a:r>
              <a:t>https://github.com/Fission-AI/OpenSpec/blob/main/docs/cli.md</a:t>
            </a:r>
          </a:p>
          <a:p xmlns:a="http://schemas.openxmlformats.org/drawingml/2006/main">
            <a:r>
              <a:t>https://github.com/Fission-AI/OpenSpec/blob/main/docs/supported-tools.md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La relación global entre Building Blocks y empresas es muchos a muchos. La entidad intermedia representa una asociación concreta. Su nombre físico, claves y columnas deben confirmarse con la base existente. Considerar TTecnologiaTSIImplementadaSubsidiaria como punto de partida para implementación. No eliminar TBuildingBlockVsTecnologiaTSI sin estudiar si representa el estándar corporativo. Este modelo es una propuesta, no el esquema actual auditado.</a:t>
            </a:r>
          </a:p>
          <a:p xmlns:a="http://schemas.openxmlformats.org/drawingml/2006/main">
            <a:r>
              <a:t/>
            </a:r>
          </a:p>
          <a:p xmlns:a="http://schemas.openxmlformats.org/drawingml/2006/main">
            <a:r>
              <a:t>FUENTES</a:t>
            </a:r>
          </a:p>
          <a:p xmlns:a="http://schemas.openxmlformats.org/drawingml/2006/main">
            <a:r>
              <a:t>Ejemplos didácticos originales y contexto del proyecto compartido por Jean.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La responsabilidad sobre catálogos viene de las reglas compartidas del proyecto. No inferir que esos roles tienen automáticamente todos los permisos de transacciones. Acordar la matriz de adopciones antes de programar. Ocultar un botón es útil para experiencia de usuario, pero no es una frontera de autorización. Probar peticiones directas y acceso a otra empresa con datos de demostración.</a:t>
            </a:r>
          </a:p>
          <a:p xmlns:a="http://schemas.openxmlformats.org/drawingml/2006/main">
            <a:r>
              <a:t/>
            </a:r>
          </a:p>
          <a:p xmlns:a="http://schemas.openxmlformats.org/drawingml/2006/main">
            <a:r>
              <a:t>FUENTES</a:t>
            </a:r>
          </a:p>
          <a:p xmlns:a="http://schemas.openxmlformats.org/drawingml/2006/main">
            <a:r>
              <a:t>Ejemplos didácticos originales y contexto del proyecto compartido por Jean.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Reservar ocho minutos. Una persona representa al responsable del negocio y otra al desarrollador. La primera responde preguntas y la segunda redacta el encargo. Cambiar los papeles si hay tiempo. Observar si distinguen requisito y diseño. No evaluar por longitud del prompt. La solución esperada identifica duplicados, autorización y relación por empresa, y mantiene pendientes los nombres de columnas no proporcionados.</a:t>
            </a:r>
          </a:p>
          <a:p xmlns:a="http://schemas.openxmlformats.org/drawingml/2006/main">
            <a:r>
              <a:t/>
            </a:r>
          </a:p>
          <a:p xmlns:a="http://schemas.openxmlformats.org/drawingml/2006/main">
            <a:r>
              <a:t>FUENTES</a:t>
            </a:r>
          </a:p>
          <a:p xmlns:a="http://schemas.openxmlformats.org/drawingml/2006/main">
            <a:r>
              <a:t>Ejemplos didácticos originales y contexto del proyecto compartido por Jean.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El orden ayuda a no construir una pantalla antes de resolver las reglas. En un proyecto Database First se debe coordinar el cambio SQL y la actualización del modelo EF existente; no imponer migrations de EF por defecto. Si hay datos productivos, preparar migración y reversión revisables, sin ejecutarlas en el taller. Pedir unidades de trabajo pequeñas para facilitar revisión.</a:t>
            </a:r>
          </a:p>
          <a:p xmlns:a="http://schemas.openxmlformats.org/drawingml/2006/main">
            <a:r>
              <a:t/>
            </a:r>
          </a:p>
          <a:p xmlns:a="http://schemas.openxmlformats.org/drawingml/2006/main">
            <a:r>
              <a:t>FUENTES</a:t>
            </a:r>
          </a:p>
          <a:p xmlns:a="http://schemas.openxmlformats.org/drawingml/2006/main">
            <a:r>
              <a:t>https://learn.microsoft.com/en-us/ef/core/managing-schemas/scaffolding/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Comenzar por los criterios que el grupo escribió. La prueba de concurrencia puede demostrarse con dos sesiones o una prueba de integración. Probar contra una base exclusiva del laboratorio. Las pruebas existentes se ejecutan con dotnet test indicando la solución o el proyecto que corresponda. Una captura de éxito de formulario no sustituye la prueba de autorización. Guardar resultados reales y marcar lo que no se pudo ejecutar.</a:t>
            </a:r>
          </a:p>
          <a:p xmlns:a="http://schemas.openxmlformats.org/drawingml/2006/main">
            <a:r>
              <a:t/>
            </a:r>
          </a:p>
          <a:p xmlns:a="http://schemas.openxmlformats.org/drawingml/2006/main">
            <a:r>
              <a:t>FUENTES</a:t>
            </a:r>
          </a:p>
          <a:p xmlns:a="http://schemas.openxmlformats.org/drawingml/2006/main">
            <a:r>
              <a:t>Ejemplos didácticos originales y contexto del proyecto compartido por Jean.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Usar el mensaje exacto del error en lugar de pedir a la IA que arregle todo sin contexto. Redactar logs sin credenciales antes de compartirlos. No solucionar conectividad eliminando validación TLS o elevando permisos sin diagnóstico. Si el agente modificó archivos no previstos, revisar el diff y revertir solo los cambios identificados, preservando el trabajo ajeno. Mostrar un ejemplo ficticio de PATH para practicar el diagnóstico.</a:t>
            </a:r>
          </a:p>
          <a:p xmlns:a="http://schemas.openxmlformats.org/drawingml/2006/main">
            <a:r>
              <a:t/>
            </a:r>
          </a:p>
          <a:p xmlns:a="http://schemas.openxmlformats.org/drawingml/2006/main">
            <a:r>
              <a:t>FUENTES</a:t>
            </a:r>
          </a:p>
          <a:p xmlns:a="http://schemas.openxmlformats.org/drawingml/2006/main">
            <a:r>
              <a:t>https://github.com/Fission-AI/OpenSpec/blob/main/docs/cli.md</a:t>
            </a:r>
          </a:p>
          <a:p xmlns:a="http://schemas.openxmlformats.org/drawingml/2006/main">
            <a:r>
              <a:t>https://developers.openai.com/codex/cli/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Sustituir las rutas de ejemplo por archivos reales. Revisar cada diff antes de agregarlo. El pull request debe permitir a otra persona entender por qué existe el cambio y evaluar sus consecuencias. Incluir especificaciones y tareas pertinentes, no secretos. GitHub puede hospedar esta revisión sin automatización de despliegue. No afirmar que los checks pasaron si solo se ejecutó build local.</a:t>
            </a:r>
          </a:p>
          <a:p xmlns:a="http://schemas.openxmlformats.org/drawingml/2006/main">
            <a:r>
              <a:t/>
            </a:r>
          </a:p>
          <a:p xmlns:a="http://schemas.openxmlformats.org/drawingml/2006/main">
            <a:r>
              <a:t>FUENTES</a:t>
            </a:r>
          </a:p>
          <a:p xmlns:a="http://schemas.openxmlformats.org/drawingml/2006/main">
            <a:r>
              <a:t>https://docs.github.com/en/get-started/using-github/hello-world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Azure Web App forma parte del contexto de publicación del proyecto. Esta diapositiva explica la secuencia, no un despliegue ejecutado durante la clase. Confirmar el mecanismo vigente de publicación del repositorio. Evitar que desarrollo y producción compartan la misma identidad o conexión por accidente. Una publicación del binario y una migración de datos son operaciones que necesitan coordinarse. Registrar errores de arranque sin copiar secretos.</a:t>
            </a:r>
          </a:p>
          <a:p xmlns:a="http://schemas.openxmlformats.org/drawingml/2006/main">
            <a:r>
              <a:t/>
            </a:r>
          </a:p>
          <a:p xmlns:a="http://schemas.openxmlformats.org/drawingml/2006/main">
            <a:r>
              <a:t>FUENTES</a:t>
            </a:r>
          </a:p>
          <a:p xmlns:a="http://schemas.openxmlformats.org/drawingml/2006/main">
            <a:r>
              <a:t>Ejemplos didácticos originales y contexto del proyecto compartido por Jean.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El historial de chat no viaja necesariamente entre productos. Los archivos ayudan a mantener continuidad, pero cada herramienta puede cargar instrucciones de manera distinta. Revisar la forma de integración y los permisos. Evitar que dos agentes escriban simultáneamente los mismos archivos sin coordinación. Para la clase, cambiar de herramienta es opcional; basta mostrar qué necesitaría leer la siguiente.</a:t>
            </a:r>
          </a:p>
          <a:p xmlns:a="http://schemas.openxmlformats.org/drawingml/2006/main">
            <a:r>
              <a:t/>
            </a:r>
          </a:p>
          <a:p xmlns:a="http://schemas.openxmlformats.org/drawingml/2006/main">
            <a:r>
              <a:t>FUENTES</a:t>
            </a:r>
          </a:p>
          <a:p xmlns:a="http://schemas.openxmlformats.org/drawingml/2006/main">
            <a:r>
              <a:t>https://developers.openai.com/codex/guides/agents-md</a:t>
            </a:r>
          </a:p>
          <a:p xmlns:a="http://schemas.openxmlformats.org/drawingml/2006/main">
            <a:r>
              <a:t>https://github.com/Fission-AI/OpenSpec/blob/main/docs/supported-tools.md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Presentar los puntos de la izquierda como responsabilidades observables en el proceso relatado, sin inventar métricas de productividad. La derecha describe resultados a evaluar al adoptar SDD. Preguntar al grupo qué mediría en una segunda ejecución del laboratorio. Cerrar con el aprendizaje de que un prompt útil especifica lo que se busca y una prueba permite saber si se obtuvo.</a:t>
            </a:r>
          </a:p>
          <a:p xmlns:a="http://schemas.openxmlformats.org/drawingml/2006/main">
            <a:r>
              <a:t/>
            </a:r>
          </a:p>
          <a:p xmlns:a="http://schemas.openxmlformats.org/drawingml/2006/main">
            <a:r>
              <a:t>FUENTES</a:t>
            </a:r>
          </a:p>
          <a:p xmlns:a="http://schemas.openxmlformats.org/drawingml/2006/main">
            <a:r>
              <a:t>Ejemplos didácticos originales y contexto del proyecto compartido por Jean.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Reservar cinco minutos. Respuestas esperadas: cada criterio contiene una condición y un resultado observable; los conceptos del dominio tienen significados diferentes; el alcance por empresa se verifica en servidor; las tareas y resultados están documentados. Si falta alguno, corregir antes de añadir más código. Pedir a una pareja que comparta su mejora. Esta es una actividad abierta y no una prueba de selección múltiple.</a:t>
            </a:r>
          </a:p>
          <a:p xmlns:a="http://schemas.openxmlformats.org/drawingml/2006/main">
            <a:r>
              <a:t/>
            </a:r>
          </a:p>
          <a:p xmlns:a="http://schemas.openxmlformats.org/drawingml/2006/main">
            <a:r>
              <a:t>FUENTES</a:t>
            </a:r>
          </a:p>
          <a:p xmlns:a="http://schemas.openxmlformats.org/drawingml/2006/main">
            <a:r>
              <a:t>Ejemplos didácticos originales y contexto del proyecto compartido por Jean.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Los enlaces completos se incluyen a continuación en estas notas. Las herramientas evolucionan: revisar instalación y perfiles antes de la clase. Las comparaciones de encaje son valoraciones para Landscape TSI. No se han instalado estos paquetes ni ejecutado el laboratorio sobre el repositorio de Jean al preparar esta presentación.</a:t>
            </a:r>
          </a:p>
          <a:p xmlns:a="http://schemas.openxmlformats.org/drawingml/2006/main">
            <a:r>
              <a:t/>
            </a:r>
          </a:p>
          <a:p xmlns:a="http://schemas.openxmlformats.org/drawingml/2006/main">
            <a:r>
              <a:t>FUENTES</a:t>
            </a:r>
          </a:p>
          <a:p xmlns:a="http://schemas.openxmlformats.org/drawingml/2006/main">
            <a:r>
              <a:t>https://github.com/Fission-AI/OpenSpec</a:t>
            </a:r>
          </a:p>
          <a:p xmlns:a="http://schemas.openxmlformats.org/drawingml/2006/main">
            <a:r>
              <a:t>https://github.com/Fission-AI/OpenSpec/blob/main/docs/getting-started.md</a:t>
            </a:r>
          </a:p>
          <a:p xmlns:a="http://schemas.openxmlformats.org/drawingml/2006/main">
            <a:r>
              <a:t>https://github.com/Fission-AI/OpenSpec/blob/main/docs/concepts.md</a:t>
            </a:r>
          </a:p>
          <a:p xmlns:a="http://schemas.openxmlformats.org/drawingml/2006/main">
            <a:r>
              <a:t>https://github.com/Fission-AI/OpenSpec/blob/main/docs/commands.md</a:t>
            </a:r>
          </a:p>
          <a:p xmlns:a="http://schemas.openxmlformats.org/drawingml/2006/main">
            <a:r>
              <a:t>https://github.com/Fission-AI/OpenSpec/blob/main/docs/cli.md</a:t>
            </a:r>
          </a:p>
          <a:p xmlns:a="http://schemas.openxmlformats.org/drawingml/2006/main">
            <a:r>
              <a:t>https://github.com/github/spec-kit</a:t>
            </a:r>
          </a:p>
          <a:p xmlns:a="http://schemas.openxmlformats.org/drawingml/2006/main">
            <a:r>
              <a:t>https://github.com/bmad-code-org/BMAD-METHOD</a:t>
            </a:r>
          </a:p>
          <a:p xmlns:a="http://schemas.openxmlformats.org/drawingml/2006/main">
            <a:r>
              <a:t>https://kiro.dev/docs/specs/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NOTAS DEL EXPOSITOR</a:t>
            </a:r>
          </a:p>
          <a:p xmlns:a="http://schemas.openxmlformats.org/drawingml/2006/main">
            <a:r>
              <a:t/>
            </a:r>
          </a:p>
          <a:p xmlns:a="http://schemas.openxmlformats.org/drawingml/2006/main">
            <a:r>
              <a:t>Se verificaron título y descripción pública de los dos primeros videos, pero no se obtuvieron transcripciones. El contenido del tercer video no se pudo verificar. No se atribuyen instrucciones técnicas a esos videos. Enlaces: https://www.youtube.com/watch?v=0gd_w98aAHo ; https://www.youtube.com/watch?v=XJiIhQ_FkdA ; https://www.youtube.com/watch?v=LbH0aMnb_Wk&amp;t=44s . Usar la documentación oficial enlazada para comandos.</a:t>
            </a:r>
          </a:p>
          <a:p xmlns:a="http://schemas.openxmlformats.org/drawingml/2006/main">
            <a:r>
              <a:t/>
            </a:r>
          </a:p>
          <a:p xmlns:a="http://schemas.openxmlformats.org/drawingml/2006/main">
            <a:r>
              <a:t>FUENTES</a:t>
            </a:r>
          </a:p>
          <a:p xmlns:a="http://schemas.openxmlformats.org/drawingml/2006/main">
            <a:r>
              <a:t>https://developers.openai.com/codex/cli/</a:t>
            </a:r>
          </a:p>
          <a:p xmlns:a="http://schemas.openxmlformats.org/drawingml/2006/main">
            <a:r>
              <a:t>https://developers.openai.com/codex/guides/agents-md</a:t>
            </a:r>
          </a:p>
          <a:p xmlns:a="http://schemas.openxmlformats.org/drawingml/2006/main">
            <a:r>
              <a:t>https://learn.microsoft.com/en-us/ef/core/managing-schemas/scaffolding/</a:t>
            </a:r>
          </a:p>
          <a:p xmlns:a="http://schemas.openxmlformats.org/drawingml/2006/main">
            <a:r>
              <a:t>https://learn.microsoft.com/en-us/aspnet/core/security/app-secrets?view=aspnetcore-10.0</a:t>
            </a:r>
          </a:p>
          <a:p xmlns:a="http://schemas.openxmlformats.org/drawingml/2006/main">
            <a:r>
              <a:t>https://docs.github.com/en/get-started/using-github/hello-world</a:t>
            </a:r>
          </a:p>
          <a:p xmlns:a="http://schemas.openxmlformats.org/drawingml/2006/main">
            <a:r>
              <a:t>https://cursor.com/docs/agent/overview</a:t>
            </a:r>
          </a:p>
          <a:p xmlns:a="http://schemas.openxmlformats.org/drawingml/2006/main">
            <a:r>
              <a:t>https://codelabs.developers.google.com/getting-started-google-antigravity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f546b1f4554b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188c6be8d44505" /><Relationship Type="http://schemas.openxmlformats.org/officeDocument/2006/relationships/slideLayout" Target="/ppt/slideLayouts/slideLayout1.xml" Id="R68acd55dc7e047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acd55dc7e047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412c17a2e434b9c" /><Relationship Type="http://schemas.openxmlformats.org/officeDocument/2006/relationships/notesSlide" Target="/ppt/notesSlides/notesSlide1.xml" Id="R9a9dd95987a648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3254d3fb5f94d04" /><Relationship Type="http://schemas.openxmlformats.org/officeDocument/2006/relationships/notesSlide" Target="/ppt/notesSlides/notesSlide2.xml" Id="R39049dce30bf4e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eb0588c866e4c74" /><Relationship Type="http://schemas.openxmlformats.org/officeDocument/2006/relationships/notesSlide" Target="/ppt/notesSlides/notesSlide3.xml" Id="R013476c9e82942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75de939e764ee6" /><Relationship Type="http://schemas.openxmlformats.org/officeDocument/2006/relationships/notesSlide" Target="/ppt/notesSlides/notesSlide4.xml" Id="R44dea38bc72347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c770584020746ec" /><Relationship Type="http://schemas.openxmlformats.org/officeDocument/2006/relationships/notesSlide" Target="/ppt/notesSlides/notesSlide5.xml" Id="R024f2c59154346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55c5519131449c" /><Relationship Type="http://schemas.openxmlformats.org/officeDocument/2006/relationships/notesSlide" Target="/ppt/notesSlides/notesSlide6.xml" Id="R2fd08b90bd974a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7118f812cb429d" /><Relationship Type="http://schemas.openxmlformats.org/officeDocument/2006/relationships/notesSlide" Target="/ppt/notesSlides/notesSlide7.xml" Id="R8002b512f72e4d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d0bbc4760c74fe5" /><Relationship Type="http://schemas.openxmlformats.org/officeDocument/2006/relationships/notesSlide" Target="/ppt/notesSlides/notesSlide8.xml" Id="R72c7446e546247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0b8af1468e041cd" /><Relationship Type="http://schemas.openxmlformats.org/officeDocument/2006/relationships/notesSlide" Target="/ppt/notesSlides/notesSlide9.xml" Id="R774c7f13f58c4a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9f4a465b6a04e42" /><Relationship Type="http://schemas.openxmlformats.org/officeDocument/2006/relationships/notesSlide" Target="/ppt/notesSlides/notesSlide10.xml" Id="R4611c2ccc1d347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ca4781ae7bd4f98" /><Relationship Type="http://schemas.openxmlformats.org/officeDocument/2006/relationships/notesSlide" Target="/ppt/notesSlides/notesSlide11.xml" Id="R936c2b5bd7f345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f4c0b42dd73434b" /><Relationship Type="http://schemas.openxmlformats.org/officeDocument/2006/relationships/notesSlide" Target="/ppt/notesSlides/notesSlide12.xml" Id="R7e7a6dfaae794d6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f60829ec12c4d62" /><Relationship Type="http://schemas.openxmlformats.org/officeDocument/2006/relationships/notesSlide" Target="/ppt/notesSlides/notesSlide13.xml" Id="R6a65f0f3dbaa46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09bbe669e2247b7" /><Relationship Type="http://schemas.openxmlformats.org/officeDocument/2006/relationships/notesSlide" Target="/ppt/notesSlides/notesSlide14.xml" Id="R7a19ba97fa44444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1804f579aca4f44" /><Relationship Type="http://schemas.openxmlformats.org/officeDocument/2006/relationships/notesSlide" Target="/ppt/notesSlides/notesSlide15.xml" Id="R29a5795e49db41b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bef02d66bea4d95" /><Relationship Type="http://schemas.openxmlformats.org/officeDocument/2006/relationships/notesSlide" Target="/ppt/notesSlides/notesSlide16.xml" Id="R9c7d404007484d0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adb69e1b9ea4b0e" /><Relationship Type="http://schemas.openxmlformats.org/officeDocument/2006/relationships/notesSlide" Target="/ppt/notesSlides/notesSlide17.xml" Id="Ra9281ee498db449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35c87ac2aa9442c" /><Relationship Type="http://schemas.openxmlformats.org/officeDocument/2006/relationships/notesSlide" Target="/ppt/notesSlides/notesSlide18.xml" Id="R70c2ea88ab80472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96b1b75ebd04fe3" /><Relationship Type="http://schemas.openxmlformats.org/officeDocument/2006/relationships/notesSlide" Target="/ppt/notesSlides/notesSlide19.xml" Id="R5cdcb962dc624d9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281f905605c4d31" /><Relationship Type="http://schemas.openxmlformats.org/officeDocument/2006/relationships/notesSlide" Target="/ppt/notesSlides/notesSlide20.xml" Id="R07077e00666541b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12b54ec03b64936" /><Relationship Type="http://schemas.openxmlformats.org/officeDocument/2006/relationships/notesSlide" Target="/ppt/notesSlides/notesSlide21.xml" Id="R386cfcd1b099472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bc89ad6bb3e41b8" /><Relationship Type="http://schemas.openxmlformats.org/officeDocument/2006/relationships/notesSlide" Target="/ppt/notesSlides/notesSlide22.xml" Id="R8600c915143f412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5a09869ef5c4ff5" /><Relationship Type="http://schemas.openxmlformats.org/officeDocument/2006/relationships/notesSlide" Target="/ppt/notesSlides/notesSlide23.xml" Id="R7e4e8f9e596b4cd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1eaeec5f0b14e5d" /><Relationship Type="http://schemas.openxmlformats.org/officeDocument/2006/relationships/notesSlide" Target="/ppt/notesSlides/notesSlide24.xml" Id="Ree7d8a0767c341f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db421f95537472b" /><Relationship Type="http://schemas.openxmlformats.org/officeDocument/2006/relationships/notesSlide" Target="/ppt/notesSlides/notesSlide25.xml" Id="R5a68c9964452465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c18a621db7b4cdc" /><Relationship Type="http://schemas.openxmlformats.org/officeDocument/2006/relationships/notesSlide" Target="/ppt/notesSlides/notesSlide26.xml" Id="Rdc156aa375c7408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9d0d42724c3409e" /><Relationship Type="http://schemas.openxmlformats.org/officeDocument/2006/relationships/notesSlide" Target="/ppt/notesSlides/notesSlide27.xml" Id="Ree694052304b421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41760d52c7744b2" /><Relationship Type="http://schemas.openxmlformats.org/officeDocument/2006/relationships/notesSlide" Target="/ppt/notesSlides/notesSlide28.xml" Id="Rc54c28edd8b3464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c29a92e3b5944eb" /><Relationship Type="http://schemas.openxmlformats.org/officeDocument/2006/relationships/notesSlide" Target="/ppt/notesSlides/notesSlide29.xml" Id="R64910a07925d43b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9b27889a0e546c2" /><Relationship Type="http://schemas.openxmlformats.org/officeDocument/2006/relationships/notesSlide" Target="/ppt/notesSlides/notesSlide30.xml" Id="R8814ec97175f4f1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da2e936184742b2" /><Relationship Type="http://schemas.openxmlformats.org/officeDocument/2006/relationships/notesSlide" Target="/ppt/notesSlides/notesSlide31.xml" Id="R575a2370c93d497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215a549f96e4ebd" /><Relationship Type="http://schemas.openxmlformats.org/officeDocument/2006/relationships/notesSlide" Target="/ppt/notesSlides/notesSlide32.xml" Id="Rcf8c0ba2765f421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71066f6fa184d8c" /><Relationship Type="http://schemas.openxmlformats.org/officeDocument/2006/relationships/notesSlide" Target="/ppt/notesSlides/notesSlide33.xml" Id="R739ca501130c4ff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29641f614f74650" /><Relationship Type="http://schemas.openxmlformats.org/officeDocument/2006/relationships/notesSlide" Target="/ppt/notesSlides/notesSlide34.xml" Id="Rba48e64c8860413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47f603cb825447a" /><Relationship Type="http://schemas.openxmlformats.org/officeDocument/2006/relationships/notesSlide" Target="/ppt/notesSlides/notesSlide35.xml" Id="R6215292646894b6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f3e5290c40b4ae2" /><Relationship Type="http://schemas.openxmlformats.org/officeDocument/2006/relationships/notesSlide" Target="/ppt/notesSlides/notesSlide36.xml" Id="R123dd39a2e6e4ae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cff4b3596e44c05" /><Relationship Type="http://schemas.openxmlformats.org/officeDocument/2006/relationships/notesSlide" Target="/ppt/notesSlides/notesSlide37.xml" Id="R0f9f50f562134d19" /></Relationships>
</file>

<file path=ppt/slides/slide1.xml><?xml version="1.0" encoding="utf-8"?>
<p:sld xmlns:p="http://schemas.openxmlformats.org/presentationml/2006/main">
  <p:cSld>
    <p:bg>
      <p:bgPr>
        <a:solidFill xmlns:a="http://schemas.openxmlformats.org/drawingml/2006/main">
          <a:srgbClr val="102D40"/>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ABF3CC0-E027-40E6-92D8-0F1E022291E1}"/>
              </a:ext>
            </a:extLst>
          </p:cNvPr>
          <p:cNvSpPr>
            <a:spLocks xmlns:a="http://schemas.openxmlformats.org/drawingml/2006/main" noGrp="1"/>
          </p:cNvSpPr>
          <p:nvPr/>
        </p:nvSpPr>
        <p:spPr>
          <a:xfrm xmlns:a="http://schemas.openxmlformats.org/drawingml/2006/main">
            <a:off x="781050" y="1762125"/>
            <a:ext cx="13668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DejaVu Sans"/>
                <a:ea typeface="DejaVu Sans"/>
                <a:cs typeface="DejaVu Sans"/>
              </a:defRPr>
            </a:pPr>
            <a:r>
              <a:rPr sz="5700" b="1">
                <a:solidFill>
                  <a:srgbClr val="FFFFFF"/>
                </a:solidFill>
                <a:latin typeface="DejaVu Sans"/>
                <a:ea typeface="DejaVu Sans"/>
                <a:cs typeface="DejaVu Sans"/>
              </a:rPr>
              <a:t>Desarrollo con IA</a:t>
            </a:r>
          </a:p>
          <a:p xmlns:a="http://schemas.openxmlformats.org/drawingml/2006/main">
            <a:pPr>
              <a:defRPr sz="5700" b="1">
                <a:solidFill>
                  <a:srgbClr val="FFFFFF"/>
                </a:solidFill>
                <a:latin typeface="DejaVu Sans"/>
                <a:ea typeface="DejaVu Sans"/>
                <a:cs typeface="DejaVu Sans"/>
              </a:defRPr>
            </a:pPr>
            <a:r>
              <a:rPr sz="5700" b="1">
                <a:solidFill>
                  <a:srgbClr val="FFFFFF"/>
                </a:solidFill>
                <a:latin typeface="DejaVu Sans"/>
                <a:ea typeface="DejaVu Sans"/>
                <a:cs typeface="DejaVu Sans"/>
              </a:rPr>
              <a:t>en Landscape TSI</a:t>
            </a:r>
          </a:p>
        </p:txBody>
      </p:sp>
      <p:sp>
        <p:nvSpPr>
          <p:cNvPr id="2" name="">
            <a:extLst xmlns:a="http://schemas.openxmlformats.org/drawingml/2006/main">
              <a:ext uri="{FF2B5EF4-FFF2-40B4-BE49-F238E27FC236}">
                <a16:creationId xmlns:a16="http://schemas.microsoft.com/office/drawing/2014/main" id="{3A283EEE-0B39-4C18-9B21-FAEF52D9B418}"/>
              </a:ext>
            </a:extLst>
          </p:cNvPr>
          <p:cNvSpPr>
            <a:spLocks xmlns:a="http://schemas.openxmlformats.org/drawingml/2006/main" noGrp="1"/>
          </p:cNvSpPr>
          <p:nvPr/>
        </p:nvSpPr>
        <p:spPr>
          <a:xfrm xmlns:a="http://schemas.openxmlformats.org/drawingml/2006/main">
            <a:off x="828675" y="4343400"/>
            <a:ext cx="13239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A8D8CE"/>
                </a:solidFill>
                <a:latin typeface="DejaVu Sans"/>
                <a:ea typeface="DejaVu Sans"/>
                <a:cs typeface="DejaVu Sans"/>
              </a:defRPr>
            </a:pPr>
            <a:r>
              <a:rPr sz="2850" b="0">
                <a:solidFill>
                  <a:srgbClr val="A8D8CE"/>
                </a:solidFill>
                <a:latin typeface="DejaVu Sans"/>
                <a:ea typeface="DejaVu Sans"/>
                <a:cs typeface="DejaVu Sans"/>
              </a:rPr>
              <a:t>Vibe Coding, SDD y OpenSpec</a:t>
            </a:r>
          </a:p>
          <a:p xmlns:a="http://schemas.openxmlformats.org/drawingml/2006/main">
            <a:pPr>
              <a:defRPr sz="2850" b="0">
                <a:solidFill>
                  <a:srgbClr val="A8D8CE"/>
                </a:solidFill>
                <a:latin typeface="DejaVu Sans"/>
                <a:ea typeface="DejaVu Sans"/>
                <a:cs typeface="DejaVu Sans"/>
              </a:defRPr>
            </a:pPr>
            <a:r>
              <a:rPr sz="2850" b="0">
                <a:solidFill>
                  <a:srgbClr val="A8D8CE"/>
                </a:solidFill>
                <a:latin typeface="DejaVu Sans"/>
                <a:ea typeface="DejaVu Sans"/>
                <a:cs typeface="DejaVu Sans"/>
              </a:rPr>
              <a:t>Tutorial aplicado a .NET y SQL Server</a:t>
            </a:r>
          </a:p>
        </p:txBody>
      </p:sp>
      <p:sp>
        <p:nvSpPr>
          <p:cNvPr id="3" name="">
            <a:extLst xmlns:a="http://schemas.openxmlformats.org/drawingml/2006/main">
              <a:ext uri="{FF2B5EF4-FFF2-40B4-BE49-F238E27FC236}">
                <a16:creationId xmlns:a16="http://schemas.microsoft.com/office/drawing/2014/main" id="{18B386D6-21AA-43C5-9D21-ACF8DABE7585}"/>
              </a:ext>
            </a:extLst>
          </p:cNvPr>
          <p:cNvSpPr>
            <a:spLocks xmlns:a="http://schemas.openxmlformats.org/drawingml/2006/main" noGrp="1"/>
          </p:cNvSpPr>
          <p:nvPr/>
        </p:nvSpPr>
        <p:spPr>
          <a:xfrm xmlns:a="http://schemas.openxmlformats.org/drawingml/2006/main">
            <a:off x="828675" y="7191375"/>
            <a:ext cx="1333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3E3E8"/>
                </a:solidFill>
                <a:latin typeface="DejaVu Sans"/>
                <a:ea typeface="DejaVu Sans"/>
                <a:cs typeface="DejaVu Sans"/>
              </a:defRPr>
            </a:pPr>
            <a:r>
              <a:rPr sz="1950" b="0">
                <a:solidFill>
                  <a:srgbClr val="D3E3E8"/>
                </a:solidFill>
                <a:latin typeface="DejaVu Sans"/>
                <a:ea typeface="DejaVu Sans"/>
                <a:cs typeface="DejaVu Sans"/>
              </a:rPr>
              <a:t>Jean · Taller docente · Septiembre de 2026</a:t>
            </a:r>
          </a:p>
        </p:txBody>
      </p:sp>
    </p:spTree>
    <p:extLst>
      <p:ext uri="{BB962C8B-B14F-4D97-AF65-F5344CB8AC3E}">
        <p14:creationId xmlns:p14="http://schemas.microsoft.com/office/powerpoint/2010/main" val="250347489"/>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4041A45-9AFE-4F67-9E41-7D484D326A1B}"/>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Objetivos y recorrido de la clase</a:t>
            </a:r>
          </a:p>
        </p:txBody>
      </p:sp>
      <p:graphicFrame>
        <p:nvGraphicFramePr>
          <p:cNvPr id="6" name=""/>
          <p:cNvGraphicFramePr/>
          <p:nvPr/>
        </p:nvGraphicFramePr>
        <p:xfrm>
          <a:off xmlns:a="http://schemas.openxmlformats.org/drawingml/2006/main" x="628650" y="1952625"/>
          <a:ext xmlns:a="http://schemas.openxmlformats.org/drawingml/2006/main" cx="14001750" cy="5000625"/>
        </p:xfrm>
        <a:graphic xmlns:a="http://schemas.openxmlformats.org/drawingml/2006/main">
          <a:graphicData uri="http://schemas.openxmlformats.org/drawingml/2006/table">
            <a:tbl>
              <a:tblPr/>
              <a:tblGrid>
                <a:gridCol w="2857500"/>
                <a:gridCol w="9048750"/>
                <a:gridCol w="2095500"/>
              </a:tblGrid>
              <a:tr h="1000125">
                <a:tc>
                  <a:txBody>
                    <a:bodyPr/>
                    <a:lstStyle/>
                    <a:p>
                      <a:r>
                        <a:rPr sz="2100" b="1">
                          <a:solidFill>
                            <a:srgbClr val="FFFFFF"/>
                          </a:solidFill>
                          <a:latin typeface="DejaVu Sans"/>
                          <a:ea typeface="DejaVu Sans"/>
                          <a:cs typeface="DejaVu Sans"/>
                        </a:rPr>
                        <a:t>Bloque</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Qué aprenderemos</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Tiempo</a:t>
                      </a:r>
                    </a:p>
                  </a:txBody>
                  <a:tcPr marL="91440" marR="91440" marT="45720" marB="45720">
                    <a:solidFill>
                      <a:srgbClr val="183F4C"/>
                    </a:solidFill>
                  </a:tcPr>
                </a:tc>
              </a:tr>
              <a:tr h="1000125">
                <a:tc>
                  <a:txBody>
                    <a:bodyPr/>
                    <a:lstStyle/>
                    <a:p>
                      <a:r>
                        <a:rPr sz="2100" b="0">
                          <a:solidFill>
                            <a:srgbClr val="152F41"/>
                          </a:solidFill>
                          <a:latin typeface="DejaVu Sans"/>
                          <a:ea typeface="DejaVu Sans"/>
                          <a:cs typeface="DejaVu Sans"/>
                        </a:rPr>
                        <a:t>Fundamentos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Distinguir Vibe Coding, SDD y OpenSpec</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20 min</a:t>
                      </a:r>
                    </a:p>
                  </a:txBody>
                  <a:tcPr marL="91440" marR="91440" marT="45720" marB="45720">
                    <a:solidFill>
                      <a:srgbClr val="F7F5EF"/>
                    </a:solidFill>
                  </a:tcPr>
                </a:tc>
              </a:tr>
              <a:tr h="1000125">
                <a:tc>
                  <a:txBody>
                    <a:bodyPr/>
                    <a:lstStyle/>
                    <a:p>
                      <a:r>
                        <a:rPr sz="2100" b="0">
                          <a:solidFill>
                            <a:srgbClr val="152F41"/>
                          </a:solidFill>
                          <a:latin typeface="DejaVu Sans"/>
                          <a:ea typeface="DejaVu Sans"/>
                          <a:cs typeface="DejaVu Sans"/>
                        </a:rPr>
                        <a:t>Herramientas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Comparar enfoques y preparar el entorno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20 min</a:t>
                      </a:r>
                    </a:p>
                  </a:txBody>
                  <a:tcPr marL="91440" marR="91440" marT="45720" marB="45720">
                    <a:solidFill>
                      <a:srgbClr val="F7F5EF"/>
                    </a:solidFill>
                  </a:tcPr>
                </a:tc>
              </a:tr>
              <a:tr h="1000125">
                <a:tc>
                  <a:txBody>
                    <a:bodyPr/>
                    <a:lstStyle/>
                    <a:p>
                      <a:r>
                        <a:rPr sz="2100" b="0">
                          <a:solidFill>
                            <a:srgbClr val="152F41"/>
                          </a:solidFill>
                          <a:latin typeface="DejaVu Sans"/>
                          <a:ea typeface="DejaVu Sans"/>
                          <a:cs typeface="DejaVu Sans"/>
                        </a:rPr>
                        <a:t>Laboratorio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Especificar e implementar un cambio acotado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40 min</a:t>
                      </a:r>
                    </a:p>
                  </a:txBody>
                  <a:tcPr marL="91440" marR="91440" marT="45720" marB="45720">
                    <a:solidFill>
                      <a:srgbClr val="F7F5EF"/>
                    </a:solidFill>
                  </a:tcPr>
                </a:tc>
              </a:tr>
              <a:tr h="1000125">
                <a:tc>
                  <a:txBody>
                    <a:bodyPr/>
                    <a:lstStyle/>
                    <a:p>
                      <a:r>
                        <a:rPr sz="2100" b="0">
                          <a:solidFill>
                            <a:srgbClr val="152F41"/>
                          </a:solidFill>
                          <a:latin typeface="DejaVu Sans"/>
                          <a:ea typeface="DejaVu Sans"/>
                          <a:cs typeface="DejaVu Sans"/>
                        </a:rPr>
                        <a:t>Cierre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Evaluar resultados y discutir aprendizajes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10 min</a:t>
                      </a:r>
                    </a:p>
                  </a:txBody>
                  <a:tcPr marL="91440" marR="91440" marT="45720" marB="45720">
                    <a:solidFill>
                      <a:srgbClr val="F7F5EF"/>
                    </a:solidFill>
                  </a:tcPr>
                </a:tc>
              </a:tr>
            </a:tbl>
          </a:graphicData>
        </a:graphic>
      </p:graphicFrame>
      <p:sp>
        <p:nvSpPr>
          <p:cNvPr id="3" name="">
            <a:extLst xmlns:a="http://schemas.openxmlformats.org/drawingml/2006/main">
              <a:ext uri="{FF2B5EF4-FFF2-40B4-BE49-F238E27FC236}">
                <a16:creationId xmlns:a16="http://schemas.microsoft.com/office/drawing/2014/main" id="{5C2EBE41-2C6B-4D0D-9E17-CFB8C367DB7E}"/>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Entregable del participante: una especificación revisada y evidencia de aceptación.</a:t>
            </a:r>
          </a:p>
        </p:txBody>
      </p:sp>
      <p:sp>
        <p:nvSpPr>
          <p:cNvPr id="4" name="">
            <a:extLst xmlns:a="http://schemas.openxmlformats.org/drawingml/2006/main">
              <a:ext uri="{FF2B5EF4-FFF2-40B4-BE49-F238E27FC236}">
                <a16:creationId xmlns:a16="http://schemas.microsoft.com/office/drawing/2014/main" id="{E6BCE6AC-FDA4-437F-B203-5C85F12E1A46}"/>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02</a:t>
            </a:r>
          </a:p>
        </p:txBody>
      </p:sp>
    </p:spTree>
    <p:extLst>
      <p:ext uri="{BB962C8B-B14F-4D97-AF65-F5344CB8AC3E}">
        <p14:creationId xmlns:p14="http://schemas.microsoft.com/office/powerpoint/2010/main" val="1890870489"/>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29C4CE0-A83D-4EE3-AF04-A5BC8F225047}"/>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El caso de negocio de Landscape TSI</a:t>
            </a:r>
          </a:p>
        </p:txBody>
      </p:sp>
      <p:sp>
        <p:nvSpPr>
          <p:cNvPr id="2" name="">
            <a:extLst xmlns:a="http://schemas.openxmlformats.org/drawingml/2006/main">
              <a:ext uri="{FF2B5EF4-FFF2-40B4-BE49-F238E27FC236}">
                <a16:creationId xmlns:a16="http://schemas.microsoft.com/office/drawing/2014/main" id="{CE4237FC-A940-47EC-BEE6-1A2765F658D2}"/>
              </a:ext>
            </a:extLst>
          </p:cNvPr>
          <p:cNvSpPr>
            <a:spLocks xmlns:a="http://schemas.openxmlformats.org/drawingml/2006/main" noGrp="1"/>
          </p:cNvSpPr>
          <p:nvPr/>
        </p:nvSpPr>
        <p:spPr>
          <a:xfrm xmlns:a="http://schemas.openxmlformats.org/drawingml/2006/main">
            <a:off x="685800" y="1847850"/>
            <a:ext cx="6648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C77"/>
                </a:solidFill>
                <a:latin typeface="DejaVu Sans"/>
                <a:ea typeface="DejaVu Sans"/>
                <a:cs typeface="DejaVu Sans"/>
              </a:defRPr>
            </a:pPr>
            <a:r>
              <a:rPr sz="2550" b="1">
                <a:solidFill>
                  <a:srgbClr val="087C77"/>
                </a:solidFill>
                <a:latin typeface="DejaVu Sans"/>
                <a:ea typeface="DejaVu Sans"/>
                <a:cs typeface="DejaVu Sans"/>
              </a:rPr>
              <a:t>La necesidad</a:t>
            </a:r>
          </a:p>
        </p:txBody>
      </p:sp>
      <p:sp>
        <p:nvSpPr>
          <p:cNvPr id="3" name="">
            <a:extLst xmlns:a="http://schemas.openxmlformats.org/drawingml/2006/main">
              <a:ext uri="{FF2B5EF4-FFF2-40B4-BE49-F238E27FC236}">
                <a16:creationId xmlns:a16="http://schemas.microsoft.com/office/drawing/2014/main" id="{E9530F7F-EBC7-4567-ACD9-9900869E30E4}"/>
              </a:ext>
            </a:extLst>
          </p:cNvPr>
          <p:cNvSpPr>
            <a:spLocks xmlns:a="http://schemas.openxmlformats.org/drawingml/2006/main" noGrp="1"/>
          </p:cNvSpPr>
          <p:nvPr/>
        </p:nvSpPr>
        <p:spPr>
          <a:xfrm xmlns:a="http://schemas.openxmlformats.org/drawingml/2006/main">
            <a:off x="7953375" y="1847850"/>
            <a:ext cx="657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C77"/>
                </a:solidFill>
                <a:latin typeface="DejaVu Sans"/>
                <a:ea typeface="DejaVu Sans"/>
                <a:cs typeface="DejaVu Sans"/>
              </a:defRPr>
            </a:pPr>
            <a:r>
              <a:rPr sz="2550" b="1">
                <a:solidFill>
                  <a:srgbClr val="087C77"/>
                </a:solidFill>
                <a:latin typeface="DejaVu Sans"/>
                <a:ea typeface="DejaVu Sans"/>
                <a:cs typeface="DejaVu Sans"/>
              </a:rPr>
              <a:t>Un ejemplo para toda la clase</a:t>
            </a:r>
          </a:p>
        </p:txBody>
      </p:sp>
      <p:sp>
        <p:nvSpPr>
          <p:cNvPr id="4" name="">
            <a:extLst xmlns:a="http://schemas.openxmlformats.org/drawingml/2006/main">
              <a:ext uri="{FF2B5EF4-FFF2-40B4-BE49-F238E27FC236}">
                <a16:creationId xmlns:a16="http://schemas.microsoft.com/office/drawing/2014/main" id="{38263844-FC0F-427B-A308-695BE981C31D}"/>
              </a:ext>
            </a:extLst>
          </p:cNvPr>
          <p:cNvSpPr>
            <a:spLocks xmlns:a="http://schemas.openxmlformats.org/drawingml/2006/main" noGrp="1"/>
          </p:cNvSpPr>
          <p:nvPr/>
        </p:nvSpPr>
        <p:spPr>
          <a:xfrm xmlns:a="http://schemas.openxmlformats.org/drawingml/2006/main">
            <a:off x="685800" y="2657475"/>
            <a:ext cx="65341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Conocer qué tecnologías de seguridad adopta cada empresa.</a:t>
            </a:r>
          </a:p>
        </p:txBody>
      </p:sp>
      <p:sp>
        <p:nvSpPr>
          <p:cNvPr id="5" name="">
            <a:extLst xmlns:a="http://schemas.openxmlformats.org/drawingml/2006/main">
              <a:ext uri="{FF2B5EF4-FFF2-40B4-BE49-F238E27FC236}">
                <a16:creationId xmlns:a16="http://schemas.microsoft.com/office/drawing/2014/main" id="{1CEE38C4-6435-4D47-82AE-E0A52CFB23B7}"/>
              </a:ext>
            </a:extLst>
          </p:cNvPr>
          <p:cNvSpPr>
            <a:spLocks xmlns:a="http://schemas.openxmlformats.org/drawingml/2006/main" noGrp="1"/>
          </p:cNvSpPr>
          <p:nvPr/>
        </p:nvSpPr>
        <p:spPr>
          <a:xfrm xmlns:a="http://schemas.openxmlformats.org/drawingml/2006/main">
            <a:off x="685800" y="3943350"/>
            <a:ext cx="65341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Relacionar Building Blocks, empresas y tecnologías implementadas.</a:t>
            </a:r>
          </a:p>
        </p:txBody>
      </p:sp>
      <p:sp>
        <p:nvSpPr>
          <p:cNvPr id="6" name="">
            <a:extLst xmlns:a="http://schemas.openxmlformats.org/drawingml/2006/main">
              <a:ext uri="{FF2B5EF4-FFF2-40B4-BE49-F238E27FC236}">
                <a16:creationId xmlns:a16="http://schemas.microsoft.com/office/drawing/2014/main" id="{C91FD1FD-1ADE-4569-8356-B79ABBDE108D}"/>
              </a:ext>
            </a:extLst>
          </p:cNvPr>
          <p:cNvSpPr>
            <a:spLocks xmlns:a="http://schemas.openxmlformats.org/drawingml/2006/main" noGrp="1"/>
          </p:cNvSpPr>
          <p:nvPr/>
        </p:nvSpPr>
        <p:spPr>
          <a:xfrm xmlns:a="http://schemas.openxmlformats.org/drawingml/2006/main">
            <a:off x="685800" y="5229225"/>
            <a:ext cx="65341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Controlar quién consulta, registra o modifica información.</a:t>
            </a:r>
          </a:p>
        </p:txBody>
      </p:sp>
      <p:sp>
        <p:nvSpPr>
          <p:cNvPr id="7" name="">
            <a:extLst xmlns:a="http://schemas.openxmlformats.org/drawingml/2006/main">
              <a:ext uri="{FF2B5EF4-FFF2-40B4-BE49-F238E27FC236}">
                <a16:creationId xmlns:a16="http://schemas.microsoft.com/office/drawing/2014/main" id="{2698EADE-10DF-4AAF-9F26-C3DD48DC6EBE}"/>
              </a:ext>
            </a:extLst>
          </p:cNvPr>
          <p:cNvSpPr>
            <a:spLocks xmlns:a="http://schemas.openxmlformats.org/drawingml/2006/main" noGrp="1"/>
          </p:cNvSpPr>
          <p:nvPr/>
        </p:nvSpPr>
        <p:spPr>
          <a:xfrm xmlns:a="http://schemas.openxmlformats.org/drawingml/2006/main">
            <a:off x="7953375" y="2657475"/>
            <a:ext cx="6572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Building Block: gestión de vulnerabilidades.</a:t>
            </a:r>
          </a:p>
        </p:txBody>
      </p:sp>
      <p:sp>
        <p:nvSpPr>
          <p:cNvPr id="8" name="">
            <a:extLst xmlns:a="http://schemas.openxmlformats.org/drawingml/2006/main">
              <a:ext uri="{FF2B5EF4-FFF2-40B4-BE49-F238E27FC236}">
                <a16:creationId xmlns:a16="http://schemas.microsoft.com/office/drawing/2014/main" id="{F06FDC46-91A0-4B42-890F-E0F412EB653C}"/>
              </a:ext>
            </a:extLst>
          </p:cNvPr>
          <p:cNvSpPr>
            <a:spLocks xmlns:a="http://schemas.openxmlformats.org/drawingml/2006/main" noGrp="1"/>
          </p:cNvSpPr>
          <p:nvPr/>
        </p:nvSpPr>
        <p:spPr>
          <a:xfrm xmlns:a="http://schemas.openxmlformats.org/drawingml/2006/main">
            <a:off x="7953375" y="3943350"/>
            <a:ext cx="6572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Empresas de demostración: Alfa y Beta.</a:t>
            </a:r>
          </a:p>
        </p:txBody>
      </p:sp>
      <p:sp>
        <p:nvSpPr>
          <p:cNvPr id="9" name="">
            <a:extLst xmlns:a="http://schemas.openxmlformats.org/drawingml/2006/main">
              <a:ext uri="{FF2B5EF4-FFF2-40B4-BE49-F238E27FC236}">
                <a16:creationId xmlns:a16="http://schemas.microsoft.com/office/drawing/2014/main" id="{E1E8A71D-957D-4DD8-A071-C8B4CADFE9B3}"/>
              </a:ext>
            </a:extLst>
          </p:cNvPr>
          <p:cNvSpPr>
            <a:spLocks xmlns:a="http://schemas.openxmlformats.org/drawingml/2006/main" noGrp="1"/>
          </p:cNvSpPr>
          <p:nvPr/>
        </p:nvSpPr>
        <p:spPr>
          <a:xfrm xmlns:a="http://schemas.openxmlformats.org/drawingml/2006/main">
            <a:off x="7953375" y="5229225"/>
            <a:ext cx="6572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Pregunta: ¿qué utiliza cada empresa y cómo se relaciona con el estándar corporativo?</a:t>
            </a:r>
          </a:p>
        </p:txBody>
      </p:sp>
      <p:sp>
        <p:nvSpPr>
          <p:cNvPr id="10" name="">
            <a:extLst xmlns:a="http://schemas.openxmlformats.org/drawingml/2006/main">
              <a:ext uri="{FF2B5EF4-FFF2-40B4-BE49-F238E27FC236}">
                <a16:creationId xmlns:a16="http://schemas.microsoft.com/office/drawing/2014/main" id="{BC5FFE9E-4EAE-49D9-8DD3-7C8939E4DF6A}"/>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Los datos del laboratorio son ficticios.</a:t>
            </a:r>
          </a:p>
        </p:txBody>
      </p:sp>
      <p:sp>
        <p:nvSpPr>
          <p:cNvPr id="11" name="">
            <a:extLst xmlns:a="http://schemas.openxmlformats.org/drawingml/2006/main">
              <a:ext uri="{FF2B5EF4-FFF2-40B4-BE49-F238E27FC236}">
                <a16:creationId xmlns:a16="http://schemas.microsoft.com/office/drawing/2014/main" id="{0F68782A-2473-4426-BDAF-FE973DAAB994}"/>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03</a:t>
            </a:r>
          </a:p>
        </p:txBody>
      </p:sp>
    </p:spTree>
    <p:extLst>
      <p:ext uri="{BB962C8B-B14F-4D97-AF65-F5344CB8AC3E}">
        <p14:creationId xmlns:p14="http://schemas.microsoft.com/office/powerpoint/2010/main" val="289320158"/>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51D2503-E888-4178-A4FA-1A4C2F6B3772}"/>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La experiencia de Jean y el alcance del taller</a:t>
            </a:r>
          </a:p>
        </p:txBody>
      </p:sp>
      <p:graphicFrame>
        <p:nvGraphicFramePr>
          <p:cNvPr id="6" name=""/>
          <p:cNvGraphicFramePr/>
          <p:nvPr/>
        </p:nvGraphicFramePr>
        <p:xfrm>
          <a:off xmlns:a="http://schemas.openxmlformats.org/drawingml/2006/main" x="628650" y="1952625"/>
          <a:ext xmlns:a="http://schemas.openxmlformats.org/drawingml/2006/main" cx="14001750" cy="5029200"/>
        </p:xfrm>
        <a:graphic xmlns:a="http://schemas.openxmlformats.org/drawingml/2006/main">
          <a:graphicData uri="http://schemas.openxmlformats.org/drawingml/2006/table">
            <a:tbl>
              <a:tblPr/>
              <a:tblGrid>
                <a:gridCol w="6858000"/>
                <a:gridCol w="7143750"/>
              </a:tblGrid>
              <a:tr h="838200">
                <a:tc>
                  <a:txBody>
                    <a:bodyPr/>
                    <a:lstStyle/>
                    <a:p>
                      <a:r>
                        <a:rPr sz="2100" b="1">
                          <a:solidFill>
                            <a:srgbClr val="FFFFFF"/>
                          </a:solidFill>
                          <a:latin typeface="DejaVu Sans"/>
                          <a:ea typeface="DejaVu Sans"/>
                          <a:cs typeface="DejaVu Sans"/>
                        </a:rPr>
                        <a:t>Base de la experiencia relatada</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Qué profundizamos en la clase</a:t>
                      </a:r>
                    </a:p>
                  </a:txBody>
                  <a:tcPr marL="91440" marR="91440" marT="45720" marB="45720">
                    <a:solidFill>
                      <a:srgbClr val="183F4C"/>
                    </a:solidFill>
                  </a:tcPr>
                </a:tc>
              </a:tr>
              <a:tr h="838200">
                <a:tc>
                  <a:txBody>
                    <a:bodyPr/>
                    <a:lstStyle/>
                    <a:p>
                      <a:r>
                        <a:rPr sz="2100" b="0">
                          <a:solidFill>
                            <a:srgbClr val="152F41"/>
                          </a:solidFill>
                          <a:latin typeface="DejaVu Sans"/>
                          <a:ea typeface="DejaVu Sans"/>
                          <a:cs typeface="DejaVu Sans"/>
                        </a:rPr>
                        <a:t>Aplicación .NET MVC y SQL Server</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Entorno, paquetes y separación de datos</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ChatGPT para concretar funcionalidades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Prompts con alcance y aceptación</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Codex, Cursor y trabajo con Antigravity</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Agentes, contexto y continuidad</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Archivos Markdown con pendientes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Instrucciones y especificaciones duraderas</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Propuesta de empresas por Building Block</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Ejercicio de adopción de OpenSpec y SDD</a:t>
                      </a:r>
                    </a:p>
                  </a:txBody>
                  <a:tcPr marL="91440" marR="91440" marT="45720" marB="45720">
                    <a:solidFill>
                      <a:srgbClr val="F7F5EF"/>
                    </a:solidFill>
                  </a:tcPr>
                </a:tc>
              </a:tr>
            </a:tbl>
          </a:graphicData>
        </a:graphic>
      </p:graphicFrame>
      <p:sp>
        <p:nvSpPr>
          <p:cNvPr id="3" name="">
            <a:extLst xmlns:a="http://schemas.openxmlformats.org/drawingml/2006/main">
              <a:ext uri="{FF2B5EF4-FFF2-40B4-BE49-F238E27FC236}">
                <a16:creationId xmlns:a16="http://schemas.microsoft.com/office/drawing/2014/main" id="{7302D793-4971-45D2-A9CA-353465CF76B8}"/>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OpenSpec y los comandos del laboratorio son una propuesta, no una instalación histórica confirmada.</a:t>
            </a:r>
          </a:p>
        </p:txBody>
      </p:sp>
      <p:sp>
        <p:nvSpPr>
          <p:cNvPr id="4" name="">
            <a:extLst xmlns:a="http://schemas.openxmlformats.org/drawingml/2006/main">
              <a:ext uri="{FF2B5EF4-FFF2-40B4-BE49-F238E27FC236}">
                <a16:creationId xmlns:a16="http://schemas.microsoft.com/office/drawing/2014/main" id="{DE92A52B-A062-4CA8-8312-5B222CF35FF2}"/>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04</a:t>
            </a:r>
          </a:p>
        </p:txBody>
      </p:sp>
    </p:spTree>
    <p:extLst>
      <p:ext uri="{BB962C8B-B14F-4D97-AF65-F5344CB8AC3E}">
        <p14:creationId xmlns:p14="http://schemas.microsoft.com/office/powerpoint/2010/main" val="827171233"/>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F68E47C-E5A7-4A74-9418-EC630387ADEB}"/>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Las capas del desarrollo asistido por IA</a:t>
            </a:r>
          </a:p>
        </p:txBody>
      </p:sp>
      <p:graphicFrame>
        <p:nvGraphicFramePr>
          <p:cNvPr id="5" name=""/>
          <p:cNvGraphicFramePr/>
          <p:nvPr/>
        </p:nvGraphicFramePr>
        <p:xfrm>
          <a:off xmlns:a="http://schemas.openxmlformats.org/drawingml/2006/main" x="628650" y="1952625"/>
          <a:ext xmlns:a="http://schemas.openxmlformats.org/drawingml/2006/main" cx="14001750" cy="5029200"/>
        </p:xfrm>
        <a:graphic xmlns:a="http://schemas.openxmlformats.org/drawingml/2006/main">
          <a:graphicData uri="http://schemas.openxmlformats.org/drawingml/2006/table">
            <a:tbl>
              <a:tblPr/>
              <a:tblGrid>
                <a:gridCol w="3190875"/>
                <a:gridCol w="4857750"/>
                <a:gridCol w="5953125"/>
              </a:tblGrid>
              <a:tr h="838200">
                <a:tc>
                  <a:txBody>
                    <a:bodyPr/>
                    <a:lstStyle/>
                    <a:p>
                      <a:r>
                        <a:rPr sz="2100" b="1">
                          <a:solidFill>
                            <a:srgbClr val="FFFFFF"/>
                          </a:solidFill>
                          <a:latin typeface="DejaVu Sans"/>
                          <a:ea typeface="DejaVu Sans"/>
                          <a:cs typeface="DejaVu Sans"/>
                        </a:rPr>
                        <a:t>Capa</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Ejemplos</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Responsabilidad</a:t>
                      </a:r>
                    </a:p>
                  </a:txBody>
                  <a:tcPr marL="91440" marR="91440" marT="45720" marB="45720">
                    <a:solidFill>
                      <a:srgbClr val="183F4C"/>
                    </a:solidFill>
                  </a:tcPr>
                </a:tc>
              </a:tr>
              <a:tr h="838200">
                <a:tc>
                  <a:txBody>
                    <a:bodyPr/>
                    <a:lstStyle/>
                    <a:p>
                      <a:r>
                        <a:rPr sz="2100" b="0">
                          <a:solidFill>
                            <a:srgbClr val="152F41"/>
                          </a:solidFill>
                          <a:latin typeface="DejaVu Sans"/>
                          <a:ea typeface="DejaVu Sans"/>
                          <a:cs typeface="DejaVu Sans"/>
                        </a:rPr>
                        <a:t>Enfoque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Vibe Coding, SDD</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Cómo se define y valida el trabajo</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Framework de proceso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OpenSpec, Spec Kit, BMAD</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Documentos, convenciones y flujo</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Agente o entorno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Codex, Cursor, Antigravity, Kiro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Interacción con archivos y herramientas</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Modelo y servicio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Modelos de proveedores de IA</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Interpretación y generación</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Aplicación</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ASP.NET Core, EF Core, SQL Server</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Ejecución y persistencia del producto</a:t>
                      </a:r>
                    </a:p>
                  </a:txBody>
                  <a:tcPr marL="91440" marR="91440" marT="45720" marB="45720">
                    <a:solidFill>
                      <a:srgbClr val="F7F5EF"/>
                    </a:solidFill>
                  </a:tcPr>
                </a:tc>
              </a:tr>
            </a:tbl>
          </a:graphicData>
        </a:graphic>
      </p:graphicFrame>
      <p:sp>
        <p:nvSpPr>
          <p:cNvPr id="3" name="">
            <a:extLst xmlns:a="http://schemas.openxmlformats.org/drawingml/2006/main">
              <a:ext uri="{FF2B5EF4-FFF2-40B4-BE49-F238E27FC236}">
                <a16:creationId xmlns:a16="http://schemas.microsoft.com/office/drawing/2014/main" id="{6488E5CE-B952-44BB-BA96-9A49DD016773}"/>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05</a:t>
            </a:r>
          </a:p>
        </p:txBody>
      </p:sp>
    </p:spTree>
    <p:extLst>
      <p:ext uri="{BB962C8B-B14F-4D97-AF65-F5344CB8AC3E}">
        <p14:creationId xmlns:p14="http://schemas.microsoft.com/office/powerpoint/2010/main" val="363178603"/>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BFDE674-4DC3-409D-89D1-21C4053B2372}"/>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Vibe Coding: conversación e iteración</a:t>
            </a:r>
          </a:p>
        </p:txBody>
      </p:sp>
      <p:sp>
        <p:nvSpPr>
          <p:cNvPr id="2" name="">
            <a:extLst xmlns:a="http://schemas.openxmlformats.org/drawingml/2006/main">
              <a:ext uri="{FF2B5EF4-FFF2-40B4-BE49-F238E27FC236}">
                <a16:creationId xmlns:a16="http://schemas.microsoft.com/office/drawing/2014/main" id="{9A1401E0-B45B-43FA-ADBB-C2C334EE48FA}"/>
              </a:ext>
            </a:extLst>
          </p:cNvPr>
          <p:cNvSpPr>
            <a:spLocks xmlns:a="http://schemas.openxmlformats.org/drawingml/2006/main" noGrp="1"/>
          </p:cNvSpPr>
          <p:nvPr/>
        </p:nvSpPr>
        <p:spPr>
          <a:xfrm xmlns:a="http://schemas.openxmlformats.org/drawingml/2006/main">
            <a:off x="685800" y="1847850"/>
            <a:ext cx="6648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C77"/>
                </a:solidFill>
                <a:latin typeface="DejaVu Sans"/>
                <a:ea typeface="DejaVu Sans"/>
                <a:cs typeface="DejaVu Sans"/>
              </a:defRPr>
            </a:pPr>
            <a:r>
              <a:rPr sz="2550" b="1">
                <a:solidFill>
                  <a:srgbClr val="087C77"/>
                </a:solidFill>
                <a:latin typeface="DejaVu Sans"/>
                <a:ea typeface="DejaVu Sans"/>
                <a:cs typeface="DejaVu Sans"/>
              </a:rPr>
              <a:t>Cómo funciona</a:t>
            </a:r>
          </a:p>
        </p:txBody>
      </p:sp>
      <p:sp>
        <p:nvSpPr>
          <p:cNvPr id="3" name="">
            <a:extLst xmlns:a="http://schemas.openxmlformats.org/drawingml/2006/main">
              <a:ext uri="{FF2B5EF4-FFF2-40B4-BE49-F238E27FC236}">
                <a16:creationId xmlns:a16="http://schemas.microsoft.com/office/drawing/2014/main" id="{A8F46892-BAFD-4C5E-8F61-51D0CF034385}"/>
              </a:ext>
            </a:extLst>
          </p:cNvPr>
          <p:cNvSpPr>
            <a:spLocks xmlns:a="http://schemas.openxmlformats.org/drawingml/2006/main" noGrp="1"/>
          </p:cNvSpPr>
          <p:nvPr/>
        </p:nvSpPr>
        <p:spPr>
          <a:xfrm xmlns:a="http://schemas.openxmlformats.org/drawingml/2006/main">
            <a:off x="7953375" y="1847850"/>
            <a:ext cx="657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C77"/>
                </a:solidFill>
                <a:latin typeface="DejaVu Sans"/>
                <a:ea typeface="DejaVu Sans"/>
                <a:cs typeface="DejaVu Sans"/>
              </a:defRPr>
            </a:pPr>
            <a:r>
              <a:rPr sz="2550" b="1">
                <a:solidFill>
                  <a:srgbClr val="087C77"/>
                </a:solidFill>
                <a:latin typeface="DejaVu Sans"/>
                <a:ea typeface="DejaVu Sans"/>
                <a:cs typeface="DejaVu Sans"/>
              </a:rPr>
              <a:t>Qué debo entender</a:t>
            </a:r>
          </a:p>
        </p:txBody>
      </p:sp>
      <p:sp>
        <p:nvSpPr>
          <p:cNvPr id="4" name="">
            <a:extLst xmlns:a="http://schemas.openxmlformats.org/drawingml/2006/main">
              <a:ext uri="{FF2B5EF4-FFF2-40B4-BE49-F238E27FC236}">
                <a16:creationId xmlns:a16="http://schemas.microsoft.com/office/drawing/2014/main" id="{B9DC3B2A-3879-4874-BC27-CA9C40984634}"/>
              </a:ext>
            </a:extLst>
          </p:cNvPr>
          <p:cNvSpPr>
            <a:spLocks xmlns:a="http://schemas.openxmlformats.org/drawingml/2006/main" noGrp="1"/>
          </p:cNvSpPr>
          <p:nvPr/>
        </p:nvSpPr>
        <p:spPr>
          <a:xfrm xmlns:a="http://schemas.openxmlformats.org/drawingml/2006/main">
            <a:off x="685800" y="2657475"/>
            <a:ext cx="65341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Describo un resultado en lenguaje natural.</a:t>
            </a:r>
          </a:p>
        </p:txBody>
      </p:sp>
      <p:sp>
        <p:nvSpPr>
          <p:cNvPr id="5" name="">
            <a:extLst xmlns:a="http://schemas.openxmlformats.org/drawingml/2006/main">
              <a:ext uri="{FF2B5EF4-FFF2-40B4-BE49-F238E27FC236}">
                <a16:creationId xmlns:a16="http://schemas.microsoft.com/office/drawing/2014/main" id="{DCFC01B8-D967-4E9D-A197-DF4E0332B9E3}"/>
              </a:ext>
            </a:extLst>
          </p:cNvPr>
          <p:cNvSpPr>
            <a:spLocks xmlns:a="http://schemas.openxmlformats.org/drawingml/2006/main" noGrp="1"/>
          </p:cNvSpPr>
          <p:nvPr/>
        </p:nvSpPr>
        <p:spPr>
          <a:xfrm xmlns:a="http://schemas.openxmlformats.org/drawingml/2006/main">
            <a:off x="685800" y="3943350"/>
            <a:ext cx="65341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La IA propone o genera una solución.</a:t>
            </a:r>
          </a:p>
        </p:txBody>
      </p:sp>
      <p:sp>
        <p:nvSpPr>
          <p:cNvPr id="6" name="">
            <a:extLst xmlns:a="http://schemas.openxmlformats.org/drawingml/2006/main">
              <a:ext uri="{FF2B5EF4-FFF2-40B4-BE49-F238E27FC236}">
                <a16:creationId xmlns:a16="http://schemas.microsoft.com/office/drawing/2014/main" id="{294E03C3-4A89-4BFA-B9D4-327B4BB99CF5}"/>
              </a:ext>
            </a:extLst>
          </p:cNvPr>
          <p:cNvSpPr>
            <a:spLocks xmlns:a="http://schemas.openxmlformats.org/drawingml/2006/main" noGrp="1"/>
          </p:cNvSpPr>
          <p:nvPr/>
        </p:nvSpPr>
        <p:spPr>
          <a:xfrm xmlns:a="http://schemas.openxmlformats.org/drawingml/2006/main">
            <a:off x="685800" y="5229225"/>
            <a:ext cx="65341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Ejecuto, observo y pido ajustes.</a:t>
            </a:r>
          </a:p>
        </p:txBody>
      </p:sp>
      <p:sp>
        <p:nvSpPr>
          <p:cNvPr id="7" name="">
            <a:extLst xmlns:a="http://schemas.openxmlformats.org/drawingml/2006/main">
              <a:ext uri="{FF2B5EF4-FFF2-40B4-BE49-F238E27FC236}">
                <a16:creationId xmlns:a16="http://schemas.microsoft.com/office/drawing/2014/main" id="{B92B40EB-2F2F-4880-B957-58370D767329}"/>
              </a:ext>
            </a:extLst>
          </p:cNvPr>
          <p:cNvSpPr>
            <a:spLocks xmlns:a="http://schemas.openxmlformats.org/drawingml/2006/main" noGrp="1"/>
          </p:cNvSpPr>
          <p:nvPr/>
        </p:nvSpPr>
        <p:spPr>
          <a:xfrm xmlns:a="http://schemas.openxmlformats.org/drawingml/2006/main">
            <a:off x="7953375" y="2657475"/>
            <a:ext cx="6572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En su sentido estricto, implica revisar poco el código generado.</a:t>
            </a:r>
          </a:p>
        </p:txBody>
      </p:sp>
      <p:sp>
        <p:nvSpPr>
          <p:cNvPr id="8" name="">
            <a:extLst xmlns:a="http://schemas.openxmlformats.org/drawingml/2006/main">
              <a:ext uri="{FF2B5EF4-FFF2-40B4-BE49-F238E27FC236}">
                <a16:creationId xmlns:a16="http://schemas.microsoft.com/office/drawing/2014/main" id="{BB5EA067-8D16-4E77-8D3F-E87853E05936}"/>
              </a:ext>
            </a:extLst>
          </p:cNvPr>
          <p:cNvSpPr>
            <a:spLocks xmlns:a="http://schemas.openxmlformats.org/drawingml/2006/main" noGrp="1"/>
          </p:cNvSpPr>
          <p:nvPr/>
        </p:nvSpPr>
        <p:spPr>
          <a:xfrm xmlns:a="http://schemas.openxmlformats.org/drawingml/2006/main">
            <a:off x="7953375" y="3943350"/>
            <a:ext cx="6572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El resultado visible no demuestra permisos correctos ni integridad de datos.</a:t>
            </a:r>
          </a:p>
        </p:txBody>
      </p:sp>
      <p:sp>
        <p:nvSpPr>
          <p:cNvPr id="9" name="">
            <a:extLst xmlns:a="http://schemas.openxmlformats.org/drawingml/2006/main">
              <a:ext uri="{FF2B5EF4-FFF2-40B4-BE49-F238E27FC236}">
                <a16:creationId xmlns:a16="http://schemas.microsoft.com/office/drawing/2014/main" id="{F7454540-644B-4ACA-8BA1-A9A78C275C0D}"/>
              </a:ext>
            </a:extLst>
          </p:cNvPr>
          <p:cNvSpPr>
            <a:spLocks xmlns:a="http://schemas.openxmlformats.org/drawingml/2006/main" noGrp="1"/>
          </p:cNvSpPr>
          <p:nvPr/>
        </p:nvSpPr>
        <p:spPr>
          <a:xfrm xmlns:a="http://schemas.openxmlformats.org/drawingml/2006/main">
            <a:off x="7953375" y="5229225"/>
            <a:ext cx="6572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Con revisión y pruebas, hablamos de desarrollo asistido por IA con disciplina técnica.</a:t>
            </a:r>
          </a:p>
        </p:txBody>
      </p:sp>
      <p:sp>
        <p:nvSpPr>
          <p:cNvPr id="10" name="">
            <a:extLst xmlns:a="http://schemas.openxmlformats.org/drawingml/2006/main">
              <a:ext uri="{FF2B5EF4-FFF2-40B4-BE49-F238E27FC236}">
                <a16:creationId xmlns:a16="http://schemas.microsoft.com/office/drawing/2014/main" id="{A762C980-B2C1-47D5-A66A-559A2E3833AE}"/>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Ejemplo inicial: “Crea una pantalla para asociar empresas a un Building Block”.</a:t>
            </a:r>
          </a:p>
        </p:txBody>
      </p:sp>
      <p:sp>
        <p:nvSpPr>
          <p:cNvPr id="11" name="">
            <a:extLst xmlns:a="http://schemas.openxmlformats.org/drawingml/2006/main">
              <a:ext uri="{FF2B5EF4-FFF2-40B4-BE49-F238E27FC236}">
                <a16:creationId xmlns:a16="http://schemas.microsoft.com/office/drawing/2014/main" id="{0321C402-DAD9-4E50-9925-9F93CD249194}"/>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06</a:t>
            </a:r>
          </a:p>
        </p:txBody>
      </p:sp>
    </p:spTree>
    <p:extLst>
      <p:ext uri="{BB962C8B-B14F-4D97-AF65-F5344CB8AC3E}">
        <p14:creationId xmlns:p14="http://schemas.microsoft.com/office/powerpoint/2010/main" val="362458210"/>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2C3E0A3-11A9-4ECA-9602-21407F3A34E8}"/>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Una petición ambigua deja decisiones sin resolver</a:t>
            </a:r>
          </a:p>
        </p:txBody>
      </p:sp>
      <p:sp>
        <p:nvSpPr>
          <p:cNvPr id="2" name="">
            <a:extLst xmlns:a="http://schemas.openxmlformats.org/drawingml/2006/main">
              <a:ext uri="{FF2B5EF4-FFF2-40B4-BE49-F238E27FC236}">
                <a16:creationId xmlns:a16="http://schemas.microsoft.com/office/drawing/2014/main" id="{CCE0FDC3-70C9-4C66-873A-97C36A2B4385}"/>
              </a:ext>
            </a:extLst>
          </p:cNvPr>
          <p:cNvSpPr>
            <a:spLocks xmlns:a="http://schemas.openxmlformats.org/drawingml/2006/main" noGrp="1"/>
          </p:cNvSpPr>
          <p:nvPr/>
        </p:nvSpPr>
        <p:spPr>
          <a:xfrm xmlns:a="http://schemas.openxmlformats.org/drawingml/2006/main">
            <a:off x="685800" y="1847850"/>
            <a:ext cx="6648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C77"/>
                </a:solidFill>
                <a:latin typeface="DejaVu Sans"/>
                <a:ea typeface="DejaVu Sans"/>
                <a:cs typeface="DejaVu Sans"/>
              </a:defRPr>
            </a:pPr>
            <a:r>
              <a:rPr sz="2550" b="1">
                <a:solidFill>
                  <a:srgbClr val="087C77"/>
                </a:solidFill>
                <a:latin typeface="DejaVu Sans"/>
                <a:ea typeface="DejaVu Sans"/>
                <a:cs typeface="DejaVu Sans"/>
              </a:rPr>
              <a:t>Petición inicial</a:t>
            </a:r>
          </a:p>
        </p:txBody>
      </p:sp>
      <p:sp>
        <p:nvSpPr>
          <p:cNvPr id="3" name="">
            <a:extLst xmlns:a="http://schemas.openxmlformats.org/drawingml/2006/main">
              <a:ext uri="{FF2B5EF4-FFF2-40B4-BE49-F238E27FC236}">
                <a16:creationId xmlns:a16="http://schemas.microsoft.com/office/drawing/2014/main" id="{5E26DB6B-4D6B-4003-AB66-2D47B6320068}"/>
              </a:ext>
            </a:extLst>
          </p:cNvPr>
          <p:cNvSpPr>
            <a:spLocks xmlns:a="http://schemas.openxmlformats.org/drawingml/2006/main" noGrp="1"/>
          </p:cNvSpPr>
          <p:nvPr/>
        </p:nvSpPr>
        <p:spPr>
          <a:xfrm xmlns:a="http://schemas.openxmlformats.org/drawingml/2006/main">
            <a:off x="7953375" y="1847850"/>
            <a:ext cx="657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C77"/>
                </a:solidFill>
                <a:latin typeface="DejaVu Sans"/>
                <a:ea typeface="DejaVu Sans"/>
                <a:cs typeface="DejaVu Sans"/>
              </a:defRPr>
            </a:pPr>
            <a:r>
              <a:rPr sz="2550" b="1">
                <a:solidFill>
                  <a:srgbClr val="087C77"/>
                </a:solidFill>
                <a:latin typeface="DejaVu Sans"/>
                <a:ea typeface="DejaVu Sans"/>
                <a:cs typeface="DejaVu Sans"/>
              </a:rPr>
              <a:t>Petición verificable</a:t>
            </a:r>
          </a:p>
        </p:txBody>
      </p:sp>
      <p:sp>
        <p:nvSpPr>
          <p:cNvPr id="4" name="">
            <a:extLst xmlns:a="http://schemas.openxmlformats.org/drawingml/2006/main">
              <a:ext uri="{FF2B5EF4-FFF2-40B4-BE49-F238E27FC236}">
                <a16:creationId xmlns:a16="http://schemas.microsoft.com/office/drawing/2014/main" id="{24551440-F7CE-454B-8673-58E08B94AD3B}"/>
              </a:ext>
            </a:extLst>
          </p:cNvPr>
          <p:cNvSpPr>
            <a:spLocks xmlns:a="http://schemas.openxmlformats.org/drawingml/2006/main" noGrp="1"/>
          </p:cNvSpPr>
          <p:nvPr/>
        </p:nvSpPr>
        <p:spPr>
          <a:xfrm xmlns:a="http://schemas.openxmlformats.org/drawingml/2006/main">
            <a:off x="685800" y="2657475"/>
            <a:ext cx="65341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“Agrega empresas al Building Block y permite registrar su tecnología”.</a:t>
            </a:r>
          </a:p>
        </p:txBody>
      </p:sp>
      <p:sp>
        <p:nvSpPr>
          <p:cNvPr id="5" name="">
            <a:extLst xmlns:a="http://schemas.openxmlformats.org/drawingml/2006/main">
              <a:ext uri="{FF2B5EF4-FFF2-40B4-BE49-F238E27FC236}">
                <a16:creationId xmlns:a16="http://schemas.microsoft.com/office/drawing/2014/main" id="{5592D5DF-8B5D-404F-A6BB-8E07236EFA3C}"/>
              </a:ext>
            </a:extLst>
          </p:cNvPr>
          <p:cNvSpPr>
            <a:spLocks xmlns:a="http://schemas.openxmlformats.org/drawingml/2006/main" noGrp="1"/>
          </p:cNvSpPr>
          <p:nvPr/>
        </p:nvSpPr>
        <p:spPr>
          <a:xfrm xmlns:a="http://schemas.openxmlformats.org/drawingml/2006/main">
            <a:off x="685800" y="3943350"/>
            <a:ext cx="65341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No define duplicados, permisos ni alcance por empresa.</a:t>
            </a:r>
          </a:p>
        </p:txBody>
      </p:sp>
      <p:sp>
        <p:nvSpPr>
          <p:cNvPr id="6" name="">
            <a:extLst xmlns:a="http://schemas.openxmlformats.org/drawingml/2006/main">
              <a:ext uri="{FF2B5EF4-FFF2-40B4-BE49-F238E27FC236}">
                <a16:creationId xmlns:a16="http://schemas.microsoft.com/office/drawing/2014/main" id="{2AE3A7EA-A32B-4121-AF76-2079D8F33BA2}"/>
              </a:ext>
            </a:extLst>
          </p:cNvPr>
          <p:cNvSpPr>
            <a:spLocks xmlns:a="http://schemas.openxmlformats.org/drawingml/2006/main" noGrp="1"/>
          </p:cNvSpPr>
          <p:nvPr/>
        </p:nvSpPr>
        <p:spPr>
          <a:xfrm xmlns:a="http://schemas.openxmlformats.org/drawingml/2006/main">
            <a:off x="685800" y="5229225"/>
            <a:ext cx="65341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Tampoco distingue tecnología estándar de tecnología implementada.</a:t>
            </a:r>
          </a:p>
        </p:txBody>
      </p:sp>
      <p:sp>
        <p:nvSpPr>
          <p:cNvPr id="7" name="">
            <a:extLst xmlns:a="http://schemas.openxmlformats.org/drawingml/2006/main">
              <a:ext uri="{FF2B5EF4-FFF2-40B4-BE49-F238E27FC236}">
                <a16:creationId xmlns:a16="http://schemas.microsoft.com/office/drawing/2014/main" id="{2F7F19FF-2C11-488C-89ED-67EDE2FFD29D}"/>
              </a:ext>
            </a:extLst>
          </p:cNvPr>
          <p:cNvSpPr>
            <a:spLocks xmlns:a="http://schemas.openxmlformats.org/drawingml/2006/main" noGrp="1"/>
          </p:cNvSpPr>
          <p:nvPr/>
        </p:nvSpPr>
        <p:spPr>
          <a:xfrm xmlns:a="http://schemas.openxmlformats.org/drawingml/2006/main">
            <a:off x="7953375" y="2657475"/>
            <a:ext cx="6572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Seleccionar una empresa existente del catálogo.</a:t>
            </a:r>
          </a:p>
        </p:txBody>
      </p:sp>
      <p:sp>
        <p:nvSpPr>
          <p:cNvPr id="8" name="">
            <a:extLst xmlns:a="http://schemas.openxmlformats.org/drawingml/2006/main">
              <a:ext uri="{FF2B5EF4-FFF2-40B4-BE49-F238E27FC236}">
                <a16:creationId xmlns:a16="http://schemas.microsoft.com/office/drawing/2014/main" id="{10E1C358-D40E-4DBE-A37B-028B392DD099}"/>
              </a:ext>
            </a:extLst>
          </p:cNvPr>
          <p:cNvSpPr>
            <a:spLocks xmlns:a="http://schemas.openxmlformats.org/drawingml/2006/main" noGrp="1"/>
          </p:cNvSpPr>
          <p:nvPr/>
        </p:nvSpPr>
        <p:spPr>
          <a:xfrm xmlns:a="http://schemas.openxmlformats.org/drawingml/2006/main">
            <a:off x="7953375" y="3943350"/>
            <a:ext cx="6572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Impedir una segunda asociación del mismo par.</a:t>
            </a:r>
          </a:p>
        </p:txBody>
      </p:sp>
      <p:sp>
        <p:nvSpPr>
          <p:cNvPr id="9" name="">
            <a:extLst xmlns:a="http://schemas.openxmlformats.org/drawingml/2006/main">
              <a:ext uri="{FF2B5EF4-FFF2-40B4-BE49-F238E27FC236}">
                <a16:creationId xmlns:a16="http://schemas.microsoft.com/office/drawing/2014/main" id="{2273185A-72B2-4DAC-A7CD-989F4571B344}"/>
              </a:ext>
            </a:extLst>
          </p:cNvPr>
          <p:cNvSpPr>
            <a:spLocks xmlns:a="http://schemas.openxmlformats.org/drawingml/2006/main" noGrp="1"/>
          </p:cNvSpPr>
          <p:nvPr/>
        </p:nvSpPr>
        <p:spPr>
          <a:xfrm xmlns:a="http://schemas.openxmlformats.org/drawingml/2006/main">
            <a:off x="7953375" y="5229225"/>
            <a:ext cx="6572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Autorizar la operación en servidor y guardar la tecnología en la asociación correcta.</a:t>
            </a:r>
          </a:p>
        </p:txBody>
      </p:sp>
      <p:sp>
        <p:nvSpPr>
          <p:cNvPr id="10" name="">
            <a:extLst xmlns:a="http://schemas.openxmlformats.org/drawingml/2006/main">
              <a:ext uri="{FF2B5EF4-FFF2-40B4-BE49-F238E27FC236}">
                <a16:creationId xmlns:a16="http://schemas.microsoft.com/office/drawing/2014/main" id="{1FB1D3B3-D2B0-47CA-A39F-D25E78203C53}"/>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Actividad: identificar dos decisiones que el agente no debería tomar por su cuenta.</a:t>
            </a:r>
          </a:p>
        </p:txBody>
      </p:sp>
      <p:sp>
        <p:nvSpPr>
          <p:cNvPr id="11" name="">
            <a:extLst xmlns:a="http://schemas.openxmlformats.org/drawingml/2006/main">
              <a:ext uri="{FF2B5EF4-FFF2-40B4-BE49-F238E27FC236}">
                <a16:creationId xmlns:a16="http://schemas.microsoft.com/office/drawing/2014/main" id="{E1A7B1FE-C0D5-4A3F-B490-4715223A8185}"/>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07</a:t>
            </a:r>
          </a:p>
        </p:txBody>
      </p:sp>
    </p:spTree>
    <p:extLst>
      <p:ext uri="{BB962C8B-B14F-4D97-AF65-F5344CB8AC3E}">
        <p14:creationId xmlns:p14="http://schemas.microsoft.com/office/powerpoint/2010/main" val="1178400139"/>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EF41AF2-3874-4C68-8B95-5528C7065227}"/>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SDD: desarrollo guiado por especificaciones</a:t>
            </a:r>
          </a:p>
        </p:txBody>
      </p:sp>
      <p:graphicFrame>
        <p:nvGraphicFramePr>
          <p:cNvPr id="6" name=""/>
          <p:cNvGraphicFramePr/>
          <p:nvPr/>
        </p:nvGraphicFramePr>
        <p:xfrm>
          <a:off xmlns:a="http://schemas.openxmlformats.org/drawingml/2006/main" x="628650" y="1952625"/>
          <a:ext xmlns:a="http://schemas.openxmlformats.org/drawingml/2006/main" cx="14001750" cy="5029200"/>
        </p:xfrm>
        <a:graphic xmlns:a="http://schemas.openxmlformats.org/drawingml/2006/main">
          <a:graphicData uri="http://schemas.openxmlformats.org/drawingml/2006/table">
            <a:tbl>
              <a:tblPr/>
              <a:tblGrid>
                <a:gridCol w="2762250"/>
                <a:gridCol w="7810500"/>
                <a:gridCol w="3429000"/>
              </a:tblGrid>
              <a:tr h="838200">
                <a:tc>
                  <a:txBody>
                    <a:bodyPr/>
                    <a:lstStyle/>
                    <a:p>
                      <a:r>
                        <a:rPr sz="2100" b="1">
                          <a:solidFill>
                            <a:srgbClr val="FFFFFF"/>
                          </a:solidFill>
                          <a:latin typeface="DejaVu Sans"/>
                          <a:ea typeface="DejaVu Sans"/>
                          <a:cs typeface="DejaVu Sans"/>
                        </a:rPr>
                        <a:t>Trabajo</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Pregunta que responde</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Evidencia</a:t>
                      </a:r>
                    </a:p>
                  </a:txBody>
                  <a:tcPr marL="91440" marR="91440" marT="45720" marB="45720">
                    <a:solidFill>
                      <a:srgbClr val="183F4C"/>
                    </a:solidFill>
                  </a:tcPr>
                </a:tc>
              </a:tr>
              <a:tr h="838200">
                <a:tc>
                  <a:txBody>
                    <a:bodyPr/>
                    <a:lstStyle/>
                    <a:p>
                      <a:r>
                        <a:rPr sz="2100" b="0">
                          <a:solidFill>
                            <a:srgbClr val="152F41"/>
                          </a:solidFill>
                          <a:latin typeface="DejaVu Sans"/>
                          <a:ea typeface="DejaVu Sans"/>
                          <a:cs typeface="DejaVu Sans"/>
                        </a:rPr>
                        <a:t>Especificar</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¿Qué debe ocurrir y bajo qué condiciones?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Reglas y escenarios</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Diseñar</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¿Cómo encaja en la aplicación existente?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Decisiones y alternativas</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Implementar</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¿Qué cambios concretos se necesitan?</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Código y cambios de datos</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Validar</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¿Se cumple lo acordado?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Pruebas y resultados</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Mantener</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¿Qué cambió respecto a lo anterior?</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Especificación actualizada</a:t>
                      </a:r>
                    </a:p>
                  </a:txBody>
                  <a:tcPr marL="91440" marR="91440" marT="45720" marB="45720">
                    <a:solidFill>
                      <a:srgbClr val="F7F5EF"/>
                    </a:solidFill>
                  </a:tcPr>
                </a:tc>
              </a:tr>
            </a:tbl>
          </a:graphicData>
        </a:graphic>
      </p:graphicFrame>
      <p:sp>
        <p:nvSpPr>
          <p:cNvPr id="3" name="">
            <a:extLst xmlns:a="http://schemas.openxmlformats.org/drawingml/2006/main">
              <a:ext uri="{FF2B5EF4-FFF2-40B4-BE49-F238E27FC236}">
                <a16:creationId xmlns:a16="http://schemas.microsoft.com/office/drawing/2014/main" id="{C5A985B3-7DE3-41A5-B759-9A725093FF75}"/>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Una especificación describe resultados observables, no solo una lista de archivos por editar.</a:t>
            </a:r>
          </a:p>
        </p:txBody>
      </p:sp>
      <p:sp>
        <p:nvSpPr>
          <p:cNvPr id="4" name="">
            <a:extLst xmlns:a="http://schemas.openxmlformats.org/drawingml/2006/main">
              <a:ext uri="{FF2B5EF4-FFF2-40B4-BE49-F238E27FC236}">
                <a16:creationId xmlns:a16="http://schemas.microsoft.com/office/drawing/2014/main" id="{756AB1A9-BB4E-4555-A0F4-C3C1CB6981B7}"/>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08</a:t>
            </a:r>
          </a:p>
        </p:txBody>
      </p:sp>
    </p:spTree>
    <p:extLst>
      <p:ext uri="{BB962C8B-B14F-4D97-AF65-F5344CB8AC3E}">
        <p14:creationId xmlns:p14="http://schemas.microsoft.com/office/powerpoint/2010/main" val="888964046"/>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D6A4EA-0D4A-4C82-AF03-CEC9998B12E7}"/>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Un criterio de aceptación puede probarse</a:t>
            </a:r>
          </a:p>
        </p:txBody>
      </p:sp>
      <p:sp>
        <p:nvSpPr>
          <p:cNvPr id="2" name="">
            <a:extLst xmlns:a="http://schemas.openxmlformats.org/drawingml/2006/main">
              <a:ext uri="{FF2B5EF4-FFF2-40B4-BE49-F238E27FC236}">
                <a16:creationId xmlns:a16="http://schemas.microsoft.com/office/drawing/2014/main" id="{E6DF602A-A6F1-4DFC-B5DD-62F75A1101DB}"/>
              </a:ext>
            </a:extLst>
          </p:cNvPr>
          <p:cNvSpPr>
            <a:spLocks xmlns:a="http://schemas.openxmlformats.org/drawingml/2006/main" noGrp="1"/>
          </p:cNvSpPr>
          <p:nvPr/>
        </p:nvSpPr>
        <p:spPr>
          <a:xfrm xmlns:a="http://schemas.openxmlformats.org/drawingml/2006/main">
            <a:off x="685800" y="1847850"/>
            <a:ext cx="6648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C77"/>
                </a:solidFill>
                <a:latin typeface="DejaVu Sans"/>
                <a:ea typeface="DejaVu Sans"/>
                <a:cs typeface="DejaVu Sans"/>
              </a:defRPr>
            </a:pPr>
            <a:r>
              <a:rPr sz="2550" b="1">
                <a:solidFill>
                  <a:srgbClr val="087C77"/>
                </a:solidFill>
                <a:latin typeface="DejaVu Sans"/>
                <a:ea typeface="DejaVu Sans"/>
                <a:cs typeface="DejaVu Sans"/>
              </a:rPr>
              <a:t>Criterio débil</a:t>
            </a:r>
          </a:p>
        </p:txBody>
      </p:sp>
      <p:sp>
        <p:nvSpPr>
          <p:cNvPr id="3" name="">
            <a:extLst xmlns:a="http://schemas.openxmlformats.org/drawingml/2006/main">
              <a:ext uri="{FF2B5EF4-FFF2-40B4-BE49-F238E27FC236}">
                <a16:creationId xmlns:a16="http://schemas.microsoft.com/office/drawing/2014/main" id="{6ED4BE9C-55A5-4626-ACEC-09D4D36897B4}"/>
              </a:ext>
            </a:extLst>
          </p:cNvPr>
          <p:cNvSpPr>
            <a:spLocks xmlns:a="http://schemas.openxmlformats.org/drawingml/2006/main" noGrp="1"/>
          </p:cNvSpPr>
          <p:nvPr/>
        </p:nvSpPr>
        <p:spPr>
          <a:xfrm xmlns:a="http://schemas.openxmlformats.org/drawingml/2006/main">
            <a:off x="7953375" y="1847850"/>
            <a:ext cx="657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C77"/>
                </a:solidFill>
                <a:latin typeface="DejaVu Sans"/>
                <a:ea typeface="DejaVu Sans"/>
                <a:cs typeface="DejaVu Sans"/>
              </a:defRPr>
            </a:pPr>
            <a:r>
              <a:rPr sz="2550" b="1">
                <a:solidFill>
                  <a:srgbClr val="087C77"/>
                </a:solidFill>
                <a:latin typeface="DejaVu Sans"/>
                <a:ea typeface="DejaVu Sans"/>
                <a:cs typeface="DejaVu Sans"/>
              </a:rPr>
              <a:t>Escenario del laboratorio</a:t>
            </a:r>
          </a:p>
        </p:txBody>
      </p:sp>
      <p:sp>
        <p:nvSpPr>
          <p:cNvPr id="4" name="">
            <a:extLst xmlns:a="http://schemas.openxmlformats.org/drawingml/2006/main">
              <a:ext uri="{FF2B5EF4-FFF2-40B4-BE49-F238E27FC236}">
                <a16:creationId xmlns:a16="http://schemas.microsoft.com/office/drawing/2014/main" id="{F99DD142-C18A-4803-AB7B-A408C7446EC5}"/>
              </a:ext>
            </a:extLst>
          </p:cNvPr>
          <p:cNvSpPr>
            <a:spLocks xmlns:a="http://schemas.openxmlformats.org/drawingml/2006/main" noGrp="1"/>
          </p:cNvSpPr>
          <p:nvPr/>
        </p:nvSpPr>
        <p:spPr>
          <a:xfrm xmlns:a="http://schemas.openxmlformats.org/drawingml/2006/main">
            <a:off x="685800" y="2657475"/>
            <a:ext cx="65341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“El formulario debe funcionar bien”.</a:t>
            </a:r>
          </a:p>
        </p:txBody>
      </p:sp>
      <p:sp>
        <p:nvSpPr>
          <p:cNvPr id="5" name="">
            <a:extLst xmlns:a="http://schemas.openxmlformats.org/drawingml/2006/main">
              <a:ext uri="{FF2B5EF4-FFF2-40B4-BE49-F238E27FC236}">
                <a16:creationId xmlns:a16="http://schemas.microsoft.com/office/drawing/2014/main" id="{EB0A77D7-5DB8-46ED-93CE-659FFF980BE2}"/>
              </a:ext>
            </a:extLst>
          </p:cNvPr>
          <p:cNvSpPr>
            <a:spLocks xmlns:a="http://schemas.openxmlformats.org/drawingml/2006/main" noGrp="1"/>
          </p:cNvSpPr>
          <p:nvPr/>
        </p:nvSpPr>
        <p:spPr>
          <a:xfrm xmlns:a="http://schemas.openxmlformats.org/drawingml/2006/main">
            <a:off x="685800" y="3943350"/>
            <a:ext cx="65341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No identifica condición inicial ni resultado observable.</a:t>
            </a:r>
          </a:p>
        </p:txBody>
      </p:sp>
      <p:sp>
        <p:nvSpPr>
          <p:cNvPr id="6" name="">
            <a:extLst xmlns:a="http://schemas.openxmlformats.org/drawingml/2006/main">
              <a:ext uri="{FF2B5EF4-FFF2-40B4-BE49-F238E27FC236}">
                <a16:creationId xmlns:a16="http://schemas.microsoft.com/office/drawing/2014/main" id="{90BA6A32-93C3-42F9-BF3F-C5C1954C15D9}"/>
              </a:ext>
            </a:extLst>
          </p:cNvPr>
          <p:cNvSpPr>
            <a:spLocks xmlns:a="http://schemas.openxmlformats.org/drawingml/2006/main" noGrp="1"/>
          </p:cNvSpPr>
          <p:nvPr/>
        </p:nvSpPr>
        <p:spPr>
          <a:xfrm xmlns:a="http://schemas.openxmlformats.org/drawingml/2006/main">
            <a:off x="685800" y="5229225"/>
            <a:ext cx="65341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Dos revisores podrían aprobar comportamientos diferentes.</a:t>
            </a:r>
          </a:p>
        </p:txBody>
      </p:sp>
      <p:sp>
        <p:nvSpPr>
          <p:cNvPr id="7" name="">
            <a:extLst xmlns:a="http://schemas.openxmlformats.org/drawingml/2006/main">
              <a:ext uri="{FF2B5EF4-FFF2-40B4-BE49-F238E27FC236}">
                <a16:creationId xmlns:a16="http://schemas.microsoft.com/office/drawing/2014/main" id="{F077534D-3C3C-4E51-8512-26AFB916AF8E}"/>
              </a:ext>
            </a:extLst>
          </p:cNvPr>
          <p:cNvSpPr>
            <a:spLocks xmlns:a="http://schemas.openxmlformats.org/drawingml/2006/main" noGrp="1"/>
          </p:cNvSpPr>
          <p:nvPr/>
        </p:nvSpPr>
        <p:spPr>
          <a:xfrm xmlns:a="http://schemas.openxmlformats.org/drawingml/2006/main">
            <a:off x="7953375" y="2657475"/>
            <a:ext cx="6572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Dado que Alfa ya está asociada al Building Block.</a:t>
            </a:r>
          </a:p>
        </p:txBody>
      </p:sp>
      <p:sp>
        <p:nvSpPr>
          <p:cNvPr id="8" name="">
            <a:extLst xmlns:a="http://schemas.openxmlformats.org/drawingml/2006/main">
              <a:ext uri="{FF2B5EF4-FFF2-40B4-BE49-F238E27FC236}">
                <a16:creationId xmlns:a16="http://schemas.microsoft.com/office/drawing/2014/main" id="{6381E4D1-23BB-4610-9547-CE5755DAE70C}"/>
              </a:ext>
            </a:extLst>
          </p:cNvPr>
          <p:cNvSpPr>
            <a:spLocks xmlns:a="http://schemas.openxmlformats.org/drawingml/2006/main" noGrp="1"/>
          </p:cNvSpPr>
          <p:nvPr/>
        </p:nvSpPr>
        <p:spPr>
          <a:xfrm xmlns:a="http://schemas.openxmlformats.org/drawingml/2006/main">
            <a:off x="7953375" y="3943350"/>
            <a:ext cx="6572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Cuando un usuario autorizado intenta registrar el mismo par.</a:t>
            </a:r>
          </a:p>
        </p:txBody>
      </p:sp>
      <p:sp>
        <p:nvSpPr>
          <p:cNvPr id="9" name="">
            <a:extLst xmlns:a="http://schemas.openxmlformats.org/drawingml/2006/main">
              <a:ext uri="{FF2B5EF4-FFF2-40B4-BE49-F238E27FC236}">
                <a16:creationId xmlns:a16="http://schemas.microsoft.com/office/drawing/2014/main" id="{9B77728E-277F-4B6B-818E-EC0A7873C269}"/>
              </a:ext>
            </a:extLst>
          </p:cNvPr>
          <p:cNvSpPr>
            <a:spLocks xmlns:a="http://schemas.openxmlformats.org/drawingml/2006/main" noGrp="1"/>
          </p:cNvSpPr>
          <p:nvPr/>
        </p:nvSpPr>
        <p:spPr>
          <a:xfrm xmlns:a="http://schemas.openxmlformats.org/drawingml/2006/main">
            <a:off x="7953375" y="5229225"/>
            <a:ext cx="6572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Entonces el sistema rechaza el duplicado y conserva un único registro.</a:t>
            </a:r>
          </a:p>
        </p:txBody>
      </p:sp>
      <p:sp>
        <p:nvSpPr>
          <p:cNvPr id="10" name="">
            <a:extLst xmlns:a="http://schemas.openxmlformats.org/drawingml/2006/main">
              <a:ext uri="{FF2B5EF4-FFF2-40B4-BE49-F238E27FC236}">
                <a16:creationId xmlns:a16="http://schemas.microsoft.com/office/drawing/2014/main" id="{4C5B8D69-3F58-4E5B-9BAD-341962E17D34}"/>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Pregunta: ¿qué cambia si dos usuarios guardan la misma asociación al mismo tiempo?</a:t>
            </a:r>
          </a:p>
        </p:txBody>
      </p:sp>
      <p:sp>
        <p:nvSpPr>
          <p:cNvPr id="11" name="">
            <a:extLst xmlns:a="http://schemas.openxmlformats.org/drawingml/2006/main">
              <a:ext uri="{FF2B5EF4-FFF2-40B4-BE49-F238E27FC236}">
                <a16:creationId xmlns:a16="http://schemas.microsoft.com/office/drawing/2014/main" id="{5DFD8B2E-622D-498A-A110-82C54397E309}"/>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09</a:t>
            </a:r>
          </a:p>
        </p:txBody>
      </p:sp>
    </p:spTree>
    <p:extLst>
      <p:ext uri="{BB962C8B-B14F-4D97-AF65-F5344CB8AC3E}">
        <p14:creationId xmlns:p14="http://schemas.microsoft.com/office/powerpoint/2010/main" val="302888129"/>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BEE26F5-4F95-4BD7-A980-EFF508D2DBF3}"/>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Frameworks abiertos y una alternativa propietaria</a:t>
            </a:r>
          </a:p>
        </p:txBody>
      </p:sp>
      <p:graphicFrame>
        <p:nvGraphicFramePr>
          <p:cNvPr id="6" name=""/>
          <p:cNvGraphicFramePr/>
          <p:nvPr/>
        </p:nvGraphicFramePr>
        <p:xfrm>
          <a:off xmlns:a="http://schemas.openxmlformats.org/drawingml/2006/main" x="628650" y="1952625"/>
          <a:ext xmlns:a="http://schemas.openxmlformats.org/drawingml/2006/main" cx="14001750" cy="5000625"/>
        </p:xfrm>
        <a:graphic xmlns:a="http://schemas.openxmlformats.org/drawingml/2006/main">
          <a:graphicData uri="http://schemas.openxmlformats.org/drawingml/2006/table">
            <a:tbl>
              <a:tblPr/>
              <a:tblGrid>
                <a:gridCol w="3905250"/>
                <a:gridCol w="5143500"/>
                <a:gridCol w="4953000"/>
              </a:tblGrid>
              <a:tr h="1000125">
                <a:tc>
                  <a:txBody>
                    <a:bodyPr/>
                    <a:lstStyle/>
                    <a:p>
                      <a:r>
                        <a:rPr sz="2100" b="1">
                          <a:solidFill>
                            <a:srgbClr val="FFFFFF"/>
                          </a:solidFill>
                          <a:latin typeface="DejaVu Sans"/>
                          <a:ea typeface="DejaVu Sans"/>
                          <a:cs typeface="DejaVu Sans"/>
                        </a:rPr>
                        <a:t>Opción</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Organización del trabajo</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Cuándo considerarla</a:t>
                      </a:r>
                    </a:p>
                  </a:txBody>
                  <a:tcPr marL="91440" marR="91440" marT="45720" marB="45720">
                    <a:solidFill>
                      <a:srgbClr val="183F4C"/>
                    </a:solidFill>
                  </a:tcPr>
                </a:tc>
              </a:tr>
              <a:tr h="1000125">
                <a:tc>
                  <a:txBody>
                    <a:bodyPr/>
                    <a:lstStyle/>
                    <a:p>
                      <a:r>
                        <a:rPr sz="2100" b="0">
                          <a:solidFill>
                            <a:srgbClr val="152F41"/>
                          </a:solidFill>
                          <a:latin typeface="DejaVu Sans"/>
                          <a:ea typeface="DejaVu Sans"/>
                          <a:cs typeface="DejaVu Sans"/>
                        </a:rPr>
                        <a:t>OpenSpec · abierto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Cambios y especificaciones en el repositorio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Evolución de una aplicación existente</a:t>
                      </a:r>
                    </a:p>
                  </a:txBody>
                  <a:tcPr marL="91440" marR="91440" marT="45720" marB="45720">
                    <a:solidFill>
                      <a:srgbClr val="F7F5EF"/>
                    </a:solidFill>
                  </a:tcPr>
                </a:tc>
              </a:tr>
              <a:tr h="1000125">
                <a:tc>
                  <a:txBody>
                    <a:bodyPr/>
                    <a:lstStyle/>
                    <a:p>
                      <a:r>
                        <a:rPr sz="2100" b="0">
                          <a:solidFill>
                            <a:srgbClr val="152F41"/>
                          </a:solidFill>
                          <a:latin typeface="DejaVu Sans"/>
                          <a:ea typeface="DejaVu Sans"/>
                          <a:cs typeface="DejaVu Sans"/>
                        </a:rPr>
                        <a:t>Spec Kit · abierto, de GitHub</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Principios, especificación, plan y tareas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Flujo común para nuevas funcionalidades</a:t>
                      </a:r>
                    </a:p>
                  </a:txBody>
                  <a:tcPr marL="91440" marR="91440" marT="45720" marB="45720">
                    <a:solidFill>
                      <a:srgbClr val="F7F5EF"/>
                    </a:solidFill>
                  </a:tcPr>
                </a:tc>
              </a:tr>
              <a:tr h="1000125">
                <a:tc>
                  <a:txBody>
                    <a:bodyPr/>
                    <a:lstStyle/>
                    <a:p>
                      <a:r>
                        <a:rPr sz="2100" b="0">
                          <a:solidFill>
                            <a:srgbClr val="152F41"/>
                          </a:solidFill>
                          <a:latin typeface="DejaVu Sans"/>
                          <a:ea typeface="DejaVu Sans"/>
                          <a:cs typeface="DejaVu Sans"/>
                        </a:rPr>
                        <a:t>BMAD · abierto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Roles especializados y flujos de desarrollo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Análisis y coordinación de mayor alcance</a:t>
                      </a:r>
                    </a:p>
                  </a:txBody>
                  <a:tcPr marL="91440" marR="91440" marT="45720" marB="45720">
                    <a:solidFill>
                      <a:srgbClr val="F7F5EF"/>
                    </a:solidFill>
                  </a:tcPr>
                </a:tc>
              </a:tr>
              <a:tr h="1000125">
                <a:tc>
                  <a:txBody>
                    <a:bodyPr/>
                    <a:lstStyle/>
                    <a:p>
                      <a:r>
                        <a:rPr sz="2100" b="0">
                          <a:solidFill>
                            <a:srgbClr val="152F41"/>
                          </a:solidFill>
                          <a:latin typeface="DejaVu Sans"/>
                          <a:ea typeface="DejaVu Sans"/>
                          <a:cs typeface="DejaVu Sans"/>
                        </a:rPr>
                        <a:t>Kiro · propietario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Requisitos, diseño y tareas en el entorno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Experiencia integrada para trabajar con specs</a:t>
                      </a:r>
                    </a:p>
                  </a:txBody>
                  <a:tcPr marL="91440" marR="91440" marT="45720" marB="45720">
                    <a:solidFill>
                      <a:srgbClr val="F7F5EF"/>
                    </a:solidFill>
                  </a:tcPr>
                </a:tc>
              </a:tr>
            </a:tbl>
          </a:graphicData>
        </a:graphic>
      </p:graphicFrame>
      <p:sp>
        <p:nvSpPr>
          <p:cNvPr id="3" name="">
            <a:extLst xmlns:a="http://schemas.openxmlformats.org/drawingml/2006/main">
              <a:ext uri="{FF2B5EF4-FFF2-40B4-BE49-F238E27FC236}">
                <a16:creationId xmlns:a16="http://schemas.microsoft.com/office/drawing/2014/main" id="{D0DA9D25-CF64-443C-A865-283929827F84}"/>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Abierto no significa que el uso del modelo de IA sea gratuito.</a:t>
            </a:r>
          </a:p>
        </p:txBody>
      </p:sp>
      <p:sp>
        <p:nvSpPr>
          <p:cNvPr id="4" name="">
            <a:extLst xmlns:a="http://schemas.openxmlformats.org/drawingml/2006/main">
              <a:ext uri="{FF2B5EF4-FFF2-40B4-BE49-F238E27FC236}">
                <a16:creationId xmlns:a16="http://schemas.microsoft.com/office/drawing/2014/main" id="{8D58971A-930E-47E7-B605-5354F2AAA19B}"/>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10</a:t>
            </a:r>
          </a:p>
        </p:txBody>
      </p:sp>
    </p:spTree>
    <p:extLst>
      <p:ext uri="{BB962C8B-B14F-4D97-AF65-F5344CB8AC3E}">
        <p14:creationId xmlns:p14="http://schemas.microsoft.com/office/powerpoint/2010/main" val="855057959"/>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CD79792-735E-4CEB-8FED-21E5C8FBAFB6}"/>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Los agentes y editores cumplen otro papel</a:t>
            </a:r>
          </a:p>
        </p:txBody>
      </p:sp>
      <p:graphicFrame>
        <p:nvGraphicFramePr>
          <p:cNvPr id="5" name=""/>
          <p:cNvGraphicFramePr/>
          <p:nvPr/>
        </p:nvGraphicFramePr>
        <p:xfrm>
          <a:off xmlns:a="http://schemas.openxmlformats.org/drawingml/2006/main" x="628650" y="1952625"/>
          <a:ext xmlns:a="http://schemas.openxmlformats.org/drawingml/2006/main" cx="14001750" cy="5000625"/>
        </p:xfrm>
        <a:graphic xmlns:a="http://schemas.openxmlformats.org/drawingml/2006/main">
          <a:graphicData uri="http://schemas.openxmlformats.org/drawingml/2006/table">
            <a:tbl>
              <a:tblPr/>
              <a:tblGrid>
                <a:gridCol w="2952750"/>
                <a:gridCol w="6667500"/>
                <a:gridCol w="4381500"/>
              </a:tblGrid>
              <a:tr h="1000125">
                <a:tc>
                  <a:txBody>
                    <a:bodyPr/>
                    <a:lstStyle/>
                    <a:p>
                      <a:r>
                        <a:rPr sz="2100" b="1">
                          <a:solidFill>
                            <a:srgbClr val="FFFFFF"/>
                          </a:solidFill>
                          <a:latin typeface="DejaVu Sans"/>
                          <a:ea typeface="DejaVu Sans"/>
                          <a:cs typeface="DejaVu Sans"/>
                        </a:rPr>
                        <a:t>Herramienta</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Aporte al trabajo</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Qué aporta el participante</a:t>
                      </a:r>
                    </a:p>
                  </a:txBody>
                  <a:tcPr marL="91440" marR="91440" marT="45720" marB="45720">
                    <a:solidFill>
                      <a:srgbClr val="183F4C"/>
                    </a:solidFill>
                  </a:tcPr>
                </a:tc>
              </a:tr>
              <a:tr h="1000125">
                <a:tc>
                  <a:txBody>
                    <a:bodyPr/>
                    <a:lstStyle/>
                    <a:p>
                      <a:r>
                        <a:rPr sz="2100" b="0">
                          <a:solidFill>
                            <a:srgbClr val="152F41"/>
                          </a:solidFill>
                          <a:latin typeface="DejaVu Sans"/>
                          <a:ea typeface="DejaVu Sans"/>
                          <a:cs typeface="DejaVu Sans"/>
                        </a:rPr>
                        <a:t>Codex</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Trabaja con código y comandos. CLI abierta</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Contexto, alcance y revisión</a:t>
                      </a:r>
                    </a:p>
                  </a:txBody>
                  <a:tcPr marL="91440" marR="91440" marT="45720" marB="45720">
                    <a:solidFill>
                      <a:srgbClr val="F7F5EF"/>
                    </a:solidFill>
                  </a:tcPr>
                </a:tc>
              </a:tr>
              <a:tr h="1000125">
                <a:tc>
                  <a:txBody>
                    <a:bodyPr/>
                    <a:lstStyle/>
                    <a:p>
                      <a:r>
                        <a:rPr sz="2100" b="0">
                          <a:solidFill>
                            <a:srgbClr val="152F41"/>
                          </a:solidFill>
                          <a:latin typeface="DejaVu Sans"/>
                          <a:ea typeface="DejaVu Sans"/>
                          <a:cs typeface="DejaVu Sans"/>
                        </a:rPr>
                        <a:t>Cursor</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Editor comercial con agente sobre el proyecto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Reglas y criterios de aceptación</a:t>
                      </a:r>
                    </a:p>
                  </a:txBody>
                  <a:tcPr marL="91440" marR="91440" marT="45720" marB="45720">
                    <a:solidFill>
                      <a:srgbClr val="F7F5EF"/>
                    </a:solidFill>
                  </a:tcPr>
                </a:tc>
              </a:tr>
              <a:tr h="1000125">
                <a:tc>
                  <a:txBody>
                    <a:bodyPr/>
                    <a:lstStyle/>
                    <a:p>
                      <a:r>
                        <a:rPr sz="2100" b="0">
                          <a:solidFill>
                            <a:srgbClr val="152F41"/>
                          </a:solidFill>
                          <a:latin typeface="DejaVu Sans"/>
                          <a:ea typeface="DejaVu Sans"/>
                          <a:cs typeface="DejaVu Sans"/>
                        </a:rPr>
                        <a:t>Antigravity</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Plataforma de agentes con planes y artefactos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Revisión de planes y evidencia</a:t>
                      </a:r>
                    </a:p>
                  </a:txBody>
                  <a:tcPr marL="91440" marR="91440" marT="45720" marB="45720">
                    <a:solidFill>
                      <a:srgbClr val="F7F5EF"/>
                    </a:solidFill>
                  </a:tcPr>
                </a:tc>
              </a:tr>
              <a:tr h="1000125">
                <a:tc>
                  <a:txBody>
                    <a:bodyPr/>
                    <a:lstStyle/>
                    <a:p>
                      <a:r>
                        <a:rPr sz="2100" b="0">
                          <a:solidFill>
                            <a:srgbClr val="152F41"/>
                          </a:solidFill>
                          <a:latin typeface="DejaVu Sans"/>
                          <a:ea typeface="DejaVu Sans"/>
                          <a:cs typeface="DejaVu Sans"/>
                        </a:rPr>
                        <a:t>Kiro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Entorno propietario con flujo de specs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Requisitos claros y evaluación</a:t>
                      </a:r>
                    </a:p>
                  </a:txBody>
                  <a:tcPr marL="91440" marR="91440" marT="45720" marB="45720">
                    <a:solidFill>
                      <a:srgbClr val="F7F5EF"/>
                    </a:solidFill>
                  </a:tcPr>
                </a:tc>
              </a:tr>
            </a:tbl>
          </a:graphicData>
        </a:graphic>
      </p:graphicFrame>
      <p:sp>
        <p:nvSpPr>
          <p:cNvPr id="3" name="">
            <a:extLst xmlns:a="http://schemas.openxmlformats.org/drawingml/2006/main">
              <a:ext uri="{FF2B5EF4-FFF2-40B4-BE49-F238E27FC236}">
                <a16:creationId xmlns:a16="http://schemas.microsoft.com/office/drawing/2014/main" id="{11B0CCA2-6456-43B7-BAC6-E44EA772267E}"/>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11</a:t>
            </a:r>
          </a:p>
        </p:txBody>
      </p:sp>
    </p:spTree>
    <p:extLst>
      <p:ext uri="{BB962C8B-B14F-4D97-AF65-F5344CB8AC3E}">
        <p14:creationId xmlns:p14="http://schemas.microsoft.com/office/powerpoint/2010/main" val="1503672818"/>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584CE57-B47E-4556-AAD5-36DAE6B32570}"/>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Cómo elegir para Landscape TSI</a:t>
            </a:r>
          </a:p>
        </p:txBody>
      </p:sp>
      <p:sp>
        <p:nvSpPr>
          <p:cNvPr id="2" name="">
            <a:extLst xmlns:a="http://schemas.openxmlformats.org/drawingml/2006/main">
              <a:ext uri="{FF2B5EF4-FFF2-40B4-BE49-F238E27FC236}">
                <a16:creationId xmlns:a16="http://schemas.microsoft.com/office/drawing/2014/main" id="{EA7E27D0-2408-42E5-97F8-EA5C13557539}"/>
              </a:ext>
            </a:extLst>
          </p:cNvPr>
          <p:cNvSpPr>
            <a:spLocks xmlns:a="http://schemas.openxmlformats.org/drawingml/2006/main" noGrp="1"/>
          </p:cNvSpPr>
          <p:nvPr/>
        </p:nvSpPr>
        <p:spPr>
          <a:xfrm xmlns:a="http://schemas.openxmlformats.org/drawingml/2006/main">
            <a:off x="685800" y="1847850"/>
            <a:ext cx="6648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C77"/>
                </a:solidFill>
                <a:latin typeface="DejaVu Sans"/>
                <a:ea typeface="DejaVu Sans"/>
                <a:cs typeface="DejaVu Sans"/>
              </a:defRPr>
            </a:pPr>
            <a:r>
              <a:rPr sz="2550" b="1">
                <a:solidFill>
                  <a:srgbClr val="087C77"/>
                </a:solidFill>
                <a:latin typeface="DejaVu Sans"/>
                <a:ea typeface="DejaVu Sans"/>
                <a:cs typeface="DejaVu Sans"/>
              </a:rPr>
              <a:t>Criterios de decisión</a:t>
            </a:r>
          </a:p>
        </p:txBody>
      </p:sp>
      <p:sp>
        <p:nvSpPr>
          <p:cNvPr id="3" name="">
            <a:extLst xmlns:a="http://schemas.openxmlformats.org/drawingml/2006/main">
              <a:ext uri="{FF2B5EF4-FFF2-40B4-BE49-F238E27FC236}">
                <a16:creationId xmlns:a16="http://schemas.microsoft.com/office/drawing/2014/main" id="{B8EBEB4C-2C9C-424F-8DDE-2BBB225F160E}"/>
              </a:ext>
            </a:extLst>
          </p:cNvPr>
          <p:cNvSpPr>
            <a:spLocks xmlns:a="http://schemas.openxmlformats.org/drawingml/2006/main" noGrp="1"/>
          </p:cNvSpPr>
          <p:nvPr/>
        </p:nvSpPr>
        <p:spPr>
          <a:xfrm xmlns:a="http://schemas.openxmlformats.org/drawingml/2006/main">
            <a:off x="7953375" y="1847850"/>
            <a:ext cx="657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C77"/>
                </a:solidFill>
                <a:latin typeface="DejaVu Sans"/>
                <a:ea typeface="DejaVu Sans"/>
                <a:cs typeface="DejaVu Sans"/>
              </a:defRPr>
            </a:pPr>
            <a:r>
              <a:rPr sz="2550" b="1">
                <a:solidFill>
                  <a:srgbClr val="087C77"/>
                </a:solidFill>
                <a:latin typeface="DejaVu Sans"/>
                <a:ea typeface="DejaVu Sans"/>
                <a:cs typeface="DejaVu Sans"/>
              </a:rPr>
              <a:t>Propuesta para probar</a:t>
            </a:r>
          </a:p>
        </p:txBody>
      </p:sp>
      <p:sp>
        <p:nvSpPr>
          <p:cNvPr id="4" name="">
            <a:extLst xmlns:a="http://schemas.openxmlformats.org/drawingml/2006/main">
              <a:ext uri="{FF2B5EF4-FFF2-40B4-BE49-F238E27FC236}">
                <a16:creationId xmlns:a16="http://schemas.microsoft.com/office/drawing/2014/main" id="{90023E1F-2735-45C5-B97C-AAC68FC7F275}"/>
              </a:ext>
            </a:extLst>
          </p:cNvPr>
          <p:cNvSpPr>
            <a:spLocks xmlns:a="http://schemas.openxmlformats.org/drawingml/2006/main" noGrp="1"/>
          </p:cNvSpPr>
          <p:nvPr/>
        </p:nvSpPr>
        <p:spPr>
          <a:xfrm xmlns:a="http://schemas.openxmlformats.org/drawingml/2006/main">
            <a:off x="685800" y="2657475"/>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¿Puedo conservar mi repositorio y editor?</a:t>
            </a:r>
          </a:p>
        </p:txBody>
      </p:sp>
      <p:sp>
        <p:nvSpPr>
          <p:cNvPr id="5" name="">
            <a:extLst xmlns:a="http://schemas.openxmlformats.org/drawingml/2006/main">
              <a:ext uri="{FF2B5EF4-FFF2-40B4-BE49-F238E27FC236}">
                <a16:creationId xmlns:a16="http://schemas.microsoft.com/office/drawing/2014/main" id="{B714987C-3D71-4B27-B185-B5E36EEFCA4E}"/>
              </a:ext>
            </a:extLst>
          </p:cNvPr>
          <p:cNvSpPr>
            <a:spLocks xmlns:a="http://schemas.openxmlformats.org/drawingml/2006/main" noGrp="1"/>
          </p:cNvSpPr>
          <p:nvPr/>
        </p:nvSpPr>
        <p:spPr>
          <a:xfrm xmlns:a="http://schemas.openxmlformats.org/drawingml/2006/main">
            <a:off x="685800" y="3776663"/>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¿Los requisitos quedan en archivos revisables?</a:t>
            </a:r>
          </a:p>
        </p:txBody>
      </p:sp>
      <p:sp>
        <p:nvSpPr>
          <p:cNvPr id="6" name="">
            <a:extLst xmlns:a="http://schemas.openxmlformats.org/drawingml/2006/main">
              <a:ext uri="{FF2B5EF4-FFF2-40B4-BE49-F238E27FC236}">
                <a16:creationId xmlns:a16="http://schemas.microsoft.com/office/drawing/2014/main" id="{040A697C-C976-44BC-8BC6-7C1F550C1EF6}"/>
              </a:ext>
            </a:extLst>
          </p:cNvPr>
          <p:cNvSpPr>
            <a:spLocks xmlns:a="http://schemas.openxmlformats.org/drawingml/2006/main" noGrp="1"/>
          </p:cNvSpPr>
          <p:nvPr/>
        </p:nvSpPr>
        <p:spPr>
          <a:xfrm xmlns:a="http://schemas.openxmlformats.org/drawingml/2006/main">
            <a:off x="685800" y="4895850"/>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¿El proceso cabe en una funcionalidad pequeña?</a:t>
            </a:r>
          </a:p>
        </p:txBody>
      </p:sp>
      <p:sp>
        <p:nvSpPr>
          <p:cNvPr id="7" name="">
            <a:extLst xmlns:a="http://schemas.openxmlformats.org/drawingml/2006/main">
              <a:ext uri="{FF2B5EF4-FFF2-40B4-BE49-F238E27FC236}">
                <a16:creationId xmlns:a16="http://schemas.microsoft.com/office/drawing/2014/main" id="{54BC5ADD-C5E7-411E-83FC-E1DA0132F1A0}"/>
              </a:ext>
            </a:extLst>
          </p:cNvPr>
          <p:cNvSpPr>
            <a:spLocks xmlns:a="http://schemas.openxmlformats.org/drawingml/2006/main" noGrp="1"/>
          </p:cNvSpPr>
          <p:nvPr/>
        </p:nvSpPr>
        <p:spPr>
          <a:xfrm xmlns:a="http://schemas.openxmlformats.org/drawingml/2006/main">
            <a:off x="685800" y="6015038"/>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¿Puedo cambiar de agente sin perder decisiones?</a:t>
            </a:r>
          </a:p>
        </p:txBody>
      </p:sp>
      <p:sp>
        <p:nvSpPr>
          <p:cNvPr id="8" name="">
            <a:extLst xmlns:a="http://schemas.openxmlformats.org/drawingml/2006/main">
              <a:ext uri="{FF2B5EF4-FFF2-40B4-BE49-F238E27FC236}">
                <a16:creationId xmlns:a16="http://schemas.microsoft.com/office/drawing/2014/main" id="{ABA35FE3-41AF-4C40-A59B-AEA36F399C4D}"/>
              </a:ext>
            </a:extLst>
          </p:cNvPr>
          <p:cNvSpPr>
            <a:spLocks xmlns:a="http://schemas.openxmlformats.org/drawingml/2006/main" noGrp="1"/>
          </p:cNvSpPr>
          <p:nvPr/>
        </p:nvSpPr>
        <p:spPr>
          <a:xfrm xmlns:a="http://schemas.openxmlformats.org/drawingml/2006/main">
            <a:off x="7953375" y="2657475"/>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Mantener .NET, SQL Server y el entorno actual.</a:t>
            </a:r>
          </a:p>
        </p:txBody>
      </p:sp>
      <p:sp>
        <p:nvSpPr>
          <p:cNvPr id="9" name="">
            <a:extLst xmlns:a="http://schemas.openxmlformats.org/drawingml/2006/main">
              <a:ext uri="{FF2B5EF4-FFF2-40B4-BE49-F238E27FC236}">
                <a16:creationId xmlns:a16="http://schemas.microsoft.com/office/drawing/2014/main" id="{1D67573E-5A0A-4E82-8601-B610636C8827}"/>
              </a:ext>
            </a:extLst>
          </p:cNvPr>
          <p:cNvSpPr>
            <a:spLocks xmlns:a="http://schemas.openxmlformats.org/drawingml/2006/main" noGrp="1"/>
          </p:cNvSpPr>
          <p:nvPr/>
        </p:nvSpPr>
        <p:spPr>
          <a:xfrm xmlns:a="http://schemas.openxmlformats.org/drawingml/2006/main">
            <a:off x="7953375" y="3776663"/>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Aplicar OpenSpec a una sola asociación empresa–Building Block.</a:t>
            </a:r>
          </a:p>
        </p:txBody>
      </p:sp>
      <p:sp>
        <p:nvSpPr>
          <p:cNvPr id="10" name="">
            <a:extLst xmlns:a="http://schemas.openxmlformats.org/drawingml/2006/main">
              <a:ext uri="{FF2B5EF4-FFF2-40B4-BE49-F238E27FC236}">
                <a16:creationId xmlns:a16="http://schemas.microsoft.com/office/drawing/2014/main" id="{CF34F892-456E-4CD3-8BB7-6182D7E8C992}"/>
              </a:ext>
            </a:extLst>
          </p:cNvPr>
          <p:cNvSpPr>
            <a:spLocks xmlns:a="http://schemas.openxmlformats.org/drawingml/2006/main" noGrp="1"/>
          </p:cNvSpPr>
          <p:nvPr/>
        </p:nvSpPr>
        <p:spPr>
          <a:xfrm xmlns:a="http://schemas.openxmlformats.org/drawingml/2006/main">
            <a:off x="7953375" y="4895850"/>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Comparar claridad del requisito, retrabajo y evidencia antes de extenderlo.</a:t>
            </a:r>
          </a:p>
        </p:txBody>
      </p:sp>
      <p:sp>
        <p:nvSpPr>
          <p:cNvPr id="11" name="">
            <a:extLst xmlns:a="http://schemas.openxmlformats.org/drawingml/2006/main">
              <a:ext uri="{FF2B5EF4-FFF2-40B4-BE49-F238E27FC236}">
                <a16:creationId xmlns:a16="http://schemas.microsoft.com/office/drawing/2014/main" id="{154FF6D5-262C-4AE5-B0A2-6EBD9E576017}"/>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El primer experimento evalúa el proceso, no la cantidad de código generado.</a:t>
            </a:r>
          </a:p>
        </p:txBody>
      </p:sp>
      <p:sp>
        <p:nvSpPr>
          <p:cNvPr id="12" name="">
            <a:extLst xmlns:a="http://schemas.openxmlformats.org/drawingml/2006/main">
              <a:ext uri="{FF2B5EF4-FFF2-40B4-BE49-F238E27FC236}">
                <a16:creationId xmlns:a16="http://schemas.microsoft.com/office/drawing/2014/main" id="{4CF357BD-A97E-4592-BF21-47DA40563DB8}"/>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12</a:t>
            </a:r>
          </a:p>
        </p:txBody>
      </p:sp>
    </p:spTree>
    <p:extLst>
      <p:ext uri="{BB962C8B-B14F-4D97-AF65-F5344CB8AC3E}">
        <p14:creationId xmlns:p14="http://schemas.microsoft.com/office/powerpoint/2010/main" val="933301689"/>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4499D02-5D8F-405E-9040-8D7E7319D931}"/>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El ambiente de desarrollo del laboratorio</a:t>
            </a:r>
          </a:p>
        </p:txBody>
      </p:sp>
      <p:graphicFrame>
        <p:nvGraphicFramePr>
          <p:cNvPr id="5" name=""/>
          <p:cNvGraphicFramePr/>
          <p:nvPr/>
        </p:nvGraphicFramePr>
        <p:xfrm>
          <a:off xmlns:a="http://schemas.openxmlformats.org/drawingml/2006/main" x="628650" y="1952625"/>
          <a:ext xmlns:a="http://schemas.openxmlformats.org/drawingml/2006/main" cx="14001750" cy="5067300"/>
        </p:xfrm>
        <a:graphic xmlns:a="http://schemas.openxmlformats.org/drawingml/2006/main">
          <a:graphicData uri="http://schemas.openxmlformats.org/drawingml/2006/table">
            <a:tbl>
              <a:tblPr/>
              <a:tblGrid>
                <a:gridCol w="4476750"/>
                <a:gridCol w="5238750"/>
                <a:gridCol w="4286250"/>
              </a:tblGrid>
              <a:tr h="723900">
                <a:tc>
                  <a:txBody>
                    <a:bodyPr/>
                    <a:lstStyle/>
                    <a:p>
                      <a:r>
                        <a:rPr sz="2100" b="1">
                          <a:solidFill>
                            <a:srgbClr val="FFFFFF"/>
                          </a:solidFill>
                          <a:latin typeface="DejaVu Sans"/>
                          <a:ea typeface="DejaVu Sans"/>
                          <a:cs typeface="DejaVu Sans"/>
                        </a:rPr>
                        <a:t>Componente</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Para qué se usa</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Comprobación inicial</a:t>
                      </a:r>
                    </a:p>
                  </a:txBody>
                  <a:tcPr marL="91440" marR="91440" marT="45720" marB="45720">
                    <a:solidFill>
                      <a:srgbClr val="183F4C"/>
                    </a:solidFill>
                  </a:tcPr>
                </a:tc>
              </a:tr>
              <a:tr h="723900">
                <a:tc>
                  <a:txBody>
                    <a:bodyPr/>
                    <a:lstStyle/>
                    <a:p>
                      <a:r>
                        <a:rPr sz="2100" b="0">
                          <a:solidFill>
                            <a:srgbClr val="152F41"/>
                          </a:solidFill>
                          <a:latin typeface="DejaVu Sans"/>
                          <a:ea typeface="DejaVu Sans"/>
                          <a:cs typeface="DejaVu Sans"/>
                        </a:rPr>
                        <a:t>Windows 11 y PowerShell</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Terminal y ejecución local</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Abrir una terminal nueva</a:t>
                      </a:r>
                    </a:p>
                  </a:txBody>
                  <a:tcPr marL="91440" marR="91440" marT="45720" marB="45720">
                    <a:solidFill>
                      <a:srgbClr val="F7F5EF"/>
                    </a:solidFill>
                  </a:tcPr>
                </a:tc>
              </a:tr>
              <a:tr h="723900">
                <a:tc>
                  <a:txBody>
                    <a:bodyPr/>
                    <a:lstStyle/>
                    <a:p>
                      <a:r>
                        <a:rPr sz="2100" b="0">
                          <a:solidFill>
                            <a:srgbClr val="152F41"/>
                          </a:solidFill>
                          <a:latin typeface="DejaVu Sans"/>
                          <a:ea typeface="DejaVu Sans"/>
                          <a:cs typeface="DejaVu Sans"/>
                        </a:rPr>
                        <a:t>Visual Studio o VS Code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Editar y depurar el proyecto .NET</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Abrir la solución correcta</a:t>
                      </a:r>
                    </a:p>
                  </a:txBody>
                  <a:tcPr marL="91440" marR="91440" marT="45720" marB="45720">
                    <a:solidFill>
                      <a:srgbClr val="F7F5EF"/>
                    </a:solidFill>
                  </a:tcPr>
                </a:tc>
              </a:tr>
              <a:tr h="723900">
                <a:tc>
                  <a:txBody>
                    <a:bodyPr/>
                    <a:lstStyle/>
                    <a:p>
                      <a:r>
                        <a:rPr sz="2100" b="0">
                          <a:solidFill>
                            <a:srgbClr val="152F41"/>
                          </a:solidFill>
                          <a:latin typeface="DejaVu Sans"/>
                          <a:ea typeface="DejaVu Sans"/>
                          <a:cs typeface="DejaVu Sans"/>
                        </a:rPr>
                        <a:t>SDK .NET y NuGet</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Compilar y resolver dependencias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dotnet --info</a:t>
                      </a:r>
                    </a:p>
                  </a:txBody>
                  <a:tcPr marL="91440" marR="91440" marT="45720" marB="45720">
                    <a:solidFill>
                      <a:srgbClr val="F7F5EF"/>
                    </a:solidFill>
                  </a:tcPr>
                </a:tc>
              </a:tr>
              <a:tr h="723900">
                <a:tc>
                  <a:txBody>
                    <a:bodyPr/>
                    <a:lstStyle/>
                    <a:p>
                      <a:r>
                        <a:rPr sz="2100" b="0">
                          <a:solidFill>
                            <a:srgbClr val="152F41"/>
                          </a:solidFill>
                          <a:latin typeface="DejaVu Sans"/>
                          <a:ea typeface="DejaVu Sans"/>
                          <a:cs typeface="DejaVu Sans"/>
                        </a:rPr>
                        <a:t>SQL Server y SSMS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Datos y consultas de desarrollo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Conectar a una base de laboratorio</a:t>
                      </a:r>
                    </a:p>
                  </a:txBody>
                  <a:tcPr marL="91440" marR="91440" marT="45720" marB="45720">
                    <a:solidFill>
                      <a:srgbClr val="F7F5EF"/>
                    </a:solidFill>
                  </a:tcPr>
                </a:tc>
              </a:tr>
              <a:tr h="723900">
                <a:tc>
                  <a:txBody>
                    <a:bodyPr/>
                    <a:lstStyle/>
                    <a:p>
                      <a:r>
                        <a:rPr sz="2100" b="0">
                          <a:solidFill>
                            <a:srgbClr val="152F41"/>
                          </a:solidFill>
                          <a:latin typeface="DejaVu Sans"/>
                          <a:ea typeface="DejaVu Sans"/>
                          <a:cs typeface="DejaVu Sans"/>
                        </a:rPr>
                        <a:t>Node.js y npm</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Instalar herramientas auxiliares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node --version / npm --version</a:t>
                      </a:r>
                    </a:p>
                  </a:txBody>
                  <a:tcPr marL="91440" marR="91440" marT="45720" marB="45720">
                    <a:solidFill>
                      <a:srgbClr val="F7F5EF"/>
                    </a:solidFill>
                  </a:tcPr>
                </a:tc>
              </a:tr>
              <a:tr h="723900">
                <a:tc>
                  <a:txBody>
                    <a:bodyPr/>
                    <a:lstStyle/>
                    <a:p>
                      <a:r>
                        <a:rPr sz="2100" b="0">
                          <a:solidFill>
                            <a:srgbClr val="152F41"/>
                          </a:solidFill>
                          <a:latin typeface="DejaVu Sans"/>
                          <a:ea typeface="DejaVu Sans"/>
                          <a:cs typeface="DejaVu Sans"/>
                        </a:rPr>
                        <a:t>Git y GitHub</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Versionar y revisar cambios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git --version y acceso al repositorio</a:t>
                      </a:r>
                    </a:p>
                  </a:txBody>
                  <a:tcPr marL="91440" marR="91440" marT="45720" marB="45720">
                    <a:solidFill>
                      <a:srgbClr val="F7F5EF"/>
                    </a:solidFill>
                  </a:tcPr>
                </a:tc>
              </a:tr>
            </a:tbl>
          </a:graphicData>
        </a:graphic>
      </p:graphicFrame>
      <p:sp>
        <p:nvSpPr>
          <p:cNvPr id="3" name="">
            <a:extLst xmlns:a="http://schemas.openxmlformats.org/drawingml/2006/main">
              <a:ext uri="{FF2B5EF4-FFF2-40B4-BE49-F238E27FC236}">
                <a16:creationId xmlns:a16="http://schemas.microsoft.com/office/drawing/2014/main" id="{45E5BFEE-A3C8-42E9-B56E-50D8359571E6}"/>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13</a:t>
            </a:r>
          </a:p>
        </p:txBody>
      </p:sp>
    </p:spTree>
    <p:extLst>
      <p:ext uri="{BB962C8B-B14F-4D97-AF65-F5344CB8AC3E}">
        <p14:creationId xmlns:p14="http://schemas.microsoft.com/office/powerpoint/2010/main" val="178753481"/>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9614116-A49E-45D3-ACC0-4076F70497DF}"/>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Requisitos prácticos y control de versiones</a:t>
            </a:r>
          </a:p>
        </p:txBody>
      </p:sp>
      <p:sp>
        <p:nvSpPr>
          <p:cNvPr id="2" name="">
            <a:extLst xmlns:a="http://schemas.openxmlformats.org/drawingml/2006/main">
              <a:ext uri="{FF2B5EF4-FFF2-40B4-BE49-F238E27FC236}">
                <a16:creationId xmlns:a16="http://schemas.microsoft.com/office/drawing/2014/main" id="{C8287F4D-C042-4D89-A59A-BF3AE58C6D01}"/>
              </a:ext>
            </a:extLst>
          </p:cNvPr>
          <p:cNvSpPr>
            <a:spLocks xmlns:a="http://schemas.openxmlformats.org/drawingml/2006/main" noGrp="1"/>
          </p:cNvSpPr>
          <p:nvPr/>
        </p:nvSpPr>
        <p:spPr>
          <a:xfrm xmlns:a="http://schemas.openxmlformats.org/drawingml/2006/main">
            <a:off x="685800" y="1847850"/>
            <a:ext cx="6648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C77"/>
                </a:solidFill>
                <a:latin typeface="DejaVu Sans"/>
                <a:ea typeface="DejaVu Sans"/>
                <a:cs typeface="DejaVu Sans"/>
              </a:defRPr>
            </a:pPr>
            <a:r>
              <a:rPr sz="2550" b="1">
                <a:solidFill>
                  <a:srgbClr val="087C77"/>
                </a:solidFill>
                <a:latin typeface="DejaVu Sans"/>
                <a:ea typeface="DejaVu Sans"/>
                <a:cs typeface="DejaVu Sans"/>
              </a:rPr>
              <a:t>Equipo propuesto</a:t>
            </a:r>
          </a:p>
        </p:txBody>
      </p:sp>
      <p:sp>
        <p:nvSpPr>
          <p:cNvPr id="3" name="">
            <a:extLst xmlns:a="http://schemas.openxmlformats.org/drawingml/2006/main">
              <a:ext uri="{FF2B5EF4-FFF2-40B4-BE49-F238E27FC236}">
                <a16:creationId xmlns:a16="http://schemas.microsoft.com/office/drawing/2014/main" id="{2DA08F52-E6F0-4CAD-A5B3-6B93CDEF96ED}"/>
              </a:ext>
            </a:extLst>
          </p:cNvPr>
          <p:cNvSpPr>
            <a:spLocks xmlns:a="http://schemas.openxmlformats.org/drawingml/2006/main" noGrp="1"/>
          </p:cNvSpPr>
          <p:nvPr/>
        </p:nvSpPr>
        <p:spPr>
          <a:xfrm xmlns:a="http://schemas.openxmlformats.org/drawingml/2006/main">
            <a:off x="7953375" y="1847850"/>
            <a:ext cx="657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C77"/>
                </a:solidFill>
                <a:latin typeface="DejaVu Sans"/>
                <a:ea typeface="DejaVu Sans"/>
                <a:cs typeface="DejaVu Sans"/>
              </a:defRPr>
            </a:pPr>
            <a:r>
              <a:rPr sz="2550" b="1">
                <a:solidFill>
                  <a:srgbClr val="087C77"/>
                </a:solidFill>
                <a:latin typeface="DejaVu Sans"/>
                <a:ea typeface="DejaVu Sans"/>
                <a:cs typeface="DejaVu Sans"/>
              </a:rPr>
              <a:t>Versiones que deben registrarse</a:t>
            </a:r>
          </a:p>
        </p:txBody>
      </p:sp>
      <p:sp>
        <p:nvSpPr>
          <p:cNvPr id="4" name="">
            <a:extLst xmlns:a="http://schemas.openxmlformats.org/drawingml/2006/main">
              <a:ext uri="{FF2B5EF4-FFF2-40B4-BE49-F238E27FC236}">
                <a16:creationId xmlns:a16="http://schemas.microsoft.com/office/drawing/2014/main" id="{4B71E99E-BC1E-4F41-A883-E1852DE13782}"/>
              </a:ext>
            </a:extLst>
          </p:cNvPr>
          <p:cNvSpPr>
            <a:spLocks xmlns:a="http://schemas.openxmlformats.org/drawingml/2006/main" noGrp="1"/>
          </p:cNvSpPr>
          <p:nvPr/>
        </p:nvSpPr>
        <p:spPr>
          <a:xfrm xmlns:a="http://schemas.openxmlformats.org/drawingml/2006/main">
            <a:off x="685800" y="2657475"/>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16 GB RAM como punto de partida práctico.</a:t>
            </a:r>
          </a:p>
        </p:txBody>
      </p:sp>
      <p:sp>
        <p:nvSpPr>
          <p:cNvPr id="5" name="">
            <a:extLst xmlns:a="http://schemas.openxmlformats.org/drawingml/2006/main">
              <a:ext uri="{FF2B5EF4-FFF2-40B4-BE49-F238E27FC236}">
                <a16:creationId xmlns:a16="http://schemas.microsoft.com/office/drawing/2014/main" id="{3F0C91E3-8E54-41BB-8508-4CF372CB3DCA}"/>
              </a:ext>
            </a:extLst>
          </p:cNvPr>
          <p:cNvSpPr>
            <a:spLocks xmlns:a="http://schemas.openxmlformats.org/drawingml/2006/main" noGrp="1"/>
          </p:cNvSpPr>
          <p:nvPr/>
        </p:nvSpPr>
        <p:spPr>
          <a:xfrm xmlns:a="http://schemas.openxmlformats.org/drawingml/2006/main">
            <a:off x="685800" y="3776663"/>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32 GB si se ejecutan SQL, IDE y varios servicios.</a:t>
            </a:r>
          </a:p>
        </p:txBody>
      </p:sp>
      <p:sp>
        <p:nvSpPr>
          <p:cNvPr id="6" name="">
            <a:extLst xmlns:a="http://schemas.openxmlformats.org/drawingml/2006/main">
              <a:ext uri="{FF2B5EF4-FFF2-40B4-BE49-F238E27FC236}">
                <a16:creationId xmlns:a16="http://schemas.microsoft.com/office/drawing/2014/main" id="{E27DF109-2503-4178-8475-54CD39366B5C}"/>
              </a:ext>
            </a:extLst>
          </p:cNvPr>
          <p:cNvSpPr>
            <a:spLocks xmlns:a="http://schemas.openxmlformats.org/drawingml/2006/main" noGrp="1"/>
          </p:cNvSpPr>
          <p:nvPr/>
        </p:nvSpPr>
        <p:spPr>
          <a:xfrm xmlns:a="http://schemas.openxmlformats.org/drawingml/2006/main">
            <a:off x="685800" y="4895850"/>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SSD con margen para paquetes y copia de datos.</a:t>
            </a:r>
          </a:p>
        </p:txBody>
      </p:sp>
      <p:sp>
        <p:nvSpPr>
          <p:cNvPr id="7" name="">
            <a:extLst xmlns:a="http://schemas.openxmlformats.org/drawingml/2006/main">
              <a:ext uri="{FF2B5EF4-FFF2-40B4-BE49-F238E27FC236}">
                <a16:creationId xmlns:a16="http://schemas.microsoft.com/office/drawing/2014/main" id="{CF5D3745-426B-4115-A799-28002423884F}"/>
              </a:ext>
            </a:extLst>
          </p:cNvPr>
          <p:cNvSpPr>
            <a:spLocks xmlns:a="http://schemas.openxmlformats.org/drawingml/2006/main" noGrp="1"/>
          </p:cNvSpPr>
          <p:nvPr/>
        </p:nvSpPr>
        <p:spPr>
          <a:xfrm xmlns:a="http://schemas.openxmlformats.org/drawingml/2006/main">
            <a:off x="685800" y="6015038"/>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Los modelos remotos no exigen una GPU local.</a:t>
            </a:r>
          </a:p>
        </p:txBody>
      </p:sp>
      <p:sp>
        <p:nvSpPr>
          <p:cNvPr id="8" name="">
            <a:extLst xmlns:a="http://schemas.openxmlformats.org/drawingml/2006/main">
              <a:ext uri="{FF2B5EF4-FFF2-40B4-BE49-F238E27FC236}">
                <a16:creationId xmlns:a16="http://schemas.microsoft.com/office/drawing/2014/main" id="{C5E68635-99D8-406C-B3A5-98AA732662B8}"/>
              </a:ext>
            </a:extLst>
          </p:cNvPr>
          <p:cNvSpPr>
            <a:spLocks xmlns:a="http://schemas.openxmlformats.org/drawingml/2006/main" noGrp="1"/>
          </p:cNvSpPr>
          <p:nvPr/>
        </p:nvSpPr>
        <p:spPr>
          <a:xfrm xmlns:a="http://schemas.openxmlformats.org/drawingml/2006/main">
            <a:off x="7953375" y="2657475"/>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SDK indicado por global.json y los .csproj.</a:t>
            </a:r>
          </a:p>
        </p:txBody>
      </p:sp>
      <p:sp>
        <p:nvSpPr>
          <p:cNvPr id="9" name="">
            <a:extLst xmlns:a="http://schemas.openxmlformats.org/drawingml/2006/main">
              <a:ext uri="{FF2B5EF4-FFF2-40B4-BE49-F238E27FC236}">
                <a16:creationId xmlns:a16="http://schemas.microsoft.com/office/drawing/2014/main" id="{11B9E56C-9A2C-45A1-9D1C-EAA3460A353E}"/>
              </a:ext>
            </a:extLst>
          </p:cNvPr>
          <p:cNvSpPr>
            <a:spLocks xmlns:a="http://schemas.openxmlformats.org/drawingml/2006/main" noGrp="1"/>
          </p:cNvSpPr>
          <p:nvPr/>
        </p:nvSpPr>
        <p:spPr>
          <a:xfrm xmlns:a="http://schemas.openxmlformats.org/drawingml/2006/main">
            <a:off x="7953375" y="3776663"/>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Node LTS soportado y compatible con los CLI.</a:t>
            </a:r>
          </a:p>
        </p:txBody>
      </p:sp>
      <p:sp>
        <p:nvSpPr>
          <p:cNvPr id="10" name="">
            <a:extLst xmlns:a="http://schemas.openxmlformats.org/drawingml/2006/main">
              <a:ext uri="{FF2B5EF4-FFF2-40B4-BE49-F238E27FC236}">
                <a16:creationId xmlns:a16="http://schemas.microsoft.com/office/drawing/2014/main" id="{D6078C11-3909-476D-A2F9-A03CE1B9E4F0}"/>
              </a:ext>
            </a:extLst>
          </p:cNvPr>
          <p:cNvSpPr>
            <a:spLocks xmlns:a="http://schemas.openxmlformats.org/drawingml/2006/main" noGrp="1"/>
          </p:cNvSpPr>
          <p:nvPr/>
        </p:nvSpPr>
        <p:spPr>
          <a:xfrm xmlns:a="http://schemas.openxmlformats.org/drawingml/2006/main">
            <a:off x="7953375" y="4895850"/>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OpenSpec documenta Node 20.19.0 o superior.</a:t>
            </a:r>
          </a:p>
        </p:txBody>
      </p:sp>
      <p:sp>
        <p:nvSpPr>
          <p:cNvPr id="11" name="">
            <a:extLst xmlns:a="http://schemas.openxmlformats.org/drawingml/2006/main">
              <a:ext uri="{FF2B5EF4-FFF2-40B4-BE49-F238E27FC236}">
                <a16:creationId xmlns:a16="http://schemas.microsoft.com/office/drawing/2014/main" id="{89822546-5A24-4963-809C-0C2D088E5631}"/>
              </a:ext>
            </a:extLst>
          </p:cNvPr>
          <p:cNvSpPr>
            <a:spLocks xmlns:a="http://schemas.openxmlformats.org/drawingml/2006/main" noGrp="1"/>
          </p:cNvSpPr>
          <p:nvPr/>
        </p:nvSpPr>
        <p:spPr>
          <a:xfrm xmlns:a="http://schemas.openxmlformats.org/drawingml/2006/main">
            <a:off x="7953375" y="6015038"/>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Versiones instaladas de Codex y OpenSpec.</a:t>
            </a:r>
          </a:p>
        </p:txBody>
      </p:sp>
      <p:sp>
        <p:nvSpPr>
          <p:cNvPr id="12" name="">
            <a:extLst xmlns:a="http://schemas.openxmlformats.org/drawingml/2006/main">
              <a:ext uri="{FF2B5EF4-FFF2-40B4-BE49-F238E27FC236}">
                <a16:creationId xmlns:a16="http://schemas.microsoft.com/office/drawing/2014/main" id="{F15974A9-91EC-47E5-B625-DDD9A073B01B}"/>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La configuración real del equipo de Jean y su lista histórica de paquetes no están verificadas.</a:t>
            </a:r>
          </a:p>
        </p:txBody>
      </p:sp>
      <p:sp>
        <p:nvSpPr>
          <p:cNvPr id="13" name="">
            <a:extLst xmlns:a="http://schemas.openxmlformats.org/drawingml/2006/main">
              <a:ext uri="{FF2B5EF4-FFF2-40B4-BE49-F238E27FC236}">
                <a16:creationId xmlns:a16="http://schemas.microsoft.com/office/drawing/2014/main" id="{9AA9F289-719A-4264-AED1-59F42F42E39D}"/>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14</a:t>
            </a:r>
          </a:p>
        </p:txBody>
      </p:sp>
    </p:spTree>
    <p:extLst>
      <p:ext uri="{BB962C8B-B14F-4D97-AF65-F5344CB8AC3E}">
        <p14:creationId xmlns:p14="http://schemas.microsoft.com/office/powerpoint/2010/main" val="956463623"/>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CE9508A-D64A-4066-AEC1-F7931803E1A0}"/>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Paso 1 · Verificación e instalación con npm</a:t>
            </a:r>
          </a:p>
        </p:txBody>
      </p:sp>
      <p:sp>
        <p:nvSpPr>
          <p:cNvPr id="2" name="">
            <a:extLst xmlns:a="http://schemas.openxmlformats.org/drawingml/2006/main">
              <a:ext uri="{FF2B5EF4-FFF2-40B4-BE49-F238E27FC236}">
                <a16:creationId xmlns:a16="http://schemas.microsoft.com/office/drawing/2014/main" id="{20784684-3720-4283-AB6C-922B9AFB070D}"/>
              </a:ext>
            </a:extLst>
          </p:cNvPr>
          <p:cNvSpPr>
            <a:spLocks xmlns:a="http://schemas.openxmlformats.org/drawingml/2006/main" noGrp="1"/>
          </p:cNvSpPr>
          <p:nvPr/>
        </p:nvSpPr>
        <p:spPr>
          <a:xfrm xmlns:a="http://schemas.openxmlformats.org/drawingml/2006/main">
            <a:off x="714375" y="1933575"/>
            <a:ext cx="9477375" cy="519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dotnet --info</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node --version</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npm --version</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git --version</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npm install -g @openai/codex</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npm install -g @fission-ai/openspec@latest</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codex --version</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openspec --version</a:t>
            </a:r>
          </a:p>
        </p:txBody>
      </p:sp>
      <p:sp>
        <p:nvSpPr>
          <p:cNvPr id="3" name="">
            <a:extLst xmlns:a="http://schemas.openxmlformats.org/drawingml/2006/main">
              <a:ext uri="{FF2B5EF4-FFF2-40B4-BE49-F238E27FC236}">
                <a16:creationId xmlns:a16="http://schemas.microsoft.com/office/drawing/2014/main" id="{FC7DF044-56C7-4650-B73A-2D7B87BAC2D5}"/>
              </a:ext>
            </a:extLst>
          </p:cNvPr>
          <p:cNvSpPr>
            <a:spLocks xmlns:a="http://schemas.openxmlformats.org/drawingml/2006/main" noGrp="1"/>
          </p:cNvSpPr>
          <p:nvPr/>
        </p:nvSpPr>
        <p:spPr>
          <a:xfrm xmlns:a="http://schemas.openxmlformats.org/drawingml/2006/main">
            <a:off x="10696575" y="1905000"/>
            <a:ext cx="3943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C77"/>
                </a:solidFill>
                <a:latin typeface="DejaVu Sans"/>
                <a:ea typeface="DejaVu Sans"/>
                <a:cs typeface="DejaVu Sans"/>
              </a:defRPr>
            </a:pPr>
            <a:r>
              <a:rPr sz="2400" b="1">
                <a:solidFill>
                  <a:srgbClr val="087C77"/>
                </a:solidFill>
                <a:latin typeface="DejaVu Sans"/>
                <a:ea typeface="DejaVu Sans"/>
                <a:cs typeface="DejaVu Sans"/>
              </a:rPr>
              <a:t>Resultado esperado</a:t>
            </a:r>
          </a:p>
        </p:txBody>
      </p:sp>
      <p:sp>
        <p:nvSpPr>
          <p:cNvPr id="4" name="">
            <a:extLst xmlns:a="http://schemas.openxmlformats.org/drawingml/2006/main">
              <a:ext uri="{FF2B5EF4-FFF2-40B4-BE49-F238E27FC236}">
                <a16:creationId xmlns:a16="http://schemas.microsoft.com/office/drawing/2014/main" id="{07071AE5-B129-4BAA-97AC-6AC6C6D1D15F}"/>
              </a:ext>
            </a:extLst>
          </p:cNvPr>
          <p:cNvSpPr>
            <a:spLocks xmlns:a="http://schemas.openxmlformats.org/drawingml/2006/main" noGrp="1"/>
          </p:cNvSpPr>
          <p:nvPr/>
        </p:nvSpPr>
        <p:spPr>
          <a:xfrm xmlns:a="http://schemas.openxmlformats.org/drawingml/2006/main">
            <a:off x="10696575" y="2790825"/>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Los cuatro comandos de versión responden.</a:t>
            </a:r>
          </a:p>
        </p:txBody>
      </p:sp>
      <p:sp>
        <p:nvSpPr>
          <p:cNvPr id="5" name="">
            <a:extLst xmlns:a="http://schemas.openxmlformats.org/drawingml/2006/main">
              <a:ext uri="{FF2B5EF4-FFF2-40B4-BE49-F238E27FC236}">
                <a16:creationId xmlns:a16="http://schemas.microsoft.com/office/drawing/2014/main" id="{06BA4183-B2F7-4537-B604-75FA0255600E}"/>
              </a:ext>
            </a:extLst>
          </p:cNvPr>
          <p:cNvSpPr>
            <a:spLocks xmlns:a="http://schemas.openxmlformats.org/drawingml/2006/main" noGrp="1"/>
          </p:cNvSpPr>
          <p:nvPr/>
        </p:nvSpPr>
        <p:spPr>
          <a:xfrm xmlns:a="http://schemas.openxmlformats.org/drawingml/2006/main">
            <a:off x="10696575" y="4152900"/>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npm instala los CLI de usuario o globales según la configuración.</a:t>
            </a:r>
          </a:p>
        </p:txBody>
      </p:sp>
      <p:sp>
        <p:nvSpPr>
          <p:cNvPr id="6" name="">
            <a:extLst xmlns:a="http://schemas.openxmlformats.org/drawingml/2006/main">
              <a:ext uri="{FF2B5EF4-FFF2-40B4-BE49-F238E27FC236}">
                <a16:creationId xmlns:a16="http://schemas.microsoft.com/office/drawing/2014/main" id="{F562882A-1A24-44D5-9448-05C496EBABB8}"/>
              </a:ext>
            </a:extLst>
          </p:cNvPr>
          <p:cNvSpPr>
            <a:spLocks xmlns:a="http://schemas.openxmlformats.org/drawingml/2006/main" noGrp="1"/>
          </p:cNvSpPr>
          <p:nvPr/>
        </p:nvSpPr>
        <p:spPr>
          <a:xfrm xmlns:a="http://schemas.openxmlformats.org/drawingml/2006/main">
            <a:off x="10696575" y="5514975"/>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Una terminal nueva reconoce codex y openspec.</a:t>
            </a:r>
          </a:p>
        </p:txBody>
      </p:sp>
      <p:sp>
        <p:nvSpPr>
          <p:cNvPr id="7" name="">
            <a:extLst xmlns:a="http://schemas.openxmlformats.org/drawingml/2006/main">
              <a:ext uri="{FF2B5EF4-FFF2-40B4-BE49-F238E27FC236}">
                <a16:creationId xmlns:a16="http://schemas.microsoft.com/office/drawing/2014/main" id="{42E604BB-BBA1-4354-836B-013CA9C7BAEC}"/>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Los comandos de esta lámina se ejecutan en PowerShell.</a:t>
            </a:r>
          </a:p>
        </p:txBody>
      </p:sp>
      <p:sp>
        <p:nvSpPr>
          <p:cNvPr id="8" name="">
            <a:extLst xmlns:a="http://schemas.openxmlformats.org/drawingml/2006/main">
              <a:ext uri="{FF2B5EF4-FFF2-40B4-BE49-F238E27FC236}">
                <a16:creationId xmlns:a16="http://schemas.microsoft.com/office/drawing/2014/main" id="{8A0D1A74-0715-4462-B901-D76E5B94E516}"/>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15</a:t>
            </a:r>
          </a:p>
        </p:txBody>
      </p:sp>
    </p:spTree>
    <p:extLst>
      <p:ext uri="{BB962C8B-B14F-4D97-AF65-F5344CB8AC3E}">
        <p14:creationId xmlns:p14="http://schemas.microsoft.com/office/powerpoint/2010/main" val="411938390"/>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7C4EDE-F1F5-4B23-9D1F-324BC6B624B7}"/>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Paso 2 · Repositorio y rama de trabajo</a:t>
            </a:r>
          </a:p>
        </p:txBody>
      </p:sp>
      <p:sp>
        <p:nvSpPr>
          <p:cNvPr id="2" name="">
            <a:extLst xmlns:a="http://schemas.openxmlformats.org/drawingml/2006/main">
              <a:ext uri="{FF2B5EF4-FFF2-40B4-BE49-F238E27FC236}">
                <a16:creationId xmlns:a16="http://schemas.microsoft.com/office/drawing/2014/main" id="{04F32607-6DC3-42F1-B754-0F981D44A18C}"/>
              </a:ext>
            </a:extLst>
          </p:cNvPr>
          <p:cNvSpPr>
            <a:spLocks xmlns:a="http://schemas.openxmlformats.org/drawingml/2006/main" noGrp="1"/>
          </p:cNvSpPr>
          <p:nvPr/>
        </p:nvSpPr>
        <p:spPr>
          <a:xfrm xmlns:a="http://schemas.openxmlformats.org/drawingml/2006/main">
            <a:off x="714375" y="1933575"/>
            <a:ext cx="9477375" cy="519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git clone https://github.com/ORG/REPO.git</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cd REPO</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git status</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git switch -c taller/empresas-bb</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Si ya tienes la copia local:</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abre esa carpeta y revisa git status.</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No vuelvas a clonar encima.</a:t>
            </a:r>
          </a:p>
        </p:txBody>
      </p:sp>
      <p:sp>
        <p:nvSpPr>
          <p:cNvPr id="3" name="">
            <a:extLst xmlns:a="http://schemas.openxmlformats.org/drawingml/2006/main">
              <a:ext uri="{FF2B5EF4-FFF2-40B4-BE49-F238E27FC236}">
                <a16:creationId xmlns:a16="http://schemas.microsoft.com/office/drawing/2014/main" id="{446BC4F9-2730-4F66-A777-A0E505AAF1FF}"/>
              </a:ext>
            </a:extLst>
          </p:cNvPr>
          <p:cNvSpPr>
            <a:spLocks xmlns:a="http://schemas.openxmlformats.org/drawingml/2006/main" noGrp="1"/>
          </p:cNvSpPr>
          <p:nvPr/>
        </p:nvSpPr>
        <p:spPr>
          <a:xfrm xmlns:a="http://schemas.openxmlformats.org/drawingml/2006/main">
            <a:off x="10696575" y="1905000"/>
            <a:ext cx="3943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C77"/>
                </a:solidFill>
                <a:latin typeface="DejaVu Sans"/>
                <a:ea typeface="DejaVu Sans"/>
                <a:cs typeface="DejaVu Sans"/>
              </a:defRPr>
            </a:pPr>
            <a:r>
              <a:rPr sz="2400" b="1">
                <a:solidFill>
                  <a:srgbClr val="087C77"/>
                </a:solidFill>
                <a:latin typeface="DejaVu Sans"/>
                <a:ea typeface="DejaVu Sans"/>
                <a:cs typeface="DejaVu Sans"/>
              </a:rPr>
              <a:t>Antes del primer cambio</a:t>
            </a:r>
          </a:p>
        </p:txBody>
      </p:sp>
      <p:sp>
        <p:nvSpPr>
          <p:cNvPr id="4" name="">
            <a:extLst xmlns:a="http://schemas.openxmlformats.org/drawingml/2006/main">
              <a:ext uri="{FF2B5EF4-FFF2-40B4-BE49-F238E27FC236}">
                <a16:creationId xmlns:a16="http://schemas.microsoft.com/office/drawing/2014/main" id="{17A6FA7E-ED9E-40E0-BB23-73DA91AE76B2}"/>
              </a:ext>
            </a:extLst>
          </p:cNvPr>
          <p:cNvSpPr>
            <a:spLocks xmlns:a="http://schemas.openxmlformats.org/drawingml/2006/main" noGrp="1"/>
          </p:cNvSpPr>
          <p:nvPr/>
        </p:nvSpPr>
        <p:spPr>
          <a:xfrm xmlns:a="http://schemas.openxmlformats.org/drawingml/2006/main">
            <a:off x="10696575" y="2790825"/>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Sustituir ORG y REPO por el repositorio autorizado.</a:t>
            </a:r>
          </a:p>
        </p:txBody>
      </p:sp>
      <p:sp>
        <p:nvSpPr>
          <p:cNvPr id="5" name="">
            <a:extLst xmlns:a="http://schemas.openxmlformats.org/drawingml/2006/main">
              <a:ext uri="{FF2B5EF4-FFF2-40B4-BE49-F238E27FC236}">
                <a16:creationId xmlns:a16="http://schemas.microsoft.com/office/drawing/2014/main" id="{91E840A8-D973-4FAE-8DBD-F8AB440BDCE7}"/>
              </a:ext>
            </a:extLst>
          </p:cNvPr>
          <p:cNvSpPr>
            <a:spLocks xmlns:a="http://schemas.openxmlformats.org/drawingml/2006/main" noGrp="1"/>
          </p:cNvSpPr>
          <p:nvPr/>
        </p:nvSpPr>
        <p:spPr>
          <a:xfrm xmlns:a="http://schemas.openxmlformats.org/drawingml/2006/main">
            <a:off x="10696575" y="4152900"/>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Comprobar acceso con el método configurado en GitHub.</a:t>
            </a:r>
          </a:p>
        </p:txBody>
      </p:sp>
      <p:sp>
        <p:nvSpPr>
          <p:cNvPr id="6" name="">
            <a:extLst xmlns:a="http://schemas.openxmlformats.org/drawingml/2006/main">
              <a:ext uri="{FF2B5EF4-FFF2-40B4-BE49-F238E27FC236}">
                <a16:creationId xmlns:a16="http://schemas.microsoft.com/office/drawing/2014/main" id="{617BFC73-350E-4856-8877-47AA991B2F52}"/>
              </a:ext>
            </a:extLst>
          </p:cNvPr>
          <p:cNvSpPr>
            <a:spLocks xmlns:a="http://schemas.openxmlformats.org/drawingml/2006/main" noGrp="1"/>
          </p:cNvSpPr>
          <p:nvPr/>
        </p:nvSpPr>
        <p:spPr>
          <a:xfrm xmlns:a="http://schemas.openxmlformats.org/drawingml/2006/main">
            <a:off x="10696575" y="5514975"/>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Revisar .gitignore y el estado de los archivos.</a:t>
            </a:r>
          </a:p>
        </p:txBody>
      </p:sp>
      <p:sp>
        <p:nvSpPr>
          <p:cNvPr id="7" name="">
            <a:extLst xmlns:a="http://schemas.openxmlformats.org/drawingml/2006/main">
              <a:ext uri="{FF2B5EF4-FFF2-40B4-BE49-F238E27FC236}">
                <a16:creationId xmlns:a16="http://schemas.microsoft.com/office/drawing/2014/main" id="{CC7A4797-2342-47E4-AA43-A3D9951CA010}"/>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Resultado esperado: una rama identificable sobre una copia limpia o con cambios conocidos.</a:t>
            </a:r>
          </a:p>
        </p:txBody>
      </p:sp>
      <p:sp>
        <p:nvSpPr>
          <p:cNvPr id="8" name="">
            <a:extLst xmlns:a="http://schemas.openxmlformats.org/drawingml/2006/main">
              <a:ext uri="{FF2B5EF4-FFF2-40B4-BE49-F238E27FC236}">
                <a16:creationId xmlns:a16="http://schemas.microsoft.com/office/drawing/2014/main" id="{F39CF028-4AF0-4161-935C-2AAA6EBDFED8}"/>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16</a:t>
            </a:r>
          </a:p>
        </p:txBody>
      </p:sp>
    </p:spTree>
    <p:extLst>
      <p:ext uri="{BB962C8B-B14F-4D97-AF65-F5344CB8AC3E}">
        <p14:creationId xmlns:p14="http://schemas.microsoft.com/office/powerpoint/2010/main" val="2146768994"/>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26FF138-6E1B-4ED4-B9CB-BD6541AADF6A}"/>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Paso 3 · Arranque de .NET y conexión de desarrollo</a:t>
            </a:r>
          </a:p>
        </p:txBody>
      </p:sp>
      <p:sp>
        <p:nvSpPr>
          <p:cNvPr id="2" name="">
            <a:extLst xmlns:a="http://schemas.openxmlformats.org/drawingml/2006/main">
              <a:ext uri="{FF2B5EF4-FFF2-40B4-BE49-F238E27FC236}">
                <a16:creationId xmlns:a16="http://schemas.microsoft.com/office/drawing/2014/main" id="{F6C4DC74-CD9A-432B-8D58-197663A7049F}"/>
              </a:ext>
            </a:extLst>
          </p:cNvPr>
          <p:cNvSpPr>
            <a:spLocks xmlns:a="http://schemas.openxmlformats.org/drawingml/2006/main" noGrp="1"/>
          </p:cNvSpPr>
          <p:nvPr/>
        </p:nvSpPr>
        <p:spPr>
          <a:xfrm xmlns:a="http://schemas.openxmlformats.org/drawingml/2006/main">
            <a:off x="714375" y="1933575"/>
            <a:ext cx="9477375" cy="519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dotnet restore</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dotnet build</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Si hay varias soluciones o proyectos:</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indica la ruta real al comando.</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Desde Visual Studio:</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selecciona el proyecto web de inicio</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y ejecuta con la configuración de desarrollo.</a:t>
            </a:r>
          </a:p>
        </p:txBody>
      </p:sp>
      <p:sp>
        <p:nvSpPr>
          <p:cNvPr id="3" name="">
            <a:extLst xmlns:a="http://schemas.openxmlformats.org/drawingml/2006/main">
              <a:ext uri="{FF2B5EF4-FFF2-40B4-BE49-F238E27FC236}">
                <a16:creationId xmlns:a16="http://schemas.microsoft.com/office/drawing/2014/main" id="{A0EAD29E-8730-4805-B69A-4F6CCF1C9EBF}"/>
              </a:ext>
            </a:extLst>
          </p:cNvPr>
          <p:cNvSpPr>
            <a:spLocks xmlns:a="http://schemas.openxmlformats.org/drawingml/2006/main" noGrp="1"/>
          </p:cNvSpPr>
          <p:nvPr/>
        </p:nvSpPr>
        <p:spPr>
          <a:xfrm xmlns:a="http://schemas.openxmlformats.org/drawingml/2006/main">
            <a:off x="10696575" y="1905000"/>
            <a:ext cx="3943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C77"/>
                </a:solidFill>
                <a:latin typeface="DejaVu Sans"/>
                <a:ea typeface="DejaVu Sans"/>
                <a:cs typeface="DejaVu Sans"/>
              </a:defRPr>
            </a:pPr>
            <a:r>
              <a:rPr sz="2400" b="1">
                <a:solidFill>
                  <a:srgbClr val="087C77"/>
                </a:solidFill>
                <a:latin typeface="DejaVu Sans"/>
                <a:ea typeface="DejaVu Sans"/>
                <a:cs typeface="DejaVu Sans"/>
              </a:rPr>
              <a:t>Validación de la línea base</a:t>
            </a:r>
          </a:p>
        </p:txBody>
      </p:sp>
      <p:sp>
        <p:nvSpPr>
          <p:cNvPr id="4" name="">
            <a:extLst xmlns:a="http://schemas.openxmlformats.org/drawingml/2006/main">
              <a:ext uri="{FF2B5EF4-FFF2-40B4-BE49-F238E27FC236}">
                <a16:creationId xmlns:a16="http://schemas.microsoft.com/office/drawing/2014/main" id="{ABE35F81-4128-4F55-AC6F-132BCCF2C18F}"/>
              </a:ext>
            </a:extLst>
          </p:cNvPr>
          <p:cNvSpPr>
            <a:spLocks xmlns:a="http://schemas.openxmlformats.org/drawingml/2006/main" noGrp="1"/>
          </p:cNvSpPr>
          <p:nvPr/>
        </p:nvSpPr>
        <p:spPr>
          <a:xfrm xmlns:a="http://schemas.openxmlformats.org/drawingml/2006/main">
            <a:off x="10696575" y="2790825"/>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El proyecto compila antes de pedir cambios a la IA.</a:t>
            </a:r>
          </a:p>
        </p:txBody>
      </p:sp>
      <p:sp>
        <p:nvSpPr>
          <p:cNvPr id="5" name="">
            <a:extLst xmlns:a="http://schemas.openxmlformats.org/drawingml/2006/main">
              <a:ext uri="{FF2B5EF4-FFF2-40B4-BE49-F238E27FC236}">
                <a16:creationId xmlns:a16="http://schemas.microsoft.com/office/drawing/2014/main" id="{B5249EEF-1540-45D8-B69B-703531886C14}"/>
              </a:ext>
            </a:extLst>
          </p:cNvPr>
          <p:cNvSpPr>
            <a:spLocks xmlns:a="http://schemas.openxmlformats.org/drawingml/2006/main" noGrp="1"/>
          </p:cNvSpPr>
          <p:nvPr/>
        </p:nvSpPr>
        <p:spPr>
          <a:xfrm xmlns:a="http://schemas.openxmlformats.org/drawingml/2006/main">
            <a:off x="10696575" y="4152900"/>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La aplicación conecta a la base de laboratorio.</a:t>
            </a:r>
          </a:p>
        </p:txBody>
      </p:sp>
      <p:sp>
        <p:nvSpPr>
          <p:cNvPr id="6" name="">
            <a:extLst xmlns:a="http://schemas.openxmlformats.org/drawingml/2006/main">
              <a:ext uri="{FF2B5EF4-FFF2-40B4-BE49-F238E27FC236}">
                <a16:creationId xmlns:a16="http://schemas.microsoft.com/office/drawing/2014/main" id="{A6F6EED5-6914-453E-947E-FECED5F689D9}"/>
              </a:ext>
            </a:extLst>
          </p:cNvPr>
          <p:cNvSpPr>
            <a:spLocks xmlns:a="http://schemas.openxmlformats.org/drawingml/2006/main" noGrp="1"/>
          </p:cNvSpPr>
          <p:nvPr/>
        </p:nvSpPr>
        <p:spPr>
          <a:xfrm xmlns:a="http://schemas.openxmlformats.org/drawingml/2006/main">
            <a:off x="10696575" y="5514975"/>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El inicio de sesión y un catálogo funcionan.</a:t>
            </a:r>
          </a:p>
        </p:txBody>
      </p:sp>
      <p:sp>
        <p:nvSpPr>
          <p:cNvPr id="7" name="">
            <a:extLst xmlns:a="http://schemas.openxmlformats.org/drawingml/2006/main">
              <a:ext uri="{FF2B5EF4-FFF2-40B4-BE49-F238E27FC236}">
                <a16:creationId xmlns:a16="http://schemas.microsoft.com/office/drawing/2014/main" id="{26D66A12-0352-4DD8-90DD-92E8612FB0E1}"/>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Resultado esperado: aplicación ejecutándose con datos de desarrollo y sin credenciales en Git.</a:t>
            </a:r>
          </a:p>
        </p:txBody>
      </p:sp>
      <p:sp>
        <p:nvSpPr>
          <p:cNvPr id="8" name="">
            <a:extLst xmlns:a="http://schemas.openxmlformats.org/drawingml/2006/main">
              <a:ext uri="{FF2B5EF4-FFF2-40B4-BE49-F238E27FC236}">
                <a16:creationId xmlns:a16="http://schemas.microsoft.com/office/drawing/2014/main" id="{316C828B-1B57-4BC7-BBD3-EF69DE4E7C1F}"/>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17</a:t>
            </a:r>
          </a:p>
        </p:txBody>
      </p:sp>
    </p:spTree>
    <p:extLst>
      <p:ext uri="{BB962C8B-B14F-4D97-AF65-F5344CB8AC3E}">
        <p14:creationId xmlns:p14="http://schemas.microsoft.com/office/powerpoint/2010/main" val="1678966194"/>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523BEE-5E33-4918-B540-8480FAAC7E2A}"/>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Paso 4 · Contexto duradero en AGENTS.md</a:t>
            </a:r>
          </a:p>
        </p:txBody>
      </p:sp>
      <p:sp>
        <p:nvSpPr>
          <p:cNvPr id="2" name="">
            <a:extLst xmlns:a="http://schemas.openxmlformats.org/drawingml/2006/main">
              <a:ext uri="{FF2B5EF4-FFF2-40B4-BE49-F238E27FC236}">
                <a16:creationId xmlns:a16="http://schemas.microsoft.com/office/drawing/2014/main" id="{E7FBFA32-7F47-4B54-94F8-DBE8786D3A78}"/>
              </a:ext>
            </a:extLst>
          </p:cNvPr>
          <p:cNvSpPr>
            <a:spLocks xmlns:a="http://schemas.openxmlformats.org/drawingml/2006/main" noGrp="1"/>
          </p:cNvSpPr>
          <p:nvPr/>
        </p:nvSpPr>
        <p:spPr>
          <a:xfrm xmlns:a="http://schemas.openxmlformats.org/drawingml/2006/main">
            <a:off x="714375" y="1933575"/>
            <a:ext cx="9477375" cy="519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Landscape TSI</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Contexto</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Aplicación .NET y SQL Server.</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Inspeccionar la solución antes de cambiarla.</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Reglas</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Trabajar en desarrollo.</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Validar permisos en servidor.</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No editar vistas operativas directamente.</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Entrega</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Informar cambios, pruebas y pendientes.</a:t>
            </a:r>
          </a:p>
        </p:txBody>
      </p:sp>
      <p:sp>
        <p:nvSpPr>
          <p:cNvPr id="3" name="">
            <a:extLst xmlns:a="http://schemas.openxmlformats.org/drawingml/2006/main">
              <a:ext uri="{FF2B5EF4-FFF2-40B4-BE49-F238E27FC236}">
                <a16:creationId xmlns:a16="http://schemas.microsoft.com/office/drawing/2014/main" id="{6D95452E-615E-475E-9ADD-DB48D5D5B93E}"/>
              </a:ext>
            </a:extLst>
          </p:cNvPr>
          <p:cNvSpPr>
            <a:spLocks xmlns:a="http://schemas.openxmlformats.org/drawingml/2006/main" noGrp="1"/>
          </p:cNvSpPr>
          <p:nvPr/>
        </p:nvSpPr>
        <p:spPr>
          <a:xfrm xmlns:a="http://schemas.openxmlformats.org/drawingml/2006/main">
            <a:off x="10696575" y="1905000"/>
            <a:ext cx="3943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C77"/>
                </a:solidFill>
                <a:latin typeface="DejaVu Sans"/>
                <a:ea typeface="DejaVu Sans"/>
                <a:cs typeface="DejaVu Sans"/>
              </a:defRPr>
            </a:pPr>
            <a:r>
              <a:rPr sz="2400" b="1">
                <a:solidFill>
                  <a:srgbClr val="087C77"/>
                </a:solidFill>
                <a:latin typeface="DejaVu Sans"/>
                <a:ea typeface="DejaVu Sans"/>
                <a:cs typeface="DejaVu Sans"/>
              </a:rPr>
              <a:t>Tres documentos diferentes</a:t>
            </a:r>
          </a:p>
        </p:txBody>
      </p:sp>
      <p:sp>
        <p:nvSpPr>
          <p:cNvPr id="4" name="">
            <a:extLst xmlns:a="http://schemas.openxmlformats.org/drawingml/2006/main">
              <a:ext uri="{FF2B5EF4-FFF2-40B4-BE49-F238E27FC236}">
                <a16:creationId xmlns:a16="http://schemas.microsoft.com/office/drawing/2014/main" id="{9C2A1676-FF94-4745-B3B7-EDA3841FF36C}"/>
              </a:ext>
            </a:extLst>
          </p:cNvPr>
          <p:cNvSpPr>
            <a:spLocks xmlns:a="http://schemas.openxmlformats.org/drawingml/2006/main" noGrp="1"/>
          </p:cNvSpPr>
          <p:nvPr/>
        </p:nvSpPr>
        <p:spPr>
          <a:xfrm xmlns:a="http://schemas.openxmlformats.org/drawingml/2006/main">
            <a:off x="10696575" y="2790825"/>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AGENTS.md: instrucciones estables para el agente.</a:t>
            </a:r>
          </a:p>
        </p:txBody>
      </p:sp>
      <p:sp>
        <p:nvSpPr>
          <p:cNvPr id="5" name="">
            <a:extLst xmlns:a="http://schemas.openxmlformats.org/drawingml/2006/main">
              <a:ext uri="{FF2B5EF4-FFF2-40B4-BE49-F238E27FC236}">
                <a16:creationId xmlns:a16="http://schemas.microsoft.com/office/drawing/2014/main" id="{A4BAA94E-B618-434F-BA2E-E48BEF3802DA}"/>
              </a:ext>
            </a:extLst>
          </p:cNvPr>
          <p:cNvSpPr>
            <a:spLocks xmlns:a="http://schemas.openxmlformats.org/drawingml/2006/main" noGrp="1"/>
          </p:cNvSpPr>
          <p:nvPr/>
        </p:nvSpPr>
        <p:spPr>
          <a:xfrm xmlns:a="http://schemas.openxmlformats.org/drawingml/2006/main">
            <a:off x="10696575" y="4152900"/>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Especificación: comportamiento de la funcionalidad.</a:t>
            </a:r>
          </a:p>
        </p:txBody>
      </p:sp>
      <p:sp>
        <p:nvSpPr>
          <p:cNvPr id="6" name="">
            <a:extLst xmlns:a="http://schemas.openxmlformats.org/drawingml/2006/main">
              <a:ext uri="{FF2B5EF4-FFF2-40B4-BE49-F238E27FC236}">
                <a16:creationId xmlns:a16="http://schemas.microsoft.com/office/drawing/2014/main" id="{73E19F84-D0FC-42C4-AD13-64E19764E907}"/>
              </a:ext>
            </a:extLst>
          </p:cNvPr>
          <p:cNvSpPr>
            <a:spLocks xmlns:a="http://schemas.openxmlformats.org/drawingml/2006/main" noGrp="1"/>
          </p:cNvSpPr>
          <p:nvPr/>
        </p:nvSpPr>
        <p:spPr>
          <a:xfrm xmlns:a="http://schemas.openxmlformats.org/drawingml/2006/main">
            <a:off x="10696575" y="5514975"/>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tasks.md: tareas y avance de ese cambio.</a:t>
            </a:r>
          </a:p>
        </p:txBody>
      </p:sp>
      <p:sp>
        <p:nvSpPr>
          <p:cNvPr id="7" name="">
            <a:extLst xmlns:a="http://schemas.openxmlformats.org/drawingml/2006/main">
              <a:ext uri="{FF2B5EF4-FFF2-40B4-BE49-F238E27FC236}">
                <a16:creationId xmlns:a16="http://schemas.microsoft.com/office/drawing/2014/main" id="{46A4B8E5-E971-482C-8744-73B06C624C3A}"/>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Resultado esperado: el agente puede explicar las reglas del proyecto antes de modificarlo.</a:t>
            </a:r>
          </a:p>
        </p:txBody>
      </p:sp>
      <p:sp>
        <p:nvSpPr>
          <p:cNvPr id="8" name="">
            <a:extLst xmlns:a="http://schemas.openxmlformats.org/drawingml/2006/main">
              <a:ext uri="{FF2B5EF4-FFF2-40B4-BE49-F238E27FC236}">
                <a16:creationId xmlns:a16="http://schemas.microsoft.com/office/drawing/2014/main" id="{35D508CE-7031-4AD6-AA0D-A27C5AB0F8CA}"/>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18</a:t>
            </a:r>
          </a:p>
        </p:txBody>
      </p:sp>
    </p:spTree>
    <p:extLst>
      <p:ext uri="{BB962C8B-B14F-4D97-AF65-F5344CB8AC3E}">
        <p14:creationId xmlns:p14="http://schemas.microsoft.com/office/powerpoint/2010/main" val="1837874667"/>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788BBFB-95A7-46E4-8BB8-8F9A16C41743}"/>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Paso 5 · ChatGPT ayuda a estructurar el encargo</a:t>
            </a:r>
          </a:p>
        </p:txBody>
      </p:sp>
      <p:sp>
        <p:nvSpPr>
          <p:cNvPr id="2" name="">
            <a:extLst xmlns:a="http://schemas.openxmlformats.org/drawingml/2006/main">
              <a:ext uri="{FF2B5EF4-FFF2-40B4-BE49-F238E27FC236}">
                <a16:creationId xmlns:a16="http://schemas.microsoft.com/office/drawing/2014/main" id="{D0529608-4E41-4A0B-A918-1145B7483F8B}"/>
              </a:ext>
            </a:extLst>
          </p:cNvPr>
          <p:cNvSpPr>
            <a:spLocks xmlns:a="http://schemas.openxmlformats.org/drawingml/2006/main" noGrp="1"/>
          </p:cNvSpPr>
          <p:nvPr/>
        </p:nvSpPr>
        <p:spPr>
          <a:xfrm xmlns:a="http://schemas.openxmlformats.org/drawingml/2006/main">
            <a:off x="714375" y="1933575"/>
            <a:ext cx="9477375" cy="519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Ayúdame a especificar esta funcionalidad.</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CONTEXTO: Landscape TSI, .NET y SQL Server.</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OBJETIVO: asociar empresas a Building Blocks.</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Considera duplicados, permisos por empresa</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y tecnología estándar versus implementada.</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No inventes columnas ni roles.</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Identifica preguntas pendientes y supuestos.</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Entrega alcance y criterios de aceptación.</a:t>
            </a:r>
          </a:p>
        </p:txBody>
      </p:sp>
      <p:sp>
        <p:nvSpPr>
          <p:cNvPr id="3" name="">
            <a:extLst xmlns:a="http://schemas.openxmlformats.org/drawingml/2006/main">
              <a:ext uri="{FF2B5EF4-FFF2-40B4-BE49-F238E27FC236}">
                <a16:creationId xmlns:a16="http://schemas.microsoft.com/office/drawing/2014/main" id="{9C9FCBAF-1F5A-4398-ACD8-6E3FA3C30F4E}"/>
              </a:ext>
            </a:extLst>
          </p:cNvPr>
          <p:cNvSpPr>
            <a:spLocks xmlns:a="http://schemas.openxmlformats.org/drawingml/2006/main" noGrp="1"/>
          </p:cNvSpPr>
          <p:nvPr/>
        </p:nvSpPr>
        <p:spPr>
          <a:xfrm xmlns:a="http://schemas.openxmlformats.org/drawingml/2006/main">
            <a:off x="10696575" y="1905000"/>
            <a:ext cx="3943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C77"/>
                </a:solidFill>
                <a:latin typeface="DejaVu Sans"/>
                <a:ea typeface="DejaVu Sans"/>
                <a:cs typeface="DejaVu Sans"/>
              </a:defRPr>
            </a:pPr>
            <a:r>
              <a:rPr sz="2400" b="1">
                <a:solidFill>
                  <a:srgbClr val="087C77"/>
                </a:solidFill>
                <a:latin typeface="DejaVu Sans"/>
                <a:ea typeface="DejaVu Sans"/>
                <a:cs typeface="DejaVu Sans"/>
              </a:rPr>
              <a:t>Lo que aporta Jean</a:t>
            </a:r>
          </a:p>
        </p:txBody>
      </p:sp>
      <p:sp>
        <p:nvSpPr>
          <p:cNvPr id="4" name="">
            <a:extLst xmlns:a="http://schemas.openxmlformats.org/drawingml/2006/main">
              <a:ext uri="{FF2B5EF4-FFF2-40B4-BE49-F238E27FC236}">
                <a16:creationId xmlns:a16="http://schemas.microsoft.com/office/drawing/2014/main" id="{006F607B-3854-4552-81E6-9B1754576FDE}"/>
              </a:ext>
            </a:extLst>
          </p:cNvPr>
          <p:cNvSpPr>
            <a:spLocks xmlns:a="http://schemas.openxmlformats.org/drawingml/2006/main" noGrp="1"/>
          </p:cNvSpPr>
          <p:nvPr/>
        </p:nvSpPr>
        <p:spPr>
          <a:xfrm xmlns:a="http://schemas.openxmlformats.org/drawingml/2006/main">
            <a:off x="10696575" y="2790825"/>
            <a:ext cx="39147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Necesidad y vocabulario del negocio.</a:t>
            </a:r>
          </a:p>
        </p:txBody>
      </p:sp>
      <p:sp>
        <p:nvSpPr>
          <p:cNvPr id="5" name="">
            <a:extLst xmlns:a="http://schemas.openxmlformats.org/drawingml/2006/main">
              <a:ext uri="{FF2B5EF4-FFF2-40B4-BE49-F238E27FC236}">
                <a16:creationId xmlns:a16="http://schemas.microsoft.com/office/drawing/2014/main" id="{3C21A2B7-5EB6-4EC7-AE89-DDB70F77B408}"/>
              </a:ext>
            </a:extLst>
          </p:cNvPr>
          <p:cNvSpPr>
            <a:spLocks xmlns:a="http://schemas.openxmlformats.org/drawingml/2006/main" noGrp="1"/>
          </p:cNvSpPr>
          <p:nvPr/>
        </p:nvSpPr>
        <p:spPr>
          <a:xfrm xmlns:a="http://schemas.openxmlformats.org/drawingml/2006/main">
            <a:off x="10696575" y="3981450"/>
            <a:ext cx="39147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Relaciones de datos conocidas.</a:t>
            </a:r>
          </a:p>
        </p:txBody>
      </p:sp>
      <p:sp>
        <p:nvSpPr>
          <p:cNvPr id="6" name="">
            <a:extLst xmlns:a="http://schemas.openxmlformats.org/drawingml/2006/main">
              <a:ext uri="{FF2B5EF4-FFF2-40B4-BE49-F238E27FC236}">
                <a16:creationId xmlns:a16="http://schemas.microsoft.com/office/drawing/2014/main" id="{DB7D0F27-3E3B-44CA-825F-581A5CDD304B}"/>
              </a:ext>
            </a:extLst>
          </p:cNvPr>
          <p:cNvSpPr>
            <a:spLocks xmlns:a="http://schemas.openxmlformats.org/drawingml/2006/main" noGrp="1"/>
          </p:cNvSpPr>
          <p:nvPr/>
        </p:nvSpPr>
        <p:spPr>
          <a:xfrm xmlns:a="http://schemas.openxmlformats.org/drawingml/2006/main">
            <a:off x="10696575" y="5172075"/>
            <a:ext cx="39147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Restricciones y ejemplos.</a:t>
            </a:r>
          </a:p>
        </p:txBody>
      </p:sp>
      <p:sp>
        <p:nvSpPr>
          <p:cNvPr id="7" name="">
            <a:extLst xmlns:a="http://schemas.openxmlformats.org/drawingml/2006/main">
              <a:ext uri="{FF2B5EF4-FFF2-40B4-BE49-F238E27FC236}">
                <a16:creationId xmlns:a16="http://schemas.microsoft.com/office/drawing/2014/main" id="{481B9D01-4814-4112-9AA2-EE7B701F2EC6}"/>
              </a:ext>
            </a:extLst>
          </p:cNvPr>
          <p:cNvSpPr>
            <a:spLocks xmlns:a="http://schemas.openxmlformats.org/drawingml/2006/main" noGrp="1"/>
          </p:cNvSpPr>
          <p:nvPr/>
        </p:nvSpPr>
        <p:spPr>
          <a:xfrm xmlns:a="http://schemas.openxmlformats.org/drawingml/2006/main">
            <a:off x="10696575" y="6362700"/>
            <a:ext cx="39147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Correcciones a lo que propone la IA.</a:t>
            </a:r>
          </a:p>
        </p:txBody>
      </p:sp>
      <p:sp>
        <p:nvSpPr>
          <p:cNvPr id="8" name="">
            <a:extLst xmlns:a="http://schemas.openxmlformats.org/drawingml/2006/main">
              <a:ext uri="{FF2B5EF4-FFF2-40B4-BE49-F238E27FC236}">
                <a16:creationId xmlns:a16="http://schemas.microsoft.com/office/drawing/2014/main" id="{E833244D-D1BE-44C2-B3B5-15DE717F450E}"/>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ChatGPT prepara una propuesta. El responsable del producto resuelve las decisiones del negocio.</a:t>
            </a:r>
          </a:p>
        </p:txBody>
      </p:sp>
      <p:sp>
        <p:nvSpPr>
          <p:cNvPr id="9" name="">
            <a:extLst xmlns:a="http://schemas.openxmlformats.org/drawingml/2006/main">
              <a:ext uri="{FF2B5EF4-FFF2-40B4-BE49-F238E27FC236}">
                <a16:creationId xmlns:a16="http://schemas.microsoft.com/office/drawing/2014/main" id="{F6757B69-E14B-43F5-9A9D-806F291A729F}"/>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19</a:t>
            </a:r>
          </a:p>
        </p:txBody>
      </p:sp>
    </p:spTree>
    <p:extLst>
      <p:ext uri="{BB962C8B-B14F-4D97-AF65-F5344CB8AC3E}">
        <p14:creationId xmlns:p14="http://schemas.microsoft.com/office/powerpoint/2010/main" val="1674995155"/>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70E657-3566-4DED-B4B0-8B37F21CA4E7}"/>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Paso 6 · Codex contrasta el encargo con el código</a:t>
            </a:r>
          </a:p>
        </p:txBody>
      </p:sp>
      <p:sp>
        <p:nvSpPr>
          <p:cNvPr id="2" name="">
            <a:extLst xmlns:a="http://schemas.openxmlformats.org/drawingml/2006/main">
              <a:ext uri="{FF2B5EF4-FFF2-40B4-BE49-F238E27FC236}">
                <a16:creationId xmlns:a16="http://schemas.microsoft.com/office/drawing/2014/main" id="{FABC284B-00EB-4076-B1D3-77476EE5080C}"/>
              </a:ext>
            </a:extLst>
          </p:cNvPr>
          <p:cNvSpPr>
            <a:spLocks xmlns:a="http://schemas.openxmlformats.org/drawingml/2006/main" noGrp="1"/>
          </p:cNvSpPr>
          <p:nvPr/>
        </p:nvSpPr>
        <p:spPr>
          <a:xfrm xmlns:a="http://schemas.openxmlformats.org/drawingml/2006/main">
            <a:off x="714375" y="1933575"/>
            <a:ext cx="9477375" cy="519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Lee AGENTS.md y revisa la solución.</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Localiza las entidades, tablas y permisos</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relacionados con Building Blocks y empresas.</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Contrasta esta propuesta con lo existente.</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Identifica diferencias y dependencias.</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Prepara alcance, diseño y tareas.</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En esta etapa no implementes cambios.</a:t>
            </a:r>
          </a:p>
        </p:txBody>
      </p:sp>
      <p:sp>
        <p:nvSpPr>
          <p:cNvPr id="3" name="">
            <a:extLst xmlns:a="http://schemas.openxmlformats.org/drawingml/2006/main">
              <a:ext uri="{FF2B5EF4-FFF2-40B4-BE49-F238E27FC236}">
                <a16:creationId xmlns:a16="http://schemas.microsoft.com/office/drawing/2014/main" id="{F60A3829-AD27-4D29-A228-766D1FC1BBE3}"/>
              </a:ext>
            </a:extLst>
          </p:cNvPr>
          <p:cNvSpPr>
            <a:spLocks xmlns:a="http://schemas.openxmlformats.org/drawingml/2006/main" noGrp="1"/>
          </p:cNvSpPr>
          <p:nvPr/>
        </p:nvSpPr>
        <p:spPr>
          <a:xfrm xmlns:a="http://schemas.openxmlformats.org/drawingml/2006/main">
            <a:off x="10696575" y="1905000"/>
            <a:ext cx="3943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C77"/>
                </a:solidFill>
                <a:latin typeface="DejaVu Sans"/>
                <a:ea typeface="DejaVu Sans"/>
                <a:cs typeface="DejaVu Sans"/>
              </a:defRPr>
            </a:pPr>
            <a:r>
              <a:rPr sz="2400" b="1">
                <a:solidFill>
                  <a:srgbClr val="087C77"/>
                </a:solidFill>
                <a:latin typeface="DejaVu Sans"/>
                <a:ea typeface="DejaVu Sans"/>
                <a:cs typeface="DejaVu Sans"/>
              </a:rPr>
              <a:t>Inicio y acceso</a:t>
            </a:r>
          </a:p>
        </p:txBody>
      </p:sp>
      <p:sp>
        <p:nvSpPr>
          <p:cNvPr id="4" name="">
            <a:extLst xmlns:a="http://schemas.openxmlformats.org/drawingml/2006/main">
              <a:ext uri="{FF2B5EF4-FFF2-40B4-BE49-F238E27FC236}">
                <a16:creationId xmlns:a16="http://schemas.microsoft.com/office/drawing/2014/main" id="{F3668D08-999D-4B03-9DE5-5ABF36BA4968}"/>
              </a:ext>
            </a:extLst>
          </p:cNvPr>
          <p:cNvSpPr>
            <a:spLocks xmlns:a="http://schemas.openxmlformats.org/drawingml/2006/main" noGrp="1"/>
          </p:cNvSpPr>
          <p:nvPr/>
        </p:nvSpPr>
        <p:spPr>
          <a:xfrm xmlns:a="http://schemas.openxmlformats.org/drawingml/2006/main">
            <a:off x="10696575" y="2790825"/>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Ejecutar codex desde la raíz del repositorio.</a:t>
            </a:r>
          </a:p>
        </p:txBody>
      </p:sp>
      <p:sp>
        <p:nvSpPr>
          <p:cNvPr id="5" name="">
            <a:extLst xmlns:a="http://schemas.openxmlformats.org/drawingml/2006/main">
              <a:ext uri="{FF2B5EF4-FFF2-40B4-BE49-F238E27FC236}">
                <a16:creationId xmlns:a16="http://schemas.microsoft.com/office/drawing/2014/main" id="{E4A5241D-AF78-44D1-A0EE-E9893A092AD5}"/>
              </a:ext>
            </a:extLst>
          </p:cNvPr>
          <p:cNvSpPr>
            <a:spLocks xmlns:a="http://schemas.openxmlformats.org/drawingml/2006/main" noGrp="1"/>
          </p:cNvSpPr>
          <p:nvPr/>
        </p:nvSpPr>
        <p:spPr>
          <a:xfrm xmlns:a="http://schemas.openxmlformats.org/drawingml/2006/main">
            <a:off x="10696575" y="4152900"/>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Completar el inicio de sesión disponible para la cuenta.</a:t>
            </a:r>
          </a:p>
        </p:txBody>
      </p:sp>
      <p:sp>
        <p:nvSpPr>
          <p:cNvPr id="6" name="">
            <a:extLst xmlns:a="http://schemas.openxmlformats.org/drawingml/2006/main">
              <a:ext uri="{FF2B5EF4-FFF2-40B4-BE49-F238E27FC236}">
                <a16:creationId xmlns:a16="http://schemas.microsoft.com/office/drawing/2014/main" id="{3163DBD9-723B-4563-BC75-FDDFD0541E0D}"/>
              </a:ext>
            </a:extLst>
          </p:cNvPr>
          <p:cNvSpPr>
            <a:spLocks xmlns:a="http://schemas.openxmlformats.org/drawingml/2006/main" noGrp="1"/>
          </p:cNvSpPr>
          <p:nvPr/>
        </p:nvSpPr>
        <p:spPr>
          <a:xfrm xmlns:a="http://schemas.openxmlformats.org/drawingml/2006/main">
            <a:off x="10696575" y="5514975"/>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Confirmar la carpeta y los permisos del agente.</a:t>
            </a:r>
          </a:p>
        </p:txBody>
      </p:sp>
      <p:sp>
        <p:nvSpPr>
          <p:cNvPr id="7" name="">
            <a:extLst xmlns:a="http://schemas.openxmlformats.org/drawingml/2006/main">
              <a:ext uri="{FF2B5EF4-FFF2-40B4-BE49-F238E27FC236}">
                <a16:creationId xmlns:a16="http://schemas.microsoft.com/office/drawing/2014/main" id="{FA2D2AF7-9D2A-4DE7-9556-2EC550596BED}"/>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Resultado esperado: propuesta vinculada a archivos reales y diferencias explícitas con el requisito.</a:t>
            </a:r>
          </a:p>
        </p:txBody>
      </p:sp>
      <p:sp>
        <p:nvSpPr>
          <p:cNvPr id="8" name="">
            <a:extLst xmlns:a="http://schemas.openxmlformats.org/drawingml/2006/main">
              <a:ext uri="{FF2B5EF4-FFF2-40B4-BE49-F238E27FC236}">
                <a16:creationId xmlns:a16="http://schemas.microsoft.com/office/drawing/2014/main" id="{A95D9B03-6B5D-4FF4-81F5-DFE8D5772D0D}"/>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20</a:t>
            </a:r>
          </a:p>
        </p:txBody>
      </p:sp>
    </p:spTree>
    <p:extLst>
      <p:ext uri="{BB962C8B-B14F-4D97-AF65-F5344CB8AC3E}">
        <p14:creationId xmlns:p14="http://schemas.microsoft.com/office/powerpoint/2010/main" val="1524753576"/>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C334C36-1D3C-40F6-A474-C08E5948C4EB}"/>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Paso 7 · Inicialización de OpenSpec</a:t>
            </a:r>
          </a:p>
        </p:txBody>
      </p:sp>
      <p:sp>
        <p:nvSpPr>
          <p:cNvPr id="2" name="">
            <a:extLst xmlns:a="http://schemas.openxmlformats.org/drawingml/2006/main">
              <a:ext uri="{FF2B5EF4-FFF2-40B4-BE49-F238E27FC236}">
                <a16:creationId xmlns:a16="http://schemas.microsoft.com/office/drawing/2014/main" id="{C53D0054-4BCD-436A-9A5B-A7A2527F4854}"/>
              </a:ext>
            </a:extLst>
          </p:cNvPr>
          <p:cNvSpPr>
            <a:spLocks xmlns:a="http://schemas.openxmlformats.org/drawingml/2006/main" noGrp="1"/>
          </p:cNvSpPr>
          <p:nvPr/>
        </p:nvSpPr>
        <p:spPr>
          <a:xfrm xmlns:a="http://schemas.openxmlformats.org/drawingml/2006/main">
            <a:off x="714375" y="1933575"/>
            <a:ext cx="9477375" cy="519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En la raíz del repositorio</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openspec init</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Selecciona el agente en el asistente.</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Revisa los archivos creados.</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git status</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Consulta la ayuda de tu instalación</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openspec --help</a:t>
            </a:r>
          </a:p>
        </p:txBody>
      </p:sp>
      <p:sp>
        <p:nvSpPr>
          <p:cNvPr id="3" name="">
            <a:extLst xmlns:a="http://schemas.openxmlformats.org/drawingml/2006/main">
              <a:ext uri="{FF2B5EF4-FFF2-40B4-BE49-F238E27FC236}">
                <a16:creationId xmlns:a16="http://schemas.microsoft.com/office/drawing/2014/main" id="{591D19C0-0C30-4DE3-8A48-777FF1D2B73D}"/>
              </a:ext>
            </a:extLst>
          </p:cNvPr>
          <p:cNvSpPr>
            <a:spLocks xmlns:a="http://schemas.openxmlformats.org/drawingml/2006/main" noGrp="1"/>
          </p:cNvSpPr>
          <p:nvPr/>
        </p:nvSpPr>
        <p:spPr>
          <a:xfrm xmlns:a="http://schemas.openxmlformats.org/drawingml/2006/main">
            <a:off x="10696575" y="1905000"/>
            <a:ext cx="3943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C77"/>
                </a:solidFill>
                <a:latin typeface="DejaVu Sans"/>
                <a:ea typeface="DejaVu Sans"/>
                <a:cs typeface="DejaVu Sans"/>
              </a:defRPr>
            </a:pPr>
            <a:r>
              <a:rPr sz="2400" b="1">
                <a:solidFill>
                  <a:srgbClr val="087C77"/>
                </a:solidFill>
                <a:latin typeface="DejaVu Sans"/>
                <a:ea typeface="DejaVu Sans"/>
                <a:cs typeface="DejaVu Sans"/>
              </a:rPr>
              <a:t>Qué debemos observar</a:t>
            </a:r>
          </a:p>
        </p:txBody>
      </p:sp>
      <p:sp>
        <p:nvSpPr>
          <p:cNvPr id="4" name="">
            <a:extLst xmlns:a="http://schemas.openxmlformats.org/drawingml/2006/main">
              <a:ext uri="{FF2B5EF4-FFF2-40B4-BE49-F238E27FC236}">
                <a16:creationId xmlns:a16="http://schemas.microsoft.com/office/drawing/2014/main" id="{B94E9EA6-6193-46E3-AC28-164776EADE51}"/>
              </a:ext>
            </a:extLst>
          </p:cNvPr>
          <p:cNvSpPr>
            <a:spLocks xmlns:a="http://schemas.openxmlformats.org/drawingml/2006/main" noGrp="1"/>
          </p:cNvSpPr>
          <p:nvPr/>
        </p:nvSpPr>
        <p:spPr>
          <a:xfrm xmlns:a="http://schemas.openxmlformats.org/drawingml/2006/main">
            <a:off x="10696575" y="2790825"/>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Aparece la estructura openspec/.</a:t>
            </a:r>
          </a:p>
        </p:txBody>
      </p:sp>
      <p:sp>
        <p:nvSpPr>
          <p:cNvPr id="5" name="">
            <a:extLst xmlns:a="http://schemas.openxmlformats.org/drawingml/2006/main">
              <a:ext uri="{FF2B5EF4-FFF2-40B4-BE49-F238E27FC236}">
                <a16:creationId xmlns:a16="http://schemas.microsoft.com/office/drawing/2014/main" id="{6658F25A-90F5-43E9-8D4E-AF274CBB3F98}"/>
              </a:ext>
            </a:extLst>
          </p:cNvPr>
          <p:cNvSpPr>
            <a:spLocks xmlns:a="http://schemas.openxmlformats.org/drawingml/2006/main" noGrp="1"/>
          </p:cNvSpPr>
          <p:nvPr/>
        </p:nvSpPr>
        <p:spPr>
          <a:xfrm xmlns:a="http://schemas.openxmlformats.org/drawingml/2006/main">
            <a:off x="10696575" y="4152900"/>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Se configuran las integraciones seleccionadas.</a:t>
            </a:r>
          </a:p>
        </p:txBody>
      </p:sp>
      <p:sp>
        <p:nvSpPr>
          <p:cNvPr id="6" name="">
            <a:extLst xmlns:a="http://schemas.openxmlformats.org/drawingml/2006/main">
              <a:ext uri="{FF2B5EF4-FFF2-40B4-BE49-F238E27FC236}">
                <a16:creationId xmlns:a16="http://schemas.microsoft.com/office/drawing/2014/main" id="{77843440-8E30-456D-9FFA-3A903D1DA98E}"/>
              </a:ext>
            </a:extLst>
          </p:cNvPr>
          <p:cNvSpPr>
            <a:spLocks xmlns:a="http://schemas.openxmlformats.org/drawingml/2006/main" noGrp="1"/>
          </p:cNvSpPr>
          <p:nvPr/>
        </p:nvSpPr>
        <p:spPr>
          <a:xfrm xmlns:a="http://schemas.openxmlformats.org/drawingml/2006/main">
            <a:off x="10696575" y="5514975"/>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El instalador indica cómo invocar los flujos en el agente.</a:t>
            </a:r>
          </a:p>
        </p:txBody>
      </p:sp>
      <p:sp>
        <p:nvSpPr>
          <p:cNvPr id="7" name="">
            <a:extLst xmlns:a="http://schemas.openxmlformats.org/drawingml/2006/main">
              <a:ext uri="{FF2B5EF4-FFF2-40B4-BE49-F238E27FC236}">
                <a16:creationId xmlns:a16="http://schemas.microsoft.com/office/drawing/2014/main" id="{D3D517ED-189A-4433-B8B0-C6829CD492F5}"/>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OpenSpec organiza el proceso. El agente sigue siendo quien interpreta y ejecuta las tareas.</a:t>
            </a:r>
          </a:p>
        </p:txBody>
      </p:sp>
      <p:sp>
        <p:nvSpPr>
          <p:cNvPr id="8" name="">
            <a:extLst xmlns:a="http://schemas.openxmlformats.org/drawingml/2006/main">
              <a:ext uri="{FF2B5EF4-FFF2-40B4-BE49-F238E27FC236}">
                <a16:creationId xmlns:a16="http://schemas.microsoft.com/office/drawing/2014/main" id="{7462FA4A-505D-4155-81BC-C29E57C65E23}"/>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21</a:t>
            </a:r>
          </a:p>
        </p:txBody>
      </p:sp>
    </p:spTree>
    <p:extLst>
      <p:ext uri="{BB962C8B-B14F-4D97-AF65-F5344CB8AC3E}">
        <p14:creationId xmlns:p14="http://schemas.microsoft.com/office/powerpoint/2010/main" val="1679255481"/>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5413FDA-AAFC-4DB9-9DE4-6C95AF89C5F6}"/>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Los archivos de OpenSpec tienen funciones distintas</a:t>
            </a:r>
          </a:p>
        </p:txBody>
      </p:sp>
      <p:graphicFrame>
        <p:nvGraphicFramePr>
          <p:cNvPr id="6" name=""/>
          <p:cNvGraphicFramePr/>
          <p:nvPr/>
        </p:nvGraphicFramePr>
        <p:xfrm>
          <a:off xmlns:a="http://schemas.openxmlformats.org/drawingml/2006/main" x="628650" y="1952625"/>
          <a:ext xmlns:a="http://schemas.openxmlformats.org/drawingml/2006/main" cx="14001750" cy="5029200"/>
        </p:xfrm>
        <a:graphic xmlns:a="http://schemas.openxmlformats.org/drawingml/2006/main">
          <a:graphicData uri="http://schemas.openxmlformats.org/drawingml/2006/table">
            <a:tbl>
              <a:tblPr/>
              <a:tblGrid>
                <a:gridCol w="3381375"/>
                <a:gridCol w="5619750"/>
                <a:gridCol w="5000625"/>
              </a:tblGrid>
              <a:tr h="838200">
                <a:tc>
                  <a:txBody>
                    <a:bodyPr/>
                    <a:lstStyle/>
                    <a:p>
                      <a:r>
                        <a:rPr sz="2100" b="1">
                          <a:solidFill>
                            <a:srgbClr val="FFFFFF"/>
                          </a:solidFill>
                          <a:latin typeface="DejaVu Sans"/>
                          <a:ea typeface="DejaVu Sans"/>
                          <a:cs typeface="DejaVu Sans"/>
                        </a:rPr>
                        <a:t>Artefacto</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Qué contiene</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Ejemplo del caso</a:t>
                      </a:r>
                    </a:p>
                  </a:txBody>
                  <a:tcPr marL="91440" marR="91440" marT="45720" marB="45720">
                    <a:solidFill>
                      <a:srgbClr val="183F4C"/>
                    </a:solidFill>
                  </a:tcPr>
                </a:tc>
              </a:tr>
              <a:tr h="838200">
                <a:tc>
                  <a:txBody>
                    <a:bodyPr/>
                    <a:lstStyle/>
                    <a:p>
                      <a:r>
                        <a:rPr sz="2100" b="0">
                          <a:solidFill>
                            <a:srgbClr val="152F41"/>
                          </a:solidFill>
                          <a:latin typeface="DejaVu Sans"/>
                          <a:ea typeface="DejaVu Sans"/>
                          <a:cs typeface="DejaVu Sans"/>
                        </a:rPr>
                        <a:t>specs/ vigente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Comportamiento documentado del sistema</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Reglas actuales de catálogos</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proposal.md</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Motivo y alcance del cambio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Registrar empresas por Building Block</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specs/ del cambio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Requisitos nuevos o modificados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Evitar asociaciones duplicadas</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design.md</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Decisiones y alternativas técnicas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Relación e índice de unicidad</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tasks.md</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Trabajo por realizar y avance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Datos, servidor, formulario, pruebas</a:t>
                      </a:r>
                    </a:p>
                  </a:txBody>
                  <a:tcPr marL="91440" marR="91440" marT="45720" marB="45720">
                    <a:solidFill>
                      <a:srgbClr val="F7F5EF"/>
                    </a:solidFill>
                  </a:tcPr>
                </a:tc>
              </a:tr>
            </a:tbl>
          </a:graphicData>
        </a:graphic>
      </p:graphicFrame>
      <p:sp>
        <p:nvSpPr>
          <p:cNvPr id="3" name="">
            <a:extLst xmlns:a="http://schemas.openxmlformats.org/drawingml/2006/main">
              <a:ext uri="{FF2B5EF4-FFF2-40B4-BE49-F238E27FC236}">
                <a16:creationId xmlns:a16="http://schemas.microsoft.com/office/drawing/2014/main" id="{95D08E39-DA76-4E18-B0A2-053DE9010C44}"/>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La carpeta del cambio agrupa la intención, el diseño y el trabajo relacionado.</a:t>
            </a:r>
          </a:p>
        </p:txBody>
      </p:sp>
      <p:sp>
        <p:nvSpPr>
          <p:cNvPr id="4" name="">
            <a:extLst xmlns:a="http://schemas.openxmlformats.org/drawingml/2006/main">
              <a:ext uri="{FF2B5EF4-FFF2-40B4-BE49-F238E27FC236}">
                <a16:creationId xmlns:a16="http://schemas.microsoft.com/office/drawing/2014/main" id="{CEFD1EA3-0AE0-4649-A798-0A1164C3AC6F}"/>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22</a:t>
            </a:r>
          </a:p>
        </p:txBody>
      </p:sp>
    </p:spTree>
    <p:extLst>
      <p:ext uri="{BB962C8B-B14F-4D97-AF65-F5344CB8AC3E}">
        <p14:creationId xmlns:p14="http://schemas.microsoft.com/office/powerpoint/2010/main" val="626855223"/>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A01BA5-87F8-448A-9757-C0002B842EAA}"/>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Un requisito en el formato de OpenSpec</a:t>
            </a:r>
          </a:p>
        </p:txBody>
      </p:sp>
      <p:sp>
        <p:nvSpPr>
          <p:cNvPr id="2" name="">
            <a:extLst xmlns:a="http://schemas.openxmlformats.org/drawingml/2006/main">
              <a:ext uri="{FF2B5EF4-FFF2-40B4-BE49-F238E27FC236}">
                <a16:creationId xmlns:a16="http://schemas.microsoft.com/office/drawing/2014/main" id="{E49135E4-0C3B-4536-80F5-A16B29E4AF66}"/>
              </a:ext>
            </a:extLst>
          </p:cNvPr>
          <p:cNvSpPr>
            <a:spLocks xmlns:a="http://schemas.openxmlformats.org/drawingml/2006/main" noGrp="1"/>
          </p:cNvSpPr>
          <p:nvPr/>
        </p:nvSpPr>
        <p:spPr>
          <a:xfrm xmlns:a="http://schemas.openxmlformats.org/drawingml/2006/main">
            <a:off x="714375" y="1933575"/>
            <a:ext cx="9477375" cy="519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ADDED Requirements</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Requirement: Asociación única</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El sistema MUST impedir duplicados</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del par Building Block y empresa.</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Scenario: Asociación existente</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GIVEN Alfa ya está asociada al bloque</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WHEN se intenta registrar el mismo par</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THEN se rechaza el duplicado</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AND permanece un único registro</a:t>
            </a:r>
          </a:p>
        </p:txBody>
      </p:sp>
      <p:sp>
        <p:nvSpPr>
          <p:cNvPr id="3" name="">
            <a:extLst xmlns:a="http://schemas.openxmlformats.org/drawingml/2006/main">
              <a:ext uri="{FF2B5EF4-FFF2-40B4-BE49-F238E27FC236}">
                <a16:creationId xmlns:a16="http://schemas.microsoft.com/office/drawing/2014/main" id="{240B23C9-14E5-4452-B52B-2710C4984696}"/>
              </a:ext>
            </a:extLst>
          </p:cNvPr>
          <p:cNvSpPr>
            <a:spLocks xmlns:a="http://schemas.openxmlformats.org/drawingml/2006/main" noGrp="1"/>
          </p:cNvSpPr>
          <p:nvPr/>
        </p:nvSpPr>
        <p:spPr>
          <a:xfrm xmlns:a="http://schemas.openxmlformats.org/drawingml/2006/main">
            <a:off x="10696575" y="1905000"/>
            <a:ext cx="3943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C77"/>
                </a:solidFill>
                <a:latin typeface="DejaVu Sans"/>
                <a:ea typeface="DejaVu Sans"/>
                <a:cs typeface="DejaVu Sans"/>
              </a:defRPr>
            </a:pPr>
            <a:r>
              <a:rPr sz="2400" b="1">
                <a:solidFill>
                  <a:srgbClr val="087C77"/>
                </a:solidFill>
                <a:latin typeface="DejaVu Sans"/>
                <a:ea typeface="DejaVu Sans"/>
                <a:cs typeface="DejaVu Sans"/>
              </a:rPr>
              <a:t>Por qué está escrito así</a:t>
            </a:r>
          </a:p>
        </p:txBody>
      </p:sp>
      <p:sp>
        <p:nvSpPr>
          <p:cNvPr id="4" name="">
            <a:extLst xmlns:a="http://schemas.openxmlformats.org/drawingml/2006/main">
              <a:ext uri="{FF2B5EF4-FFF2-40B4-BE49-F238E27FC236}">
                <a16:creationId xmlns:a16="http://schemas.microsoft.com/office/drawing/2014/main" id="{79D15F5E-A4D5-438C-8CAB-5F2CEC986B0E}"/>
              </a:ext>
            </a:extLst>
          </p:cNvPr>
          <p:cNvSpPr>
            <a:spLocks xmlns:a="http://schemas.openxmlformats.org/drawingml/2006/main" noGrp="1"/>
          </p:cNvSpPr>
          <p:nvPr/>
        </p:nvSpPr>
        <p:spPr>
          <a:xfrm xmlns:a="http://schemas.openxmlformats.org/drawingml/2006/main">
            <a:off x="10696575" y="2790825"/>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El requisito expresa una regla verificable.</a:t>
            </a:r>
          </a:p>
        </p:txBody>
      </p:sp>
      <p:sp>
        <p:nvSpPr>
          <p:cNvPr id="5" name="">
            <a:extLst xmlns:a="http://schemas.openxmlformats.org/drawingml/2006/main">
              <a:ext uri="{FF2B5EF4-FFF2-40B4-BE49-F238E27FC236}">
                <a16:creationId xmlns:a16="http://schemas.microsoft.com/office/drawing/2014/main" id="{C5CF8E16-2FA6-43CE-8D2D-A32F3DD70D6A}"/>
              </a:ext>
            </a:extLst>
          </p:cNvPr>
          <p:cNvSpPr>
            <a:spLocks xmlns:a="http://schemas.openxmlformats.org/drawingml/2006/main" noGrp="1"/>
          </p:cNvSpPr>
          <p:nvPr/>
        </p:nvSpPr>
        <p:spPr>
          <a:xfrm xmlns:a="http://schemas.openxmlformats.org/drawingml/2006/main">
            <a:off x="10696575" y="4152900"/>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El escenario concreta una situación.</a:t>
            </a:r>
          </a:p>
        </p:txBody>
      </p:sp>
      <p:sp>
        <p:nvSpPr>
          <p:cNvPr id="6" name="">
            <a:extLst xmlns:a="http://schemas.openxmlformats.org/drawingml/2006/main">
              <a:ext uri="{FF2B5EF4-FFF2-40B4-BE49-F238E27FC236}">
                <a16:creationId xmlns:a16="http://schemas.microsoft.com/office/drawing/2014/main" id="{39E01B77-A708-4C78-A091-A1BC1AFBBD9B}"/>
              </a:ext>
            </a:extLst>
          </p:cNvPr>
          <p:cNvSpPr>
            <a:spLocks xmlns:a="http://schemas.openxmlformats.org/drawingml/2006/main" noGrp="1"/>
          </p:cNvSpPr>
          <p:nvPr/>
        </p:nvSpPr>
        <p:spPr>
          <a:xfrm xmlns:a="http://schemas.openxmlformats.org/drawingml/2006/main">
            <a:off x="10696575" y="5514975"/>
            <a:ext cx="39147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Los encabezados conservan la sintaxis del framework.</a:t>
            </a:r>
          </a:p>
        </p:txBody>
      </p:sp>
      <p:sp>
        <p:nvSpPr>
          <p:cNvPr id="7" name="">
            <a:extLst xmlns:a="http://schemas.openxmlformats.org/drawingml/2006/main">
              <a:ext uri="{FF2B5EF4-FFF2-40B4-BE49-F238E27FC236}">
                <a16:creationId xmlns:a16="http://schemas.microsoft.com/office/drawing/2014/main" id="{EF22FB44-CEF8-40C1-A3E1-D49FA5F09676}"/>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La especificación es editable y se versiona junto con el cambio.</a:t>
            </a:r>
          </a:p>
        </p:txBody>
      </p:sp>
      <p:sp>
        <p:nvSpPr>
          <p:cNvPr id="8" name="">
            <a:extLst xmlns:a="http://schemas.openxmlformats.org/drawingml/2006/main">
              <a:ext uri="{FF2B5EF4-FFF2-40B4-BE49-F238E27FC236}">
                <a16:creationId xmlns:a16="http://schemas.microsoft.com/office/drawing/2014/main" id="{254F6612-16DD-4788-B9A6-936846FAD4B7}"/>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23</a:t>
            </a:r>
          </a:p>
        </p:txBody>
      </p:sp>
    </p:spTree>
    <p:extLst>
      <p:ext uri="{BB962C8B-B14F-4D97-AF65-F5344CB8AC3E}">
        <p14:creationId xmlns:p14="http://schemas.microsoft.com/office/powerpoint/2010/main" val="677890258"/>
      </p:ext>
    </p:extLst>
  </p:cSld>
</p:sld>
</file>

<file path=ppt/slides/slide2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A66682F-5562-4373-AEDA-1FA59348A148}"/>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Terminal y chat del agente: comandos diferentes</a:t>
            </a:r>
          </a:p>
        </p:txBody>
      </p:sp>
      <p:graphicFrame>
        <p:nvGraphicFramePr>
          <p:cNvPr id="6" name=""/>
          <p:cNvGraphicFramePr/>
          <p:nvPr/>
        </p:nvGraphicFramePr>
        <p:xfrm>
          <a:off xmlns:a="http://schemas.openxmlformats.org/drawingml/2006/main" x="628650" y="1952625"/>
          <a:ext xmlns:a="http://schemas.openxmlformats.org/drawingml/2006/main" cx="14001750" cy="5067300"/>
        </p:xfrm>
        <a:graphic xmlns:a="http://schemas.openxmlformats.org/drawingml/2006/main">
          <a:graphicData uri="http://schemas.openxmlformats.org/drawingml/2006/table">
            <a:tbl>
              <a:tblPr/>
              <a:tblGrid>
                <a:gridCol w="2952750"/>
                <a:gridCol w="5715000"/>
                <a:gridCol w="5334000"/>
              </a:tblGrid>
              <a:tr h="723900">
                <a:tc>
                  <a:txBody>
                    <a:bodyPr/>
                    <a:lstStyle/>
                    <a:p>
                      <a:r>
                        <a:rPr sz="2100" b="1">
                          <a:solidFill>
                            <a:srgbClr val="FFFFFF"/>
                          </a:solidFill>
                          <a:latin typeface="DejaVu Sans"/>
                          <a:ea typeface="DejaVu Sans"/>
                          <a:cs typeface="DejaVu Sans"/>
                        </a:rPr>
                        <a:t>Dónde</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Ejemplo</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Propósito</a:t>
                      </a:r>
                    </a:p>
                  </a:txBody>
                  <a:tcPr marL="91440" marR="91440" marT="45720" marB="45720">
                    <a:solidFill>
                      <a:srgbClr val="183F4C"/>
                    </a:solidFill>
                  </a:tcPr>
                </a:tc>
              </a:tr>
              <a:tr h="723900">
                <a:tc>
                  <a:txBody>
                    <a:bodyPr/>
                    <a:lstStyle/>
                    <a:p>
                      <a:r>
                        <a:rPr sz="2100" b="0">
                          <a:solidFill>
                            <a:srgbClr val="152F41"/>
                          </a:solidFill>
                          <a:latin typeface="DejaVu Sans"/>
                          <a:ea typeface="DejaVu Sans"/>
                          <a:cs typeface="DejaVu Sans"/>
                        </a:rPr>
                        <a:t>PowerShell</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openspec init</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Preparar el proyecto</a:t>
                      </a:r>
                    </a:p>
                  </a:txBody>
                  <a:tcPr marL="91440" marR="91440" marT="45720" marB="45720">
                    <a:solidFill>
                      <a:srgbClr val="F7F5EF"/>
                    </a:solidFill>
                  </a:tcPr>
                </a:tc>
              </a:tr>
              <a:tr h="723900">
                <a:tc>
                  <a:txBody>
                    <a:bodyPr/>
                    <a:lstStyle/>
                    <a:p>
                      <a:r>
                        <a:rPr sz="2100" b="0">
                          <a:solidFill>
                            <a:srgbClr val="152F41"/>
                          </a:solidFill>
                          <a:latin typeface="DejaVu Sans"/>
                          <a:ea typeface="DejaVu Sans"/>
                          <a:cs typeface="DejaVu Sans"/>
                        </a:rPr>
                        <a:t>PowerShell</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openspec validate --all</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Revisar documentos y estructura</a:t>
                      </a:r>
                    </a:p>
                  </a:txBody>
                  <a:tcPr marL="91440" marR="91440" marT="45720" marB="45720">
                    <a:solidFill>
                      <a:srgbClr val="F7F5EF"/>
                    </a:solidFill>
                  </a:tcPr>
                </a:tc>
              </a:tr>
              <a:tr h="723900">
                <a:tc>
                  <a:txBody>
                    <a:bodyPr/>
                    <a:lstStyle/>
                    <a:p>
                      <a:r>
                        <a:rPr sz="2100" b="0">
                          <a:solidFill>
                            <a:srgbClr val="152F41"/>
                          </a:solidFill>
                          <a:latin typeface="DejaVu Sans"/>
                          <a:ea typeface="DejaVu Sans"/>
                          <a:cs typeface="DejaVu Sans"/>
                        </a:rPr>
                        <a:t>Chat del agente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/opsx:explore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Analizar la necesidad</a:t>
                      </a:r>
                    </a:p>
                  </a:txBody>
                  <a:tcPr marL="91440" marR="91440" marT="45720" marB="45720">
                    <a:solidFill>
                      <a:srgbClr val="F7F5EF"/>
                    </a:solidFill>
                  </a:tcPr>
                </a:tc>
              </a:tr>
              <a:tr h="723900">
                <a:tc>
                  <a:txBody>
                    <a:bodyPr/>
                    <a:lstStyle/>
                    <a:p>
                      <a:r>
                        <a:rPr sz="2100" b="0">
                          <a:solidFill>
                            <a:srgbClr val="152F41"/>
                          </a:solidFill>
                          <a:latin typeface="DejaVu Sans"/>
                          <a:ea typeface="DejaVu Sans"/>
                          <a:cs typeface="DejaVu Sans"/>
                        </a:rPr>
                        <a:t>Chat del agente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/opsx:propose empresas-bb</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Preparar el cambio</a:t>
                      </a:r>
                    </a:p>
                  </a:txBody>
                  <a:tcPr marL="91440" marR="91440" marT="45720" marB="45720">
                    <a:solidFill>
                      <a:srgbClr val="F7F5EF"/>
                    </a:solidFill>
                  </a:tcPr>
                </a:tc>
              </a:tr>
              <a:tr h="723900">
                <a:tc>
                  <a:txBody>
                    <a:bodyPr/>
                    <a:lstStyle/>
                    <a:p>
                      <a:r>
                        <a:rPr sz="2100" b="0">
                          <a:solidFill>
                            <a:srgbClr val="152F41"/>
                          </a:solidFill>
                          <a:latin typeface="DejaVu Sans"/>
                          <a:ea typeface="DejaVu Sans"/>
                          <a:cs typeface="DejaVu Sans"/>
                        </a:rPr>
                        <a:t>Chat del agente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/opsx:apply</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Ejecutar tareas</a:t>
                      </a:r>
                    </a:p>
                  </a:txBody>
                  <a:tcPr marL="91440" marR="91440" marT="45720" marB="45720">
                    <a:solidFill>
                      <a:srgbClr val="F7F5EF"/>
                    </a:solidFill>
                  </a:tcPr>
                </a:tc>
              </a:tr>
              <a:tr h="723900">
                <a:tc>
                  <a:txBody>
                    <a:bodyPr/>
                    <a:lstStyle/>
                    <a:p>
                      <a:r>
                        <a:rPr sz="2100" b="0">
                          <a:solidFill>
                            <a:srgbClr val="152F41"/>
                          </a:solidFill>
                          <a:latin typeface="DejaVu Sans"/>
                          <a:ea typeface="DejaVu Sans"/>
                          <a:cs typeface="DejaVu Sans"/>
                        </a:rPr>
                        <a:t>Chat del agente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/opsx:archive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Cerrar y archivar el cambio</a:t>
                      </a:r>
                    </a:p>
                  </a:txBody>
                  <a:tcPr marL="91440" marR="91440" marT="45720" marB="45720">
                    <a:solidFill>
                      <a:srgbClr val="F7F5EF"/>
                    </a:solidFill>
                  </a:tcPr>
                </a:tc>
              </a:tr>
            </a:tbl>
          </a:graphicData>
        </a:graphic>
      </p:graphicFrame>
      <p:sp>
        <p:nvSpPr>
          <p:cNvPr id="3" name="">
            <a:extLst xmlns:a="http://schemas.openxmlformats.org/drawingml/2006/main">
              <a:ext uri="{FF2B5EF4-FFF2-40B4-BE49-F238E27FC236}">
                <a16:creationId xmlns:a16="http://schemas.microsoft.com/office/drawing/2014/main" id="{C9237557-164D-43EF-BA93-4729194540CD}"/>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En Codex, la forma puede ser $openspec-propose. Utiliza la que muestre tu instalación.</a:t>
            </a:r>
          </a:p>
        </p:txBody>
      </p:sp>
      <p:sp>
        <p:nvSpPr>
          <p:cNvPr id="4" name="">
            <a:extLst xmlns:a="http://schemas.openxmlformats.org/drawingml/2006/main">
              <a:ext uri="{FF2B5EF4-FFF2-40B4-BE49-F238E27FC236}">
                <a16:creationId xmlns:a16="http://schemas.microsoft.com/office/drawing/2014/main" id="{DF889969-6223-482A-90B5-B33B74B841A6}"/>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24</a:t>
            </a:r>
          </a:p>
        </p:txBody>
      </p:sp>
    </p:spTree>
    <p:extLst>
      <p:ext uri="{BB962C8B-B14F-4D97-AF65-F5344CB8AC3E}">
        <p14:creationId xmlns:p14="http://schemas.microsoft.com/office/powerpoint/2010/main" val="757445951"/>
      </p:ext>
    </p:extLst>
  </p:cSld>
</p:sld>
</file>

<file path=ppt/slides/slide2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ED11C39-F3D6-42CD-A875-7FAA5B5DFF14}"/>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Modelo del ejercicio: asociaciones y tecnologías</a:t>
            </a:r>
          </a:p>
        </p:txBody>
      </p:sp>
      <p:graphicFrame>
        <p:nvGraphicFramePr>
          <p:cNvPr id="6" name=""/>
          <p:cNvGraphicFramePr/>
          <p:nvPr/>
        </p:nvGraphicFramePr>
        <p:xfrm>
          <a:off xmlns:a="http://schemas.openxmlformats.org/drawingml/2006/main" x="628650" y="1952625"/>
          <a:ext xmlns:a="http://schemas.openxmlformats.org/drawingml/2006/main" cx="14001750" cy="5000625"/>
        </p:xfrm>
        <a:graphic xmlns:a="http://schemas.openxmlformats.org/drawingml/2006/main">
          <a:graphicData uri="http://schemas.openxmlformats.org/drawingml/2006/table">
            <a:tbl>
              <a:tblPr/>
              <a:tblGrid>
                <a:gridCol w="5715000"/>
                <a:gridCol w="2524125"/>
                <a:gridCol w="5762625"/>
              </a:tblGrid>
              <a:tr h="1000125">
                <a:tc>
                  <a:txBody>
                    <a:bodyPr/>
                    <a:lstStyle/>
                    <a:p>
                      <a:r>
                        <a:rPr sz="2100" b="1">
                          <a:solidFill>
                            <a:srgbClr val="FFFFFF"/>
                          </a:solidFill>
                          <a:latin typeface="DejaVu Sans"/>
                          <a:ea typeface="DejaVu Sans"/>
                          <a:cs typeface="DejaVu Sans"/>
                        </a:rPr>
                        <a:t>Relación propuesta</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Cardinalidad</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Regla del negocio</a:t>
                      </a:r>
                    </a:p>
                  </a:txBody>
                  <a:tcPr marL="91440" marR="91440" marT="45720" marB="45720">
                    <a:solidFill>
                      <a:srgbClr val="183F4C"/>
                    </a:solidFill>
                  </a:tcPr>
                </a:tc>
              </a:tr>
              <a:tr h="1000125">
                <a:tc>
                  <a:txBody>
                    <a:bodyPr/>
                    <a:lstStyle/>
                    <a:p>
                      <a:r>
                        <a:rPr sz="2100" b="0">
                          <a:solidFill>
                            <a:srgbClr val="152F41"/>
                          </a:solidFill>
                          <a:latin typeface="DejaVu Sans"/>
                          <a:ea typeface="DejaVu Sans"/>
                          <a:cs typeface="DejaVu Sans"/>
                        </a:rPr>
                        <a:t>Building Block con asociación</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Uno a muchos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Un bloque puede tener varias empresas</a:t>
                      </a:r>
                    </a:p>
                  </a:txBody>
                  <a:tcPr marL="91440" marR="91440" marT="45720" marB="45720">
                    <a:solidFill>
                      <a:srgbClr val="F7F5EF"/>
                    </a:solidFill>
                  </a:tcPr>
                </a:tc>
              </a:tr>
              <a:tr h="1000125">
                <a:tc>
                  <a:txBody>
                    <a:bodyPr/>
                    <a:lstStyle/>
                    <a:p>
                      <a:r>
                        <a:rPr sz="2100" b="0">
                          <a:solidFill>
                            <a:srgbClr val="152F41"/>
                          </a:solidFill>
                          <a:latin typeface="DejaVu Sans"/>
                          <a:ea typeface="DejaVu Sans"/>
                          <a:cs typeface="DejaVu Sans"/>
                        </a:rPr>
                        <a:t>Empresa con asociación</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Uno a muchos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Una empresa puede usar varios bloques</a:t>
                      </a:r>
                    </a:p>
                  </a:txBody>
                  <a:tcPr marL="91440" marR="91440" marT="45720" marB="45720">
                    <a:solidFill>
                      <a:srgbClr val="F7F5EF"/>
                    </a:solidFill>
                  </a:tcPr>
                </a:tc>
              </a:tr>
              <a:tr h="1000125">
                <a:tc>
                  <a:txBody>
                    <a:bodyPr/>
                    <a:lstStyle/>
                    <a:p>
                      <a:r>
                        <a:rPr sz="2100" b="0">
                          <a:solidFill>
                            <a:srgbClr val="152F41"/>
                          </a:solidFill>
                          <a:latin typeface="DejaVu Sans"/>
                          <a:ea typeface="DejaVu Sans"/>
                          <a:cs typeface="DejaVu Sans"/>
                        </a:rPr>
                        <a:t>Asociación con implementación</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Uno a muchos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Registrar tecnologías para ese par</a:t>
                      </a:r>
                    </a:p>
                  </a:txBody>
                  <a:tcPr marL="91440" marR="91440" marT="45720" marB="45720">
                    <a:solidFill>
                      <a:srgbClr val="F7F5EF"/>
                    </a:solidFill>
                  </a:tcPr>
                </a:tc>
              </a:tr>
              <a:tr h="1000125">
                <a:tc>
                  <a:txBody>
                    <a:bodyPr/>
                    <a:lstStyle/>
                    <a:p>
                      <a:r>
                        <a:rPr sz="2100" b="0">
                          <a:solidFill>
                            <a:srgbClr val="152F41"/>
                          </a:solidFill>
                          <a:latin typeface="DejaVu Sans"/>
                          <a:ea typeface="DejaVu Sans"/>
                          <a:cs typeface="DejaVu Sans"/>
                        </a:rPr>
                        <a:t>Building Block con estándar</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Revisar modelo vigente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Conservar la referencia corporativa</a:t>
                      </a:r>
                    </a:p>
                  </a:txBody>
                  <a:tcPr marL="91440" marR="91440" marT="45720" marB="45720">
                    <a:solidFill>
                      <a:srgbClr val="F7F5EF"/>
                    </a:solidFill>
                  </a:tcPr>
                </a:tc>
              </a:tr>
            </a:tbl>
          </a:graphicData>
        </a:graphic>
      </p:graphicFrame>
      <p:sp>
        <p:nvSpPr>
          <p:cNvPr id="3" name="">
            <a:extLst xmlns:a="http://schemas.openxmlformats.org/drawingml/2006/main">
              <a:ext uri="{FF2B5EF4-FFF2-40B4-BE49-F238E27FC236}">
                <a16:creationId xmlns:a16="http://schemas.microsoft.com/office/drawing/2014/main" id="{7A1443FA-BEBD-4D61-B681-187613E0BFEB}"/>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Antes de sustituir una tabla: revisar significado, datos existentes, referencias y plan de migración.</a:t>
            </a:r>
          </a:p>
        </p:txBody>
      </p:sp>
      <p:sp>
        <p:nvSpPr>
          <p:cNvPr id="4" name="">
            <a:extLst xmlns:a="http://schemas.openxmlformats.org/drawingml/2006/main">
              <a:ext uri="{FF2B5EF4-FFF2-40B4-BE49-F238E27FC236}">
                <a16:creationId xmlns:a16="http://schemas.microsoft.com/office/drawing/2014/main" id="{FBE8374B-5B39-43AF-8EC8-5D1A6B069224}"/>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25</a:t>
            </a:r>
          </a:p>
        </p:txBody>
      </p:sp>
    </p:spTree>
    <p:extLst>
      <p:ext uri="{BB962C8B-B14F-4D97-AF65-F5344CB8AC3E}">
        <p14:creationId xmlns:p14="http://schemas.microsoft.com/office/powerpoint/2010/main" val="798069589"/>
      </p:ext>
    </p:extLst>
  </p:cSld>
</p:sld>
</file>

<file path=ppt/slides/slide2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4AA456D-B8C0-45AC-8BC1-1F941043A506}"/>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La especificación también define autorización</a:t>
            </a:r>
          </a:p>
        </p:txBody>
      </p:sp>
      <p:graphicFrame>
        <p:nvGraphicFramePr>
          <p:cNvPr id="6" name=""/>
          <p:cNvGraphicFramePr/>
          <p:nvPr/>
        </p:nvGraphicFramePr>
        <p:xfrm>
          <a:off xmlns:a="http://schemas.openxmlformats.org/drawingml/2006/main" x="628650" y="1952625"/>
          <a:ext xmlns:a="http://schemas.openxmlformats.org/drawingml/2006/main" cx="14001750" cy="5029200"/>
        </p:xfrm>
        <a:graphic xmlns:a="http://schemas.openxmlformats.org/drawingml/2006/main">
          <a:graphicData uri="http://schemas.openxmlformats.org/drawingml/2006/table">
            <a:tbl>
              <a:tblPr/>
              <a:tblGrid>
                <a:gridCol w="3238500"/>
                <a:gridCol w="6572250"/>
                <a:gridCol w="4191000"/>
              </a:tblGrid>
              <a:tr h="838200">
                <a:tc>
                  <a:txBody>
                    <a:bodyPr/>
                    <a:lstStyle/>
                    <a:p>
                      <a:r>
                        <a:rPr sz="2100" b="1">
                          <a:solidFill>
                            <a:srgbClr val="FFFFFF"/>
                          </a:solidFill>
                          <a:latin typeface="DejaVu Sans"/>
                          <a:ea typeface="DejaVu Sans"/>
                          <a:cs typeface="DejaVu Sans"/>
                        </a:rPr>
                        <a:t>Aspecto</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Regla o decisión necesaria</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Cómo verificarlo</a:t>
                      </a:r>
                    </a:p>
                  </a:txBody>
                  <a:tcPr marL="91440" marR="91440" marT="45720" marB="45720">
                    <a:solidFill>
                      <a:srgbClr val="183F4C"/>
                    </a:solidFill>
                  </a:tcPr>
                </a:tc>
              </a:tr>
              <a:tr h="838200">
                <a:tc>
                  <a:txBody>
                    <a:bodyPr/>
                    <a:lstStyle/>
                    <a:p>
                      <a:r>
                        <a:rPr sz="2100" b="0">
                          <a:solidFill>
                            <a:srgbClr val="152F41"/>
                          </a:solidFill>
                          <a:latin typeface="DejaVu Sans"/>
                          <a:ea typeface="DejaVu Sans"/>
                          <a:cs typeface="DejaVu Sans"/>
                        </a:rPr>
                        <a:t>Catálogos maestros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Administrador y Arquitecto de Seguridad Corporativo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Probar permisos de mantenimiento</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Transacciones de adopción</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Acordar quién registra y para qué empresas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Matriz de roles aprobada</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Acceso a otra empresa</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Validar el alcance en servidor</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Petición directa fuera del alcance</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Vistas operativas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Actualizar a través de tablas fuente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Revisar rutas de escritura</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Interfaz</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Mostrar acciones según permisos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Comparar menú y respuesta del servidor</a:t>
                      </a:r>
                    </a:p>
                  </a:txBody>
                  <a:tcPr marL="91440" marR="91440" marT="45720" marB="45720">
                    <a:solidFill>
                      <a:srgbClr val="F7F5EF"/>
                    </a:solidFill>
                  </a:tcPr>
                </a:tc>
              </a:tr>
            </a:tbl>
          </a:graphicData>
        </a:graphic>
      </p:graphicFrame>
      <p:sp>
        <p:nvSpPr>
          <p:cNvPr id="3" name="">
            <a:extLst xmlns:a="http://schemas.openxmlformats.org/drawingml/2006/main">
              <a:ext uri="{FF2B5EF4-FFF2-40B4-BE49-F238E27FC236}">
                <a16:creationId xmlns:a16="http://schemas.microsoft.com/office/drawing/2014/main" id="{87B3CFD5-FFE3-4CF7-86EB-CE27CCE3AF3A}"/>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Pregunta al grupo: ¿un usuario sin botón “Editar” podría enviar la misma petición manualmente?</a:t>
            </a:r>
          </a:p>
        </p:txBody>
      </p:sp>
      <p:sp>
        <p:nvSpPr>
          <p:cNvPr id="4" name="">
            <a:extLst xmlns:a="http://schemas.openxmlformats.org/drawingml/2006/main">
              <a:ext uri="{FF2B5EF4-FFF2-40B4-BE49-F238E27FC236}">
                <a16:creationId xmlns:a16="http://schemas.microsoft.com/office/drawing/2014/main" id="{15C162D1-A264-46A7-9784-70D6C7EE0257}"/>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26</a:t>
            </a:r>
          </a:p>
        </p:txBody>
      </p:sp>
    </p:spTree>
    <p:extLst>
      <p:ext uri="{BB962C8B-B14F-4D97-AF65-F5344CB8AC3E}">
        <p14:creationId xmlns:p14="http://schemas.microsoft.com/office/powerpoint/2010/main" val="939023978"/>
      </p:ext>
    </p:extLst>
  </p:cSld>
</p:sld>
</file>

<file path=ppt/slides/slide27.xml><?xml version="1.0" encoding="utf-8"?>
<p:sld xmlns:p="http://schemas.openxmlformats.org/presentationml/2006/main">
  <p:cSld>
    <p:bg>
      <p:bgPr>
        <a:solidFill xmlns:a="http://schemas.openxmlformats.org/drawingml/2006/main">
          <a:srgbClr val="102D4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CCC6694-9DDC-4187-B87A-24E0C12E253B}"/>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Laboratorio · Especificación de la asociación</a:t>
            </a:r>
          </a:p>
        </p:txBody>
      </p:sp>
      <p:sp>
        <p:nvSpPr>
          <p:cNvPr id="2" name="">
            <a:extLst xmlns:a="http://schemas.openxmlformats.org/drawingml/2006/main">
              <a:ext uri="{FF2B5EF4-FFF2-40B4-BE49-F238E27FC236}">
                <a16:creationId xmlns:a16="http://schemas.microsoft.com/office/drawing/2014/main" id="{5E1C63B9-95F9-42DB-8322-36C532A17992}"/>
              </a:ext>
            </a:extLst>
          </p:cNvPr>
          <p:cNvSpPr>
            <a:spLocks xmlns:a="http://schemas.openxmlformats.org/drawingml/2006/main" noGrp="1"/>
          </p:cNvSpPr>
          <p:nvPr/>
        </p:nvSpPr>
        <p:spPr>
          <a:xfrm xmlns:a="http://schemas.openxmlformats.org/drawingml/2006/main">
            <a:off x="742950" y="1828800"/>
            <a:ext cx="13573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9EDDD1"/>
                </a:solidFill>
                <a:latin typeface="DejaVu Sans"/>
                <a:ea typeface="DejaVu Sans"/>
                <a:cs typeface="DejaVu Sans"/>
              </a:defRPr>
            </a:pPr>
            <a:r>
              <a:rPr sz="2850" b="0">
                <a:solidFill>
                  <a:srgbClr val="9EDDD1"/>
                </a:solidFill>
                <a:latin typeface="DejaVu Sans"/>
                <a:ea typeface="DejaVu Sans"/>
                <a:cs typeface="DejaVu Sans"/>
              </a:rPr>
              <a:t>En parejas, convertir la necesidad en un cambio revisable.</a:t>
            </a:r>
          </a:p>
        </p:txBody>
      </p:sp>
      <p:sp>
        <p:nvSpPr>
          <p:cNvPr id="3" name="">
            <a:extLst xmlns:a="http://schemas.openxmlformats.org/drawingml/2006/main">
              <a:ext uri="{FF2B5EF4-FFF2-40B4-BE49-F238E27FC236}">
                <a16:creationId xmlns:a16="http://schemas.microsoft.com/office/drawing/2014/main" id="{8A459222-4DAA-4006-893A-EBEBF090DF90}"/>
              </a:ext>
            </a:extLst>
          </p:cNvPr>
          <p:cNvSpPr>
            <a:spLocks xmlns:a="http://schemas.openxmlformats.org/drawingml/2006/main" noGrp="1"/>
          </p:cNvSpPr>
          <p:nvPr/>
        </p:nvSpPr>
        <p:spPr>
          <a:xfrm xmlns:a="http://schemas.openxmlformats.org/drawingml/2006/main">
            <a:off x="742950" y="2952750"/>
            <a:ext cx="13716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DejaVu Sans"/>
                <a:ea typeface="DejaVu Sans"/>
                <a:cs typeface="DejaVu Sans"/>
              </a:defRPr>
            </a:pPr>
            <a:r>
              <a:rPr sz="2550" b="0">
                <a:solidFill>
                  <a:srgbClr val="FFFFFF"/>
                </a:solidFill>
                <a:latin typeface="DejaVu Sans"/>
                <a:ea typeface="DejaVu Sans"/>
                <a:cs typeface="DejaVu Sans"/>
              </a:rPr>
              <a:t>1. Definir el alcance: asociar una empresa a un Building Block.</a:t>
            </a:r>
          </a:p>
        </p:txBody>
      </p:sp>
      <p:sp>
        <p:nvSpPr>
          <p:cNvPr id="4" name="">
            <a:extLst xmlns:a="http://schemas.openxmlformats.org/drawingml/2006/main">
              <a:ext uri="{FF2B5EF4-FFF2-40B4-BE49-F238E27FC236}">
                <a16:creationId xmlns:a16="http://schemas.microsoft.com/office/drawing/2014/main" id="{F6293473-B46E-4E87-B7B5-A439C752C223}"/>
              </a:ext>
            </a:extLst>
          </p:cNvPr>
          <p:cNvSpPr>
            <a:spLocks xmlns:a="http://schemas.openxmlformats.org/drawingml/2006/main" noGrp="1"/>
          </p:cNvSpPr>
          <p:nvPr/>
        </p:nvSpPr>
        <p:spPr>
          <a:xfrm xmlns:a="http://schemas.openxmlformats.org/drawingml/2006/main">
            <a:off x="742950" y="3838575"/>
            <a:ext cx="13716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DejaVu Sans"/>
                <a:ea typeface="DejaVu Sans"/>
                <a:cs typeface="DejaVu Sans"/>
              </a:defRPr>
            </a:pPr>
            <a:r>
              <a:rPr sz="2550" b="0">
                <a:solidFill>
                  <a:srgbClr val="FFFFFF"/>
                </a:solidFill>
                <a:latin typeface="DejaVu Sans"/>
                <a:ea typeface="DejaVu Sans"/>
                <a:cs typeface="DejaVu Sans"/>
              </a:rPr>
              <a:t>2. Escribir tres criterios: alta válida, duplicado y falta de permiso.</a:t>
            </a:r>
          </a:p>
        </p:txBody>
      </p:sp>
      <p:sp>
        <p:nvSpPr>
          <p:cNvPr id="5" name="">
            <a:extLst xmlns:a="http://schemas.openxmlformats.org/drawingml/2006/main">
              <a:ext uri="{FF2B5EF4-FFF2-40B4-BE49-F238E27FC236}">
                <a16:creationId xmlns:a16="http://schemas.microsoft.com/office/drawing/2014/main" id="{379B0669-F8AD-4EBC-9C1F-F6F16A606EAB}"/>
              </a:ext>
            </a:extLst>
          </p:cNvPr>
          <p:cNvSpPr>
            <a:spLocks xmlns:a="http://schemas.openxmlformats.org/drawingml/2006/main" noGrp="1"/>
          </p:cNvSpPr>
          <p:nvPr/>
        </p:nvSpPr>
        <p:spPr>
          <a:xfrm xmlns:a="http://schemas.openxmlformats.org/drawingml/2006/main">
            <a:off x="742950" y="4724400"/>
            <a:ext cx="13716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DejaVu Sans"/>
                <a:ea typeface="DejaVu Sans"/>
                <a:cs typeface="DejaVu Sans"/>
              </a:defRPr>
            </a:pPr>
            <a:r>
              <a:rPr sz="2550" b="0">
                <a:solidFill>
                  <a:srgbClr val="FFFFFF"/>
                </a:solidFill>
                <a:latin typeface="DejaVu Sans"/>
                <a:ea typeface="DejaVu Sans"/>
                <a:cs typeface="DejaVu Sans"/>
              </a:rPr>
              <a:t>3. Proponer el modelo y señalar los datos que faltan.</a:t>
            </a:r>
          </a:p>
        </p:txBody>
      </p:sp>
      <p:sp>
        <p:nvSpPr>
          <p:cNvPr id="6" name="">
            <a:extLst xmlns:a="http://schemas.openxmlformats.org/drawingml/2006/main">
              <a:ext uri="{FF2B5EF4-FFF2-40B4-BE49-F238E27FC236}">
                <a16:creationId xmlns:a16="http://schemas.microsoft.com/office/drawing/2014/main" id="{7EAE4098-DF9C-4A66-BA1F-10D21F0F45C9}"/>
              </a:ext>
            </a:extLst>
          </p:cNvPr>
          <p:cNvSpPr>
            <a:spLocks xmlns:a="http://schemas.openxmlformats.org/drawingml/2006/main" noGrp="1"/>
          </p:cNvSpPr>
          <p:nvPr/>
        </p:nvSpPr>
        <p:spPr>
          <a:xfrm xmlns:a="http://schemas.openxmlformats.org/drawingml/2006/main">
            <a:off x="742950" y="5610225"/>
            <a:ext cx="13716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DejaVu Sans"/>
                <a:ea typeface="DejaVu Sans"/>
                <a:cs typeface="DejaVu Sans"/>
              </a:defRPr>
            </a:pPr>
            <a:r>
              <a:rPr sz="2550" b="0">
                <a:solidFill>
                  <a:srgbClr val="FFFFFF"/>
                </a:solidFill>
                <a:latin typeface="DejaVu Sans"/>
                <a:ea typeface="DejaVu Sans"/>
                <a:cs typeface="DejaVu Sans"/>
              </a:rPr>
              <a:t>4. Pedir al agente propuesta, especificación, diseño y tareas.</a:t>
            </a:r>
          </a:p>
        </p:txBody>
      </p:sp>
      <p:sp>
        <p:nvSpPr>
          <p:cNvPr id="7" name="">
            <a:extLst xmlns:a="http://schemas.openxmlformats.org/drawingml/2006/main">
              <a:ext uri="{FF2B5EF4-FFF2-40B4-BE49-F238E27FC236}">
                <a16:creationId xmlns:a16="http://schemas.microsoft.com/office/drawing/2014/main" id="{C2F0DC88-FDDB-4E3D-85B8-F4FDF31457B3}"/>
              </a:ext>
            </a:extLst>
          </p:cNvPr>
          <p:cNvSpPr>
            <a:spLocks xmlns:a="http://schemas.openxmlformats.org/drawingml/2006/main" noGrp="1"/>
          </p:cNvSpPr>
          <p:nvPr/>
        </p:nvSpPr>
        <p:spPr>
          <a:xfrm xmlns:a="http://schemas.openxmlformats.org/drawingml/2006/main">
            <a:off x="742950" y="696277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9EDDD1"/>
                </a:solidFill>
                <a:latin typeface="DejaVu Sans"/>
                <a:ea typeface="DejaVu Sans"/>
                <a:cs typeface="DejaVu Sans"/>
              </a:defRPr>
            </a:pPr>
            <a:r>
              <a:rPr sz="2325" b="1">
                <a:solidFill>
                  <a:srgbClr val="9EDDD1"/>
                </a:solidFill>
                <a:latin typeface="DejaVu Sans"/>
                <a:ea typeface="DejaVu Sans"/>
                <a:cs typeface="DejaVu Sans"/>
              </a:rPr>
              <a:t>Entregable: documentos revisados y decisiones pendientes visibles.</a:t>
            </a:r>
          </a:p>
        </p:txBody>
      </p:sp>
      <p:sp>
        <p:nvSpPr>
          <p:cNvPr id="8" name="">
            <a:extLst xmlns:a="http://schemas.openxmlformats.org/drawingml/2006/main">
              <a:ext uri="{FF2B5EF4-FFF2-40B4-BE49-F238E27FC236}">
                <a16:creationId xmlns:a16="http://schemas.microsoft.com/office/drawing/2014/main" id="{F2892466-E58B-497C-987D-84CB356E449D}"/>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9DFE4"/>
                </a:solidFill>
                <a:latin typeface="DejaVu Sans"/>
                <a:ea typeface="DejaVu Sans"/>
                <a:cs typeface="DejaVu Sans"/>
              </a:defRPr>
            </a:pPr>
            <a:r>
              <a:rPr sz="1725" b="0">
                <a:solidFill>
                  <a:srgbClr val="C9DFE4"/>
                </a:solidFill>
                <a:latin typeface="DejaVu Sans"/>
                <a:ea typeface="DejaVu Sans"/>
                <a:cs typeface="DejaVu Sans"/>
              </a:rPr>
              <a:t>Tiempo sugerido: 8 minutos.</a:t>
            </a:r>
          </a:p>
        </p:txBody>
      </p:sp>
      <p:sp>
        <p:nvSpPr>
          <p:cNvPr id="9" name="">
            <a:extLst xmlns:a="http://schemas.openxmlformats.org/drawingml/2006/main">
              <a:ext uri="{FF2B5EF4-FFF2-40B4-BE49-F238E27FC236}">
                <a16:creationId xmlns:a16="http://schemas.microsoft.com/office/drawing/2014/main" id="{C3CE99E5-3326-4909-AA2E-8424C24C022E}"/>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C9DFE4"/>
                </a:solidFill>
                <a:latin typeface="DejaVu Sans"/>
                <a:ea typeface="DejaVu Sans"/>
                <a:cs typeface="DejaVu Sans"/>
              </a:defRPr>
            </a:pPr>
            <a:r>
              <a:rPr sz="1500" b="0">
                <a:solidFill>
                  <a:srgbClr val="C9DFE4"/>
                </a:solidFill>
                <a:latin typeface="DejaVu Sans"/>
                <a:ea typeface="DejaVu Sans"/>
                <a:cs typeface="DejaVu Sans"/>
              </a:rPr>
              <a:t>27</a:t>
            </a:r>
          </a:p>
        </p:txBody>
      </p:sp>
    </p:spTree>
    <p:extLst>
      <p:ext uri="{BB962C8B-B14F-4D97-AF65-F5344CB8AC3E}">
        <p14:creationId xmlns:p14="http://schemas.microsoft.com/office/powerpoint/2010/main" val="407256576"/>
      </p:ext>
    </p:extLst>
  </p:cSld>
</p:sld>
</file>

<file path=ppt/slides/slide2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3AA42EA-F8B2-4A2D-B0BC-B1AF47EA10D5}"/>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Implementación por tareas con límites claros</a:t>
            </a:r>
          </a:p>
        </p:txBody>
      </p:sp>
      <p:sp>
        <p:nvSpPr>
          <p:cNvPr id="2" name="">
            <a:extLst xmlns:a="http://schemas.openxmlformats.org/drawingml/2006/main">
              <a:ext uri="{FF2B5EF4-FFF2-40B4-BE49-F238E27FC236}">
                <a16:creationId xmlns:a16="http://schemas.microsoft.com/office/drawing/2014/main" id="{FC9F060A-1EA3-4BA9-8755-264F9302631D}"/>
              </a:ext>
            </a:extLst>
          </p:cNvPr>
          <p:cNvSpPr>
            <a:spLocks xmlns:a="http://schemas.openxmlformats.org/drawingml/2006/main" noGrp="1"/>
          </p:cNvSpPr>
          <p:nvPr/>
        </p:nvSpPr>
        <p:spPr>
          <a:xfrm xmlns:a="http://schemas.openxmlformats.org/drawingml/2006/main">
            <a:off x="685800" y="1847850"/>
            <a:ext cx="6648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C77"/>
                </a:solidFill>
                <a:latin typeface="DejaVu Sans"/>
                <a:ea typeface="DejaVu Sans"/>
                <a:cs typeface="DejaVu Sans"/>
              </a:defRPr>
            </a:pPr>
            <a:r>
              <a:rPr sz="2550" b="1">
                <a:solidFill>
                  <a:srgbClr val="087C77"/>
                </a:solidFill>
                <a:latin typeface="DejaVu Sans"/>
                <a:ea typeface="DejaVu Sans"/>
                <a:cs typeface="DejaVu Sans"/>
              </a:rPr>
              <a:t>Orden propuesto</a:t>
            </a:r>
          </a:p>
        </p:txBody>
      </p:sp>
      <p:sp>
        <p:nvSpPr>
          <p:cNvPr id="3" name="">
            <a:extLst xmlns:a="http://schemas.openxmlformats.org/drawingml/2006/main">
              <a:ext uri="{FF2B5EF4-FFF2-40B4-BE49-F238E27FC236}">
                <a16:creationId xmlns:a16="http://schemas.microsoft.com/office/drawing/2014/main" id="{3BF9C966-79D7-4CD9-ADA5-80D16E8D5AA3}"/>
              </a:ext>
            </a:extLst>
          </p:cNvPr>
          <p:cNvSpPr>
            <a:spLocks xmlns:a="http://schemas.openxmlformats.org/drawingml/2006/main" noGrp="1"/>
          </p:cNvSpPr>
          <p:nvPr/>
        </p:nvSpPr>
        <p:spPr>
          <a:xfrm xmlns:a="http://schemas.openxmlformats.org/drawingml/2006/main">
            <a:off x="7953375" y="1847850"/>
            <a:ext cx="657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C77"/>
                </a:solidFill>
                <a:latin typeface="DejaVu Sans"/>
                <a:ea typeface="DejaVu Sans"/>
                <a:cs typeface="DejaVu Sans"/>
              </a:defRPr>
            </a:pPr>
            <a:r>
              <a:rPr sz="2550" b="1">
                <a:solidFill>
                  <a:srgbClr val="087C77"/>
                </a:solidFill>
                <a:latin typeface="DejaVu Sans"/>
                <a:ea typeface="DejaVu Sans"/>
                <a:cs typeface="DejaVu Sans"/>
              </a:rPr>
              <a:t>Encargo al agente</a:t>
            </a:r>
          </a:p>
        </p:txBody>
      </p:sp>
      <p:sp>
        <p:nvSpPr>
          <p:cNvPr id="4" name="">
            <a:extLst xmlns:a="http://schemas.openxmlformats.org/drawingml/2006/main">
              <a:ext uri="{FF2B5EF4-FFF2-40B4-BE49-F238E27FC236}">
                <a16:creationId xmlns:a16="http://schemas.microsoft.com/office/drawing/2014/main" id="{BC466564-E82A-4B0F-ADD7-1113472F94C7}"/>
              </a:ext>
            </a:extLst>
          </p:cNvPr>
          <p:cNvSpPr>
            <a:spLocks xmlns:a="http://schemas.openxmlformats.org/drawingml/2006/main" noGrp="1"/>
          </p:cNvSpPr>
          <p:nvPr/>
        </p:nvSpPr>
        <p:spPr>
          <a:xfrm xmlns:a="http://schemas.openxmlformats.org/drawingml/2006/main">
            <a:off x="685800" y="2657475"/>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Datos: relación, restricciones y migración si aplica.</a:t>
            </a:r>
          </a:p>
        </p:txBody>
      </p:sp>
      <p:sp>
        <p:nvSpPr>
          <p:cNvPr id="5" name="">
            <a:extLst xmlns:a="http://schemas.openxmlformats.org/drawingml/2006/main">
              <a:ext uri="{FF2B5EF4-FFF2-40B4-BE49-F238E27FC236}">
                <a16:creationId xmlns:a16="http://schemas.microsoft.com/office/drawing/2014/main" id="{C5EA54F6-65D7-41C0-AB9E-36AC4073E3A8}"/>
              </a:ext>
            </a:extLst>
          </p:cNvPr>
          <p:cNvSpPr>
            <a:spLocks xmlns:a="http://schemas.openxmlformats.org/drawingml/2006/main" noGrp="1"/>
          </p:cNvSpPr>
          <p:nvPr/>
        </p:nvSpPr>
        <p:spPr>
          <a:xfrm xmlns:a="http://schemas.openxmlformats.org/drawingml/2006/main">
            <a:off x="685800" y="3776663"/>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Servidor: validaciones y autorización.</a:t>
            </a:r>
          </a:p>
        </p:txBody>
      </p:sp>
      <p:sp>
        <p:nvSpPr>
          <p:cNvPr id="6" name="">
            <a:extLst xmlns:a="http://schemas.openxmlformats.org/drawingml/2006/main">
              <a:ext uri="{FF2B5EF4-FFF2-40B4-BE49-F238E27FC236}">
                <a16:creationId xmlns:a16="http://schemas.microsoft.com/office/drawing/2014/main" id="{C0BEFFB3-4E0C-4C5C-ACCD-77C8E0A09E52}"/>
              </a:ext>
            </a:extLst>
          </p:cNvPr>
          <p:cNvSpPr>
            <a:spLocks xmlns:a="http://schemas.openxmlformats.org/drawingml/2006/main" noGrp="1"/>
          </p:cNvSpPr>
          <p:nvPr/>
        </p:nvSpPr>
        <p:spPr>
          <a:xfrm xmlns:a="http://schemas.openxmlformats.org/drawingml/2006/main">
            <a:off x="685800" y="4895850"/>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Formulario: selección y mensajes comprensibles.</a:t>
            </a:r>
          </a:p>
        </p:txBody>
      </p:sp>
      <p:sp>
        <p:nvSpPr>
          <p:cNvPr id="7" name="">
            <a:extLst xmlns:a="http://schemas.openxmlformats.org/drawingml/2006/main">
              <a:ext uri="{FF2B5EF4-FFF2-40B4-BE49-F238E27FC236}">
                <a16:creationId xmlns:a16="http://schemas.microsoft.com/office/drawing/2014/main" id="{03B6D96D-1A46-4D0F-9C2C-D315DB21334F}"/>
              </a:ext>
            </a:extLst>
          </p:cNvPr>
          <p:cNvSpPr>
            <a:spLocks xmlns:a="http://schemas.openxmlformats.org/drawingml/2006/main" noGrp="1"/>
          </p:cNvSpPr>
          <p:nvPr/>
        </p:nvSpPr>
        <p:spPr>
          <a:xfrm xmlns:a="http://schemas.openxmlformats.org/drawingml/2006/main">
            <a:off x="685800" y="6015038"/>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Pruebas: aceptación y regresión relevante.</a:t>
            </a:r>
          </a:p>
        </p:txBody>
      </p:sp>
      <p:sp>
        <p:nvSpPr>
          <p:cNvPr id="8" name="">
            <a:extLst xmlns:a="http://schemas.openxmlformats.org/drawingml/2006/main">
              <a:ext uri="{FF2B5EF4-FFF2-40B4-BE49-F238E27FC236}">
                <a16:creationId xmlns:a16="http://schemas.microsoft.com/office/drawing/2014/main" id="{F01F15C3-3D50-4F42-A9F6-A0242967FF50}"/>
              </a:ext>
            </a:extLst>
          </p:cNvPr>
          <p:cNvSpPr>
            <a:spLocks xmlns:a="http://schemas.openxmlformats.org/drawingml/2006/main" noGrp="1"/>
          </p:cNvSpPr>
          <p:nvPr/>
        </p:nvSpPr>
        <p:spPr>
          <a:xfrm xmlns:a="http://schemas.openxmlformats.org/drawingml/2006/main">
            <a:off x="7953375" y="2657475"/>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Implementa las tareas revisadas en desarrollo.</a:t>
            </a:r>
          </a:p>
        </p:txBody>
      </p:sp>
      <p:sp>
        <p:nvSpPr>
          <p:cNvPr id="9" name="">
            <a:extLst xmlns:a="http://schemas.openxmlformats.org/drawingml/2006/main">
              <a:ext uri="{FF2B5EF4-FFF2-40B4-BE49-F238E27FC236}">
                <a16:creationId xmlns:a16="http://schemas.microsoft.com/office/drawing/2014/main" id="{695970E8-836E-4269-AEAE-944408B08DE8}"/>
              </a:ext>
            </a:extLst>
          </p:cNvPr>
          <p:cNvSpPr>
            <a:spLocks xmlns:a="http://schemas.openxmlformats.org/drawingml/2006/main" noGrp="1"/>
          </p:cNvSpPr>
          <p:nvPr/>
        </p:nvSpPr>
        <p:spPr>
          <a:xfrm xmlns:a="http://schemas.openxmlformats.org/drawingml/2006/main">
            <a:off x="7953375" y="3776663"/>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Conserva el alcance y reporta supuestos nuevos.</a:t>
            </a:r>
          </a:p>
        </p:txBody>
      </p:sp>
      <p:sp>
        <p:nvSpPr>
          <p:cNvPr id="10" name="">
            <a:extLst xmlns:a="http://schemas.openxmlformats.org/drawingml/2006/main">
              <a:ext uri="{FF2B5EF4-FFF2-40B4-BE49-F238E27FC236}">
                <a16:creationId xmlns:a16="http://schemas.microsoft.com/office/drawing/2014/main" id="{8C5FB47C-4015-4862-89DA-86B70917B9EA}"/>
              </a:ext>
            </a:extLst>
          </p:cNvPr>
          <p:cNvSpPr>
            <a:spLocks xmlns:a="http://schemas.openxmlformats.org/drawingml/2006/main" noGrp="1"/>
          </p:cNvSpPr>
          <p:nvPr/>
        </p:nvSpPr>
        <p:spPr>
          <a:xfrm xmlns:a="http://schemas.openxmlformats.org/drawingml/2006/main">
            <a:off x="7953375" y="4895850"/>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Muestra cambios y resultados de pruebas.</a:t>
            </a:r>
          </a:p>
        </p:txBody>
      </p:sp>
      <p:sp>
        <p:nvSpPr>
          <p:cNvPr id="11" name="">
            <a:extLst xmlns:a="http://schemas.openxmlformats.org/drawingml/2006/main">
              <a:ext uri="{FF2B5EF4-FFF2-40B4-BE49-F238E27FC236}">
                <a16:creationId xmlns:a16="http://schemas.microsoft.com/office/drawing/2014/main" id="{3E71B2D5-BCE0-4F55-AE4C-FD8C54AF92B9}"/>
              </a:ext>
            </a:extLst>
          </p:cNvPr>
          <p:cNvSpPr>
            <a:spLocks xmlns:a="http://schemas.openxmlformats.org/drawingml/2006/main" noGrp="1"/>
          </p:cNvSpPr>
          <p:nvPr/>
        </p:nvSpPr>
        <p:spPr>
          <a:xfrm xmlns:a="http://schemas.openxmlformats.org/drawingml/2006/main">
            <a:off x="7953375" y="6015038"/>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Actualiza pendientes antes de dar por cerrado el trabajo.</a:t>
            </a:r>
          </a:p>
        </p:txBody>
      </p:sp>
      <p:sp>
        <p:nvSpPr>
          <p:cNvPr id="12" name="">
            <a:extLst xmlns:a="http://schemas.openxmlformats.org/drawingml/2006/main">
              <a:ext uri="{FF2B5EF4-FFF2-40B4-BE49-F238E27FC236}">
                <a16:creationId xmlns:a16="http://schemas.microsoft.com/office/drawing/2014/main" id="{795D3AE6-E096-4AA9-B736-6B015FDAAD73}"/>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Una tarea terminada debe apuntar a un resultado comprobable.</a:t>
            </a:r>
          </a:p>
        </p:txBody>
      </p:sp>
      <p:sp>
        <p:nvSpPr>
          <p:cNvPr id="13" name="">
            <a:extLst xmlns:a="http://schemas.openxmlformats.org/drawingml/2006/main">
              <a:ext uri="{FF2B5EF4-FFF2-40B4-BE49-F238E27FC236}">
                <a16:creationId xmlns:a16="http://schemas.microsoft.com/office/drawing/2014/main" id="{4E2E8FA6-4612-4433-B6B8-81648DF03861}"/>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28</a:t>
            </a:r>
          </a:p>
        </p:txBody>
      </p:sp>
    </p:spTree>
    <p:extLst>
      <p:ext uri="{BB962C8B-B14F-4D97-AF65-F5344CB8AC3E}">
        <p14:creationId xmlns:p14="http://schemas.microsoft.com/office/powerpoint/2010/main" val="2141346463"/>
      </p:ext>
    </p:extLst>
  </p:cSld>
</p:sld>
</file>

<file path=ppt/slides/slide2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80A911-92C2-4631-8A5C-5FAE2B2BF876}"/>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La aceptación combina pruebas y observación</a:t>
            </a:r>
          </a:p>
        </p:txBody>
      </p:sp>
      <p:graphicFrame>
        <p:nvGraphicFramePr>
          <p:cNvPr id="6" name=""/>
          <p:cNvGraphicFramePr/>
          <p:nvPr/>
        </p:nvGraphicFramePr>
        <p:xfrm>
          <a:off xmlns:a="http://schemas.openxmlformats.org/drawingml/2006/main" x="628650" y="1952625"/>
          <a:ext xmlns:a="http://schemas.openxmlformats.org/drawingml/2006/main" cx="14001750" cy="5067300"/>
        </p:xfrm>
        <a:graphic xmlns:a="http://schemas.openxmlformats.org/drawingml/2006/main">
          <a:graphicData uri="http://schemas.openxmlformats.org/drawingml/2006/table">
            <a:tbl>
              <a:tblPr/>
              <a:tblGrid>
                <a:gridCol w="3381375"/>
                <a:gridCol w="5286375"/>
                <a:gridCol w="5334000"/>
              </a:tblGrid>
              <a:tr h="723900">
                <a:tc>
                  <a:txBody>
                    <a:bodyPr/>
                    <a:lstStyle/>
                    <a:p>
                      <a:r>
                        <a:rPr sz="2100" b="1">
                          <a:solidFill>
                            <a:srgbClr val="FFFFFF"/>
                          </a:solidFill>
                          <a:latin typeface="DejaVu Sans"/>
                          <a:ea typeface="DejaVu Sans"/>
                          <a:cs typeface="DejaVu Sans"/>
                        </a:rPr>
                        <a:t>Caso</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Acción</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Resultado esperado</a:t>
                      </a:r>
                    </a:p>
                  </a:txBody>
                  <a:tcPr marL="91440" marR="91440" marT="45720" marB="45720">
                    <a:solidFill>
                      <a:srgbClr val="183F4C"/>
                    </a:solidFill>
                  </a:tcPr>
                </a:tc>
              </a:tr>
              <a:tr h="723900">
                <a:tc>
                  <a:txBody>
                    <a:bodyPr/>
                    <a:lstStyle/>
                    <a:p>
                      <a:r>
                        <a:rPr sz="2100" b="0">
                          <a:solidFill>
                            <a:srgbClr val="152F41"/>
                          </a:solidFill>
                          <a:latin typeface="DejaVu Sans"/>
                          <a:ea typeface="DejaVu Sans"/>
                          <a:cs typeface="DejaVu Sans"/>
                        </a:rPr>
                        <a:t>Alta válida</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Guardar un par nuevo autorizado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Un registro persistido</a:t>
                      </a:r>
                    </a:p>
                  </a:txBody>
                  <a:tcPr marL="91440" marR="91440" marT="45720" marB="45720">
                    <a:solidFill>
                      <a:srgbClr val="F7F5EF"/>
                    </a:solidFill>
                  </a:tcPr>
                </a:tc>
              </a:tr>
              <a:tr h="723900">
                <a:tc>
                  <a:txBody>
                    <a:bodyPr/>
                    <a:lstStyle/>
                    <a:p>
                      <a:r>
                        <a:rPr sz="2100" b="0">
                          <a:solidFill>
                            <a:srgbClr val="152F41"/>
                          </a:solidFill>
                          <a:latin typeface="DejaVu Sans"/>
                          <a:ea typeface="DejaVu Sans"/>
                          <a:cs typeface="DejaVu Sans"/>
                        </a:rPr>
                        <a:t>Duplicado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Repetir el mismo par</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Rechazo sin registro adicional</a:t>
                      </a:r>
                    </a:p>
                  </a:txBody>
                  <a:tcPr marL="91440" marR="91440" marT="45720" marB="45720">
                    <a:solidFill>
                      <a:srgbClr val="F7F5EF"/>
                    </a:solidFill>
                  </a:tcPr>
                </a:tc>
              </a:tr>
              <a:tr h="723900">
                <a:tc>
                  <a:txBody>
                    <a:bodyPr/>
                    <a:lstStyle/>
                    <a:p>
                      <a:r>
                        <a:rPr sz="2100" b="0">
                          <a:solidFill>
                            <a:srgbClr val="152F41"/>
                          </a:solidFill>
                          <a:latin typeface="DejaVu Sans"/>
                          <a:ea typeface="DejaVu Sans"/>
                          <a:cs typeface="DejaVu Sans"/>
                        </a:rPr>
                        <a:t>Concurrencia</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Intentar dos altas simultáneas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La unicidad se conserva</a:t>
                      </a:r>
                    </a:p>
                  </a:txBody>
                  <a:tcPr marL="91440" marR="91440" marT="45720" marB="45720">
                    <a:solidFill>
                      <a:srgbClr val="F7F5EF"/>
                    </a:solidFill>
                  </a:tcPr>
                </a:tc>
              </a:tr>
              <a:tr h="723900">
                <a:tc>
                  <a:txBody>
                    <a:bodyPr/>
                    <a:lstStyle/>
                    <a:p>
                      <a:r>
                        <a:rPr sz="2100" b="0">
                          <a:solidFill>
                            <a:srgbClr val="152F41"/>
                          </a:solidFill>
                          <a:latin typeface="DejaVu Sans"/>
                          <a:ea typeface="DejaVu Sans"/>
                          <a:cs typeface="DejaVu Sans"/>
                        </a:rPr>
                        <a:t>Permiso insuficiente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Enviar una petición directa</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Operación denegada</a:t>
                      </a:r>
                    </a:p>
                  </a:txBody>
                  <a:tcPr marL="91440" marR="91440" marT="45720" marB="45720">
                    <a:solidFill>
                      <a:srgbClr val="F7F5EF"/>
                    </a:solidFill>
                  </a:tcPr>
                </a:tc>
              </a:tr>
              <a:tr h="723900">
                <a:tc>
                  <a:txBody>
                    <a:bodyPr/>
                    <a:lstStyle/>
                    <a:p>
                      <a:r>
                        <a:rPr sz="2100" b="0">
                          <a:solidFill>
                            <a:srgbClr val="152F41"/>
                          </a:solidFill>
                          <a:latin typeface="DejaVu Sans"/>
                          <a:ea typeface="DejaVu Sans"/>
                          <a:cs typeface="DejaVu Sans"/>
                        </a:rPr>
                        <a:t>Otra empresa</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Operar fuera del alcance del usuario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Sin lectura o escritura no autorizada</a:t>
                      </a:r>
                    </a:p>
                  </a:txBody>
                  <a:tcPr marL="91440" marR="91440" marT="45720" marB="45720">
                    <a:solidFill>
                      <a:srgbClr val="F7F5EF"/>
                    </a:solidFill>
                  </a:tcPr>
                </a:tc>
              </a:tr>
              <a:tr h="723900">
                <a:tc>
                  <a:txBody>
                    <a:bodyPr/>
                    <a:lstStyle/>
                    <a:p>
                      <a:r>
                        <a:rPr sz="2100" b="0">
                          <a:solidFill>
                            <a:srgbClr val="152F41"/>
                          </a:solidFill>
                          <a:latin typeface="DejaVu Sans"/>
                          <a:ea typeface="DejaVu Sans"/>
                          <a:cs typeface="DejaVu Sans"/>
                        </a:rPr>
                        <a:t>Regresión</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Abrir catálogo y flujo existente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Comportamiento previo conservado</a:t>
                      </a:r>
                    </a:p>
                  </a:txBody>
                  <a:tcPr marL="91440" marR="91440" marT="45720" marB="45720">
                    <a:solidFill>
                      <a:srgbClr val="F7F5EF"/>
                    </a:solidFill>
                  </a:tcPr>
                </a:tc>
              </a:tr>
            </a:tbl>
          </a:graphicData>
        </a:graphic>
      </p:graphicFrame>
      <p:sp>
        <p:nvSpPr>
          <p:cNvPr id="3" name="">
            <a:extLst xmlns:a="http://schemas.openxmlformats.org/drawingml/2006/main">
              <a:ext uri="{FF2B5EF4-FFF2-40B4-BE49-F238E27FC236}">
                <a16:creationId xmlns:a16="http://schemas.microsoft.com/office/drawing/2014/main" id="{A0B36CDB-CFE3-46F4-89EB-E0641D5E49EF}"/>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dotnet build y dotnet test aportan evidencia técnica. También se revisa el flujo funcional.</a:t>
            </a:r>
          </a:p>
        </p:txBody>
      </p:sp>
      <p:sp>
        <p:nvSpPr>
          <p:cNvPr id="4" name="">
            <a:extLst xmlns:a="http://schemas.openxmlformats.org/drawingml/2006/main">
              <a:ext uri="{FF2B5EF4-FFF2-40B4-BE49-F238E27FC236}">
                <a16:creationId xmlns:a16="http://schemas.microsoft.com/office/drawing/2014/main" id="{1BE60C82-7451-476B-B49F-B6ECE62B55AC}"/>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29</a:t>
            </a:r>
          </a:p>
        </p:txBody>
      </p:sp>
    </p:spTree>
    <p:extLst>
      <p:ext uri="{BB962C8B-B14F-4D97-AF65-F5344CB8AC3E}">
        <p14:creationId xmlns:p14="http://schemas.microsoft.com/office/powerpoint/2010/main" val="1433582948"/>
      </p:ext>
    </p:extLst>
  </p:cSld>
</p:sld>
</file>

<file path=ppt/slides/slide3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077D1B-53A2-47AF-8EC4-3F3C48940445}"/>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Errores frecuentes y cómo diagnosticarlos</a:t>
            </a:r>
          </a:p>
        </p:txBody>
      </p:sp>
      <p:graphicFrame>
        <p:nvGraphicFramePr>
          <p:cNvPr id="6" name=""/>
          <p:cNvGraphicFramePr/>
          <p:nvPr/>
        </p:nvGraphicFramePr>
        <p:xfrm>
          <a:off xmlns:a="http://schemas.openxmlformats.org/drawingml/2006/main" x="628650" y="1952625"/>
          <a:ext xmlns:a="http://schemas.openxmlformats.org/drawingml/2006/main" cx="14001750" cy="5029200"/>
        </p:xfrm>
        <a:graphic xmlns:a="http://schemas.openxmlformats.org/drawingml/2006/main">
          <a:graphicData uri="http://schemas.openxmlformats.org/drawingml/2006/table">
            <a:tbl>
              <a:tblPr/>
              <a:tblGrid>
                <a:gridCol w="4476750"/>
                <a:gridCol w="5619750"/>
                <a:gridCol w="3905250"/>
              </a:tblGrid>
              <a:tr h="838200">
                <a:tc>
                  <a:txBody>
                    <a:bodyPr/>
                    <a:lstStyle/>
                    <a:p>
                      <a:r>
                        <a:rPr sz="2100" b="1">
                          <a:solidFill>
                            <a:srgbClr val="FFFFFF"/>
                          </a:solidFill>
                          <a:latin typeface="DejaVu Sans"/>
                          <a:ea typeface="DejaVu Sans"/>
                          <a:cs typeface="DejaVu Sans"/>
                        </a:rPr>
                        <a:t>Síntoma</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Qué comprobar primero</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Siguiente acción</a:t>
                      </a:r>
                    </a:p>
                  </a:txBody>
                  <a:tcPr marL="91440" marR="91440" marT="45720" marB="45720">
                    <a:solidFill>
                      <a:srgbClr val="183F4C"/>
                    </a:solidFill>
                  </a:tcPr>
                </a:tc>
              </a:tr>
              <a:tr h="838200">
                <a:tc>
                  <a:txBody>
                    <a:bodyPr/>
                    <a:lstStyle/>
                    <a:p>
                      <a:r>
                        <a:rPr sz="2100" b="0">
                          <a:solidFill>
                            <a:srgbClr val="152F41"/>
                          </a:solidFill>
                          <a:latin typeface="DejaVu Sans"/>
                          <a:ea typeface="DejaVu Sans"/>
                          <a:cs typeface="DejaVu Sans"/>
                        </a:rPr>
                        <a:t>npm o codex no se reconoce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Instalación y PATH de la terminal</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Abrir terminal nueva y verificar versión</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No restaura paquetes .NET</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SDK, fuente NuGet y conectividad</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Resolver la causa indicada en el log</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SQL rechaza conexión</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Instancia, red, credencial y base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Probar acceso de desarrollo en SSMS</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OpenSpec no aparece en el agente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Raíz, integración y forma de invocación</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Revisar init y ayuda de la versión</a:t>
                      </a:r>
                    </a:p>
                  </a:txBody>
                  <a:tcPr marL="91440" marR="91440" marT="45720" marB="45720">
                    <a:solidFill>
                      <a:srgbClr val="F7F5EF"/>
                    </a:solidFill>
                  </a:tcPr>
                </a:tc>
              </a:tr>
              <a:tr h="838200">
                <a:tc>
                  <a:txBody>
                    <a:bodyPr/>
                    <a:lstStyle/>
                    <a:p>
                      <a:r>
                        <a:rPr sz="2100" b="0">
                          <a:solidFill>
                            <a:srgbClr val="152F41"/>
                          </a:solidFill>
                          <a:latin typeface="DejaVu Sans"/>
                          <a:ea typeface="DejaVu Sans"/>
                          <a:cs typeface="DejaVu Sans"/>
                        </a:rPr>
                        <a:t>El agente cambia fuera del alcance</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Encargo, contexto y tareas vigentes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Revisar diff y corregir el alcance</a:t>
                      </a:r>
                    </a:p>
                  </a:txBody>
                  <a:tcPr marL="91440" marR="91440" marT="45720" marB="45720">
                    <a:solidFill>
                      <a:srgbClr val="F7F5EF"/>
                    </a:solidFill>
                  </a:tcPr>
                </a:tc>
              </a:tr>
            </a:tbl>
          </a:graphicData>
        </a:graphic>
      </p:graphicFrame>
      <p:sp>
        <p:nvSpPr>
          <p:cNvPr id="3" name="">
            <a:extLst xmlns:a="http://schemas.openxmlformats.org/drawingml/2006/main">
              <a:ext uri="{FF2B5EF4-FFF2-40B4-BE49-F238E27FC236}">
                <a16:creationId xmlns:a16="http://schemas.microsoft.com/office/drawing/2014/main" id="{04E79A47-A3AA-456C-9120-FA646CEC44D4}"/>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Diagnóstico útil: comando ejecutado, error exacto, contexto y resultado esperado.</a:t>
            </a:r>
          </a:p>
        </p:txBody>
      </p:sp>
      <p:sp>
        <p:nvSpPr>
          <p:cNvPr id="4" name="">
            <a:extLst xmlns:a="http://schemas.openxmlformats.org/drawingml/2006/main">
              <a:ext uri="{FF2B5EF4-FFF2-40B4-BE49-F238E27FC236}">
                <a16:creationId xmlns:a16="http://schemas.microsoft.com/office/drawing/2014/main" id="{8AE388BD-181B-4CBE-8A3E-15D690783541}"/>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30</a:t>
            </a:r>
          </a:p>
        </p:txBody>
      </p:sp>
    </p:spTree>
    <p:extLst>
      <p:ext uri="{BB962C8B-B14F-4D97-AF65-F5344CB8AC3E}">
        <p14:creationId xmlns:p14="http://schemas.microsoft.com/office/powerpoint/2010/main" val="993758243"/>
      </p:ext>
    </p:extLst>
  </p:cSld>
</p:sld>
</file>

<file path=ppt/slides/slide3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9D1D2D3-E8F5-4A2D-A655-7F630B575613}"/>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GitHub: revisión del cambio antes de integrar</a:t>
            </a:r>
          </a:p>
        </p:txBody>
      </p:sp>
      <p:sp>
        <p:nvSpPr>
          <p:cNvPr id="2" name="">
            <a:extLst xmlns:a="http://schemas.openxmlformats.org/drawingml/2006/main">
              <a:ext uri="{FF2B5EF4-FFF2-40B4-BE49-F238E27FC236}">
                <a16:creationId xmlns:a16="http://schemas.microsoft.com/office/drawing/2014/main" id="{6E757751-A1CB-41DD-B52F-77A37B55752F}"/>
              </a:ext>
            </a:extLst>
          </p:cNvPr>
          <p:cNvSpPr>
            <a:spLocks xmlns:a="http://schemas.openxmlformats.org/drawingml/2006/main" noGrp="1"/>
          </p:cNvSpPr>
          <p:nvPr/>
        </p:nvSpPr>
        <p:spPr>
          <a:xfrm xmlns:a="http://schemas.openxmlformats.org/drawingml/2006/main">
            <a:off x="714375" y="1933575"/>
            <a:ext cx="9477375" cy="519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git diff</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git status</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Agrega solo los archivos revisados</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git add RUTA_ARCHIVO_1 RUTA_ARCHIVO_2</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git commit -m "Asocia empresas a bloques"</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git push -u origin taller/empresas-bb</a:t>
            </a:r>
          </a:p>
          <a:p xmlns:a="http://schemas.openxmlformats.org/drawingml/2006/main">
            <a:r>
              <a:t/>
            </a:r>
          </a:p>
          <a:p xmlns:a="http://schemas.openxmlformats.org/drawingml/2006/main">
            <a:pPr>
              <a:defRPr sz="2175" b="0">
                <a:solidFill>
                  <a:srgbClr val="173E4B"/>
                </a:solidFill>
                <a:latin typeface="DejaVu Sans Mono"/>
                <a:ea typeface="DejaVu Sans Mono"/>
                <a:cs typeface="DejaVu Sans Mono"/>
              </a:defRPr>
            </a:pPr>
            <a:r>
              <a:rPr sz="2175" b="0">
                <a:solidFill>
                  <a:srgbClr val="173E4B"/>
                </a:solidFill>
                <a:latin typeface="DejaVu Sans Mono"/>
                <a:ea typeface="DejaVu Sans Mono"/>
                <a:cs typeface="DejaVu Sans Mono"/>
              </a:rPr>
              <a:t># Abre el pull request en GitHub</a:t>
            </a:r>
          </a:p>
        </p:txBody>
      </p:sp>
      <p:sp>
        <p:nvSpPr>
          <p:cNvPr id="3" name="">
            <a:extLst xmlns:a="http://schemas.openxmlformats.org/drawingml/2006/main">
              <a:ext uri="{FF2B5EF4-FFF2-40B4-BE49-F238E27FC236}">
                <a16:creationId xmlns:a16="http://schemas.microsoft.com/office/drawing/2014/main" id="{EA5B8917-77D6-49F3-8106-307A7150AE98}"/>
              </a:ext>
            </a:extLst>
          </p:cNvPr>
          <p:cNvSpPr>
            <a:spLocks xmlns:a="http://schemas.openxmlformats.org/drawingml/2006/main" noGrp="1"/>
          </p:cNvSpPr>
          <p:nvPr/>
        </p:nvSpPr>
        <p:spPr>
          <a:xfrm xmlns:a="http://schemas.openxmlformats.org/drawingml/2006/main">
            <a:off x="10696575" y="1905000"/>
            <a:ext cx="3943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C77"/>
                </a:solidFill>
                <a:latin typeface="DejaVu Sans"/>
                <a:ea typeface="DejaVu Sans"/>
                <a:cs typeface="DejaVu Sans"/>
              </a:defRPr>
            </a:pPr>
            <a:r>
              <a:rPr sz="2400" b="1">
                <a:solidFill>
                  <a:srgbClr val="087C77"/>
                </a:solidFill>
                <a:latin typeface="DejaVu Sans"/>
                <a:ea typeface="DejaVu Sans"/>
                <a:cs typeface="DejaVu Sans"/>
              </a:rPr>
              <a:t>Contenido del pull request</a:t>
            </a:r>
          </a:p>
        </p:txBody>
      </p:sp>
      <p:sp>
        <p:nvSpPr>
          <p:cNvPr id="4" name="">
            <a:extLst xmlns:a="http://schemas.openxmlformats.org/drawingml/2006/main">
              <a:ext uri="{FF2B5EF4-FFF2-40B4-BE49-F238E27FC236}">
                <a16:creationId xmlns:a16="http://schemas.microsoft.com/office/drawing/2014/main" id="{B942C936-40DD-420C-AF0C-ACDDE1C54B1E}"/>
              </a:ext>
            </a:extLst>
          </p:cNvPr>
          <p:cNvSpPr>
            <a:spLocks xmlns:a="http://schemas.openxmlformats.org/drawingml/2006/main" noGrp="1"/>
          </p:cNvSpPr>
          <p:nvPr/>
        </p:nvSpPr>
        <p:spPr>
          <a:xfrm xmlns:a="http://schemas.openxmlformats.org/drawingml/2006/main">
            <a:off x="10696575" y="2790825"/>
            <a:ext cx="39147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Problema y alcance funcional.</a:t>
            </a:r>
          </a:p>
        </p:txBody>
      </p:sp>
      <p:sp>
        <p:nvSpPr>
          <p:cNvPr id="5" name="">
            <a:extLst xmlns:a="http://schemas.openxmlformats.org/drawingml/2006/main">
              <a:ext uri="{FF2B5EF4-FFF2-40B4-BE49-F238E27FC236}">
                <a16:creationId xmlns:a16="http://schemas.microsoft.com/office/drawing/2014/main" id="{EE26A2CA-AE97-4B39-AEBD-B9B368CD7003}"/>
              </a:ext>
            </a:extLst>
          </p:cNvPr>
          <p:cNvSpPr>
            <a:spLocks xmlns:a="http://schemas.openxmlformats.org/drawingml/2006/main" noGrp="1"/>
          </p:cNvSpPr>
          <p:nvPr/>
        </p:nvSpPr>
        <p:spPr>
          <a:xfrm xmlns:a="http://schemas.openxmlformats.org/drawingml/2006/main">
            <a:off x="10696575" y="3981450"/>
            <a:ext cx="39147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Cambios de datos y compatibilidad.</a:t>
            </a:r>
          </a:p>
        </p:txBody>
      </p:sp>
      <p:sp>
        <p:nvSpPr>
          <p:cNvPr id="6" name="">
            <a:extLst xmlns:a="http://schemas.openxmlformats.org/drawingml/2006/main">
              <a:ext uri="{FF2B5EF4-FFF2-40B4-BE49-F238E27FC236}">
                <a16:creationId xmlns:a16="http://schemas.microsoft.com/office/drawing/2014/main" id="{419079EC-94CD-48DB-8330-F4741C25C9B8}"/>
              </a:ext>
            </a:extLst>
          </p:cNvPr>
          <p:cNvSpPr>
            <a:spLocks xmlns:a="http://schemas.openxmlformats.org/drawingml/2006/main" noGrp="1"/>
          </p:cNvSpPr>
          <p:nvPr/>
        </p:nvSpPr>
        <p:spPr>
          <a:xfrm xmlns:a="http://schemas.openxmlformats.org/drawingml/2006/main">
            <a:off x="10696575" y="5172075"/>
            <a:ext cx="39147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Criterios y resultados de pruebas.</a:t>
            </a:r>
          </a:p>
        </p:txBody>
      </p:sp>
      <p:sp>
        <p:nvSpPr>
          <p:cNvPr id="7" name="">
            <a:extLst xmlns:a="http://schemas.openxmlformats.org/drawingml/2006/main">
              <a:ext uri="{FF2B5EF4-FFF2-40B4-BE49-F238E27FC236}">
                <a16:creationId xmlns:a16="http://schemas.microsoft.com/office/drawing/2014/main" id="{05E16498-1CAD-4E50-8A01-8246B70DEC5E}"/>
              </a:ext>
            </a:extLst>
          </p:cNvPr>
          <p:cNvSpPr>
            <a:spLocks xmlns:a="http://schemas.openxmlformats.org/drawingml/2006/main" noGrp="1"/>
          </p:cNvSpPr>
          <p:nvPr/>
        </p:nvSpPr>
        <p:spPr>
          <a:xfrm xmlns:a="http://schemas.openxmlformats.org/drawingml/2006/main">
            <a:off x="10696575" y="6362700"/>
            <a:ext cx="39147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F41"/>
                </a:solidFill>
                <a:latin typeface="DejaVu Sans"/>
                <a:ea typeface="DejaVu Sans"/>
                <a:cs typeface="DejaVu Sans"/>
              </a:defRPr>
            </a:pPr>
            <a:r>
              <a:rPr sz="2175" b="0">
                <a:solidFill>
                  <a:srgbClr val="152F41"/>
                </a:solidFill>
                <a:latin typeface="DejaVu Sans"/>
                <a:ea typeface="DejaVu Sans"/>
                <a:cs typeface="DejaVu Sans"/>
              </a:rPr>
              <a:t>Pendientes y procedimiento de reversión.</a:t>
            </a:r>
          </a:p>
        </p:txBody>
      </p:sp>
      <p:sp>
        <p:nvSpPr>
          <p:cNvPr id="8" name="">
            <a:extLst xmlns:a="http://schemas.openxmlformats.org/drawingml/2006/main">
              <a:ext uri="{FF2B5EF4-FFF2-40B4-BE49-F238E27FC236}">
                <a16:creationId xmlns:a16="http://schemas.microsoft.com/office/drawing/2014/main" id="{A1F0EACA-DF44-4077-B4B6-F919E6A86170}"/>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Resultado esperado: código y especificación revisables en una misma solicitud de cambio.</a:t>
            </a:r>
          </a:p>
        </p:txBody>
      </p:sp>
      <p:sp>
        <p:nvSpPr>
          <p:cNvPr id="9" name="">
            <a:extLst xmlns:a="http://schemas.openxmlformats.org/drawingml/2006/main">
              <a:ext uri="{FF2B5EF4-FFF2-40B4-BE49-F238E27FC236}">
                <a16:creationId xmlns:a16="http://schemas.microsoft.com/office/drawing/2014/main" id="{DFE27076-4AB9-4F3B-B8AA-9085F7707FF8}"/>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31</a:t>
            </a:r>
          </a:p>
        </p:txBody>
      </p:sp>
    </p:spTree>
    <p:extLst>
      <p:ext uri="{BB962C8B-B14F-4D97-AF65-F5344CB8AC3E}">
        <p14:creationId xmlns:p14="http://schemas.microsoft.com/office/powerpoint/2010/main" val="1430747253"/>
      </p:ext>
    </p:extLst>
  </p:cSld>
</p:sld>
</file>

<file path=ppt/slides/slide3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051640-984E-4498-9C89-B088B3C1A6B7}"/>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Desarrollo, pruebas y despliegue</a:t>
            </a:r>
          </a:p>
        </p:txBody>
      </p:sp>
      <p:graphicFrame>
        <p:nvGraphicFramePr>
          <p:cNvPr id="6" name=""/>
          <p:cNvGraphicFramePr/>
          <p:nvPr/>
        </p:nvGraphicFramePr>
        <p:xfrm>
          <a:off xmlns:a="http://schemas.openxmlformats.org/drawingml/2006/main" x="628650" y="1952625"/>
          <a:ext xmlns:a="http://schemas.openxmlformats.org/drawingml/2006/main" cx="14001750" cy="5000625"/>
        </p:xfrm>
        <a:graphic xmlns:a="http://schemas.openxmlformats.org/drawingml/2006/main">
          <a:graphicData uri="http://schemas.openxmlformats.org/drawingml/2006/table">
            <a:tbl>
              <a:tblPr/>
              <a:tblGrid>
                <a:gridCol w="3714750"/>
                <a:gridCol w="5905500"/>
                <a:gridCol w="4381500"/>
              </a:tblGrid>
              <a:tr h="1000125">
                <a:tc>
                  <a:txBody>
                    <a:bodyPr/>
                    <a:lstStyle/>
                    <a:p>
                      <a:r>
                        <a:rPr sz="2100" b="1">
                          <a:solidFill>
                            <a:srgbClr val="FFFFFF"/>
                          </a:solidFill>
                          <a:latin typeface="DejaVu Sans"/>
                          <a:ea typeface="DejaVu Sans"/>
                          <a:cs typeface="DejaVu Sans"/>
                        </a:rPr>
                        <a:t>Etapa</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Evidencia de salida</a:t>
                      </a:r>
                    </a:p>
                  </a:txBody>
                  <a:tcPr marL="91440" marR="91440" marT="45720" marB="45720">
                    <a:solidFill>
                      <a:srgbClr val="183F4C"/>
                    </a:solidFill>
                  </a:tcPr>
                </a:tc>
                <a:tc>
                  <a:txBody>
                    <a:bodyPr/>
                    <a:lstStyle/>
                    <a:p>
                      <a:r>
                        <a:rPr sz="2100" b="1">
                          <a:solidFill>
                            <a:srgbClr val="FFFFFF"/>
                          </a:solidFill>
                          <a:latin typeface="DejaVu Sans"/>
                          <a:ea typeface="DejaVu Sans"/>
                          <a:cs typeface="DejaVu Sans"/>
                        </a:rPr>
                        <a:t>Control sobre datos</a:t>
                      </a:r>
                    </a:p>
                  </a:txBody>
                  <a:tcPr marL="91440" marR="91440" marT="45720" marB="45720">
                    <a:solidFill>
                      <a:srgbClr val="183F4C"/>
                    </a:solidFill>
                  </a:tcPr>
                </a:tc>
              </a:tr>
              <a:tr h="1000125">
                <a:tc>
                  <a:txBody>
                    <a:bodyPr/>
                    <a:lstStyle/>
                    <a:p>
                      <a:r>
                        <a:rPr sz="2100" b="0">
                          <a:solidFill>
                            <a:srgbClr val="152F41"/>
                          </a:solidFill>
                          <a:latin typeface="DejaVu Sans"/>
                          <a:ea typeface="DejaVu Sans"/>
                          <a:cs typeface="DejaVu Sans"/>
                        </a:rPr>
                        <a:t>Desarrollo local</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Compilación y pruebas del cambio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Base exclusiva del laboratorio</a:t>
                      </a:r>
                    </a:p>
                  </a:txBody>
                  <a:tcPr marL="91440" marR="91440" marT="45720" marB="45720">
                    <a:solidFill>
                      <a:srgbClr val="F7F5EF"/>
                    </a:solidFill>
                  </a:tcPr>
                </a:tc>
              </a:tr>
              <a:tr h="1000125">
                <a:tc>
                  <a:txBody>
                    <a:bodyPr/>
                    <a:lstStyle/>
                    <a:p>
                      <a:r>
                        <a:rPr sz="2100" b="0">
                          <a:solidFill>
                            <a:srgbClr val="152F41"/>
                          </a:solidFill>
                          <a:latin typeface="DejaVu Sans"/>
                          <a:ea typeface="DejaVu Sans"/>
                          <a:cs typeface="DejaVu Sans"/>
                        </a:rPr>
                        <a:t>Entorno de prueba</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Flujo completo y permisos verificados</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Datos de prueba y configuración propia</a:t>
                      </a:r>
                    </a:p>
                  </a:txBody>
                  <a:tcPr marL="91440" marR="91440" marT="45720" marB="45720">
                    <a:solidFill>
                      <a:srgbClr val="F7F5EF"/>
                    </a:solidFill>
                  </a:tcPr>
                </a:tc>
              </a:tr>
              <a:tr h="1000125">
                <a:tc>
                  <a:txBody>
                    <a:bodyPr/>
                    <a:lstStyle/>
                    <a:p>
                      <a:r>
                        <a:rPr sz="2100" b="0">
                          <a:solidFill>
                            <a:srgbClr val="152F41"/>
                          </a:solidFill>
                          <a:latin typeface="DejaVu Sans"/>
                          <a:ea typeface="DejaVu Sans"/>
                          <a:cs typeface="DejaVu Sans"/>
                        </a:rPr>
                        <a:t>Revisión para publicar</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Cambio aprobado y recuperación preparada</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Migración revisada si es necesaria</a:t>
                      </a:r>
                    </a:p>
                  </a:txBody>
                  <a:tcPr marL="91440" marR="91440" marT="45720" marB="45720">
                    <a:solidFill>
                      <a:srgbClr val="F7F5EF"/>
                    </a:solidFill>
                  </a:tcPr>
                </a:tc>
              </a:tr>
              <a:tr h="1000125">
                <a:tc>
                  <a:txBody>
                    <a:bodyPr/>
                    <a:lstStyle/>
                    <a:p>
                      <a:r>
                        <a:rPr sz="2100" b="0">
                          <a:solidFill>
                            <a:srgbClr val="152F41"/>
                          </a:solidFill>
                          <a:latin typeface="DejaVu Sans"/>
                          <a:ea typeface="DejaVu Sans"/>
                          <a:cs typeface="DejaVu Sans"/>
                        </a:rPr>
                        <a:t>Azure Web App u otro destino</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Aplicación inicia y funciones clave responden</a:t>
                      </a:r>
                    </a:p>
                  </a:txBody>
                  <a:tcPr marL="91440" marR="91440" marT="45720" marB="45720">
                    <a:solidFill>
                      <a:srgbClr val="F7F5EF"/>
                    </a:solidFill>
                  </a:tcPr>
                </a:tc>
                <a:tc>
                  <a:txBody>
                    <a:bodyPr/>
                    <a:lstStyle/>
                    <a:p>
                      <a:r>
                        <a:rPr sz="2100" b="0">
                          <a:solidFill>
                            <a:srgbClr val="152F41"/>
                          </a:solidFill>
                          <a:latin typeface="DejaVu Sans"/>
                          <a:ea typeface="DejaVu Sans"/>
                          <a:cs typeface="DejaVu Sans"/>
                        </a:rPr>
                        <a:t>Conexión y secretos del entorno destino</a:t>
                      </a:r>
                    </a:p>
                  </a:txBody>
                  <a:tcPr marL="91440" marR="91440" marT="45720" marB="45720">
                    <a:solidFill>
                      <a:srgbClr val="F7F5EF"/>
                    </a:solidFill>
                  </a:tcPr>
                </a:tc>
              </a:tr>
            </a:tbl>
          </a:graphicData>
        </a:graphic>
      </p:graphicFrame>
      <p:sp>
        <p:nvSpPr>
          <p:cNvPr id="3" name="">
            <a:extLst xmlns:a="http://schemas.openxmlformats.org/drawingml/2006/main">
              <a:ext uri="{FF2B5EF4-FFF2-40B4-BE49-F238E27FC236}">
                <a16:creationId xmlns:a16="http://schemas.microsoft.com/office/drawing/2014/main" id="{8CA66F37-4EBD-406B-93BC-FAAD5DDC655D}"/>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Antes de promover un cambio: comprobar la aplicación, la configuración y el plan de datos.</a:t>
            </a:r>
          </a:p>
        </p:txBody>
      </p:sp>
      <p:sp>
        <p:nvSpPr>
          <p:cNvPr id="4" name="">
            <a:extLst xmlns:a="http://schemas.openxmlformats.org/drawingml/2006/main">
              <a:ext uri="{FF2B5EF4-FFF2-40B4-BE49-F238E27FC236}">
                <a16:creationId xmlns:a16="http://schemas.microsoft.com/office/drawing/2014/main" id="{793E191C-CBA8-4A6C-949D-7EA51E0209E3}"/>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32</a:t>
            </a:r>
          </a:p>
        </p:txBody>
      </p:sp>
    </p:spTree>
    <p:extLst>
      <p:ext uri="{BB962C8B-B14F-4D97-AF65-F5344CB8AC3E}">
        <p14:creationId xmlns:p14="http://schemas.microsoft.com/office/powerpoint/2010/main" val="1233810255"/>
      </p:ext>
    </p:extLst>
  </p:cSld>
</p:sld>
</file>

<file path=ppt/slides/slide3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F0854B8-11CA-4E47-B25F-E5742CC89BD1}"/>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Continuidad entre Codex, Cursor y Antigravity</a:t>
            </a:r>
          </a:p>
        </p:txBody>
      </p:sp>
      <p:sp>
        <p:nvSpPr>
          <p:cNvPr id="2" name="">
            <a:extLst xmlns:a="http://schemas.openxmlformats.org/drawingml/2006/main">
              <a:ext uri="{FF2B5EF4-FFF2-40B4-BE49-F238E27FC236}">
                <a16:creationId xmlns:a16="http://schemas.microsoft.com/office/drawing/2014/main" id="{6899D851-5D0B-47BD-9B75-C3D56F2AF4EB}"/>
              </a:ext>
            </a:extLst>
          </p:cNvPr>
          <p:cNvSpPr>
            <a:spLocks xmlns:a="http://schemas.openxmlformats.org/drawingml/2006/main" noGrp="1"/>
          </p:cNvSpPr>
          <p:nvPr/>
        </p:nvSpPr>
        <p:spPr>
          <a:xfrm xmlns:a="http://schemas.openxmlformats.org/drawingml/2006/main">
            <a:off x="685800" y="1847850"/>
            <a:ext cx="6648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C77"/>
                </a:solidFill>
                <a:latin typeface="DejaVu Sans"/>
                <a:ea typeface="DejaVu Sans"/>
                <a:cs typeface="DejaVu Sans"/>
              </a:defRPr>
            </a:pPr>
            <a:r>
              <a:rPr sz="2550" b="1">
                <a:solidFill>
                  <a:srgbClr val="087C77"/>
                </a:solidFill>
                <a:latin typeface="DejaVu Sans"/>
                <a:ea typeface="DejaVu Sans"/>
                <a:cs typeface="DejaVu Sans"/>
              </a:rPr>
              <a:t>Qué debe quedar en el repositorio</a:t>
            </a:r>
          </a:p>
        </p:txBody>
      </p:sp>
      <p:sp>
        <p:nvSpPr>
          <p:cNvPr id="3" name="">
            <a:extLst xmlns:a="http://schemas.openxmlformats.org/drawingml/2006/main">
              <a:ext uri="{FF2B5EF4-FFF2-40B4-BE49-F238E27FC236}">
                <a16:creationId xmlns:a16="http://schemas.microsoft.com/office/drawing/2014/main" id="{5E39B3FB-1E0A-4605-BD09-CEF0103ACB4E}"/>
              </a:ext>
            </a:extLst>
          </p:cNvPr>
          <p:cNvSpPr>
            <a:spLocks xmlns:a="http://schemas.openxmlformats.org/drawingml/2006/main" noGrp="1"/>
          </p:cNvSpPr>
          <p:nvPr/>
        </p:nvSpPr>
        <p:spPr>
          <a:xfrm xmlns:a="http://schemas.openxmlformats.org/drawingml/2006/main">
            <a:off x="7953375" y="1847850"/>
            <a:ext cx="657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C77"/>
                </a:solidFill>
                <a:latin typeface="DejaVu Sans"/>
                <a:ea typeface="DejaVu Sans"/>
                <a:cs typeface="DejaVu Sans"/>
              </a:defRPr>
            </a:pPr>
            <a:r>
              <a:rPr sz="2550" b="1">
                <a:solidFill>
                  <a:srgbClr val="087C77"/>
                </a:solidFill>
                <a:latin typeface="DejaVu Sans"/>
                <a:ea typeface="DejaVu Sans"/>
                <a:cs typeface="DejaVu Sans"/>
              </a:rPr>
              <a:t>Prompt para retomar</a:t>
            </a:r>
          </a:p>
        </p:txBody>
      </p:sp>
      <p:sp>
        <p:nvSpPr>
          <p:cNvPr id="4" name="">
            <a:extLst xmlns:a="http://schemas.openxmlformats.org/drawingml/2006/main">
              <a:ext uri="{FF2B5EF4-FFF2-40B4-BE49-F238E27FC236}">
                <a16:creationId xmlns:a16="http://schemas.microsoft.com/office/drawing/2014/main" id="{2CE3BA57-F8ED-4E4D-9835-9A5CCD73DAAF}"/>
              </a:ext>
            </a:extLst>
          </p:cNvPr>
          <p:cNvSpPr>
            <a:spLocks xmlns:a="http://schemas.openxmlformats.org/drawingml/2006/main" noGrp="1"/>
          </p:cNvSpPr>
          <p:nvPr/>
        </p:nvSpPr>
        <p:spPr>
          <a:xfrm xmlns:a="http://schemas.openxmlformats.org/drawingml/2006/main">
            <a:off x="685800" y="2657475"/>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Código y rama de trabajo identificados.</a:t>
            </a:r>
          </a:p>
        </p:txBody>
      </p:sp>
      <p:sp>
        <p:nvSpPr>
          <p:cNvPr id="5" name="">
            <a:extLst xmlns:a="http://schemas.openxmlformats.org/drawingml/2006/main">
              <a:ext uri="{FF2B5EF4-FFF2-40B4-BE49-F238E27FC236}">
                <a16:creationId xmlns:a16="http://schemas.microsoft.com/office/drawing/2014/main" id="{609C3BFA-7D0C-4DDF-86FC-18AFCB780B28}"/>
              </a:ext>
            </a:extLst>
          </p:cNvPr>
          <p:cNvSpPr>
            <a:spLocks xmlns:a="http://schemas.openxmlformats.org/drawingml/2006/main" noGrp="1"/>
          </p:cNvSpPr>
          <p:nvPr/>
        </p:nvSpPr>
        <p:spPr>
          <a:xfrm xmlns:a="http://schemas.openxmlformats.org/drawingml/2006/main">
            <a:off x="685800" y="3776663"/>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Especificación y decisiones vigentes.</a:t>
            </a:r>
          </a:p>
        </p:txBody>
      </p:sp>
      <p:sp>
        <p:nvSpPr>
          <p:cNvPr id="6" name="">
            <a:extLst xmlns:a="http://schemas.openxmlformats.org/drawingml/2006/main">
              <a:ext uri="{FF2B5EF4-FFF2-40B4-BE49-F238E27FC236}">
                <a16:creationId xmlns:a16="http://schemas.microsoft.com/office/drawing/2014/main" id="{DD8615B5-BC56-43A3-A41D-8B29A18EA857}"/>
              </a:ext>
            </a:extLst>
          </p:cNvPr>
          <p:cNvSpPr>
            <a:spLocks xmlns:a="http://schemas.openxmlformats.org/drawingml/2006/main" noGrp="1"/>
          </p:cNvSpPr>
          <p:nvPr/>
        </p:nvSpPr>
        <p:spPr>
          <a:xfrm xmlns:a="http://schemas.openxmlformats.org/drawingml/2006/main">
            <a:off x="685800" y="4895850"/>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Tareas completadas y pendientes.</a:t>
            </a:r>
          </a:p>
        </p:txBody>
      </p:sp>
      <p:sp>
        <p:nvSpPr>
          <p:cNvPr id="7" name="">
            <a:extLst xmlns:a="http://schemas.openxmlformats.org/drawingml/2006/main">
              <a:ext uri="{FF2B5EF4-FFF2-40B4-BE49-F238E27FC236}">
                <a16:creationId xmlns:a16="http://schemas.microsoft.com/office/drawing/2014/main" id="{EB151C5D-406F-4326-9F78-B8A552C26A54}"/>
              </a:ext>
            </a:extLst>
          </p:cNvPr>
          <p:cNvSpPr>
            <a:spLocks xmlns:a="http://schemas.openxmlformats.org/drawingml/2006/main" noGrp="1"/>
          </p:cNvSpPr>
          <p:nvPr/>
        </p:nvSpPr>
        <p:spPr>
          <a:xfrm xmlns:a="http://schemas.openxmlformats.org/drawingml/2006/main">
            <a:off x="685800" y="6015038"/>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Pruebas ejecutadas con sus resultados.</a:t>
            </a:r>
          </a:p>
        </p:txBody>
      </p:sp>
      <p:sp>
        <p:nvSpPr>
          <p:cNvPr id="8" name="">
            <a:extLst xmlns:a="http://schemas.openxmlformats.org/drawingml/2006/main">
              <a:ext uri="{FF2B5EF4-FFF2-40B4-BE49-F238E27FC236}">
                <a16:creationId xmlns:a16="http://schemas.microsoft.com/office/drawing/2014/main" id="{DD772438-65D4-4CAC-BAA2-6D2A66416058}"/>
              </a:ext>
            </a:extLst>
          </p:cNvPr>
          <p:cNvSpPr>
            <a:spLocks xmlns:a="http://schemas.openxmlformats.org/drawingml/2006/main" noGrp="1"/>
          </p:cNvSpPr>
          <p:nvPr/>
        </p:nvSpPr>
        <p:spPr>
          <a:xfrm xmlns:a="http://schemas.openxmlformats.org/drawingml/2006/main">
            <a:off x="7953375" y="2657475"/>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Lee las instrucciones y el cambio en curso.</a:t>
            </a:r>
          </a:p>
        </p:txBody>
      </p:sp>
      <p:sp>
        <p:nvSpPr>
          <p:cNvPr id="9" name="">
            <a:extLst xmlns:a="http://schemas.openxmlformats.org/drawingml/2006/main">
              <a:ext uri="{FF2B5EF4-FFF2-40B4-BE49-F238E27FC236}">
                <a16:creationId xmlns:a16="http://schemas.microsoft.com/office/drawing/2014/main" id="{BE1DEBAB-81CF-450E-9568-48F57DE573D9}"/>
              </a:ext>
            </a:extLst>
          </p:cNvPr>
          <p:cNvSpPr>
            <a:spLocks xmlns:a="http://schemas.openxmlformats.org/drawingml/2006/main" noGrp="1"/>
          </p:cNvSpPr>
          <p:nvPr/>
        </p:nvSpPr>
        <p:spPr>
          <a:xfrm xmlns:a="http://schemas.openxmlformats.org/drawingml/2006/main">
            <a:off x="7953375" y="3776663"/>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Resume lo implementado y lo pendiente.</a:t>
            </a:r>
          </a:p>
        </p:txBody>
      </p:sp>
      <p:sp>
        <p:nvSpPr>
          <p:cNvPr id="10" name="">
            <a:extLst xmlns:a="http://schemas.openxmlformats.org/drawingml/2006/main">
              <a:ext uri="{FF2B5EF4-FFF2-40B4-BE49-F238E27FC236}">
                <a16:creationId xmlns:a16="http://schemas.microsoft.com/office/drawing/2014/main" id="{DF5457B7-DED9-4334-8458-9AE66E0ED46F}"/>
              </a:ext>
            </a:extLst>
          </p:cNvPr>
          <p:cNvSpPr>
            <a:spLocks xmlns:a="http://schemas.openxmlformats.org/drawingml/2006/main" noGrp="1"/>
          </p:cNvSpPr>
          <p:nvPr/>
        </p:nvSpPr>
        <p:spPr>
          <a:xfrm xmlns:a="http://schemas.openxmlformats.org/drawingml/2006/main">
            <a:off x="7953375" y="4895850"/>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Contrasta el estado con los archivos.</a:t>
            </a:r>
          </a:p>
        </p:txBody>
      </p:sp>
      <p:sp>
        <p:nvSpPr>
          <p:cNvPr id="11" name="">
            <a:extLst xmlns:a="http://schemas.openxmlformats.org/drawingml/2006/main">
              <a:ext uri="{FF2B5EF4-FFF2-40B4-BE49-F238E27FC236}">
                <a16:creationId xmlns:a16="http://schemas.microsoft.com/office/drawing/2014/main" id="{7AF82A80-D022-4788-AA04-9B6B96988C54}"/>
              </a:ext>
            </a:extLst>
          </p:cNvPr>
          <p:cNvSpPr>
            <a:spLocks xmlns:a="http://schemas.openxmlformats.org/drawingml/2006/main" noGrp="1"/>
          </p:cNvSpPr>
          <p:nvPr/>
        </p:nvSpPr>
        <p:spPr>
          <a:xfrm xmlns:a="http://schemas.openxmlformats.org/drawingml/2006/main">
            <a:off x="7953375" y="6015038"/>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Continúa la próxima tarea sin repetir lo terminado.</a:t>
            </a:r>
          </a:p>
        </p:txBody>
      </p:sp>
      <p:sp>
        <p:nvSpPr>
          <p:cNvPr id="12" name="">
            <a:extLst xmlns:a="http://schemas.openxmlformats.org/drawingml/2006/main">
              <a:ext uri="{FF2B5EF4-FFF2-40B4-BE49-F238E27FC236}">
                <a16:creationId xmlns:a16="http://schemas.microsoft.com/office/drawing/2014/main" id="{B1C9728D-CD8D-4B24-96C2-E676D5585D3E}"/>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El contexto compartido necesita mantenimiento y verificación, incluso si está en Markdown.</a:t>
            </a:r>
          </a:p>
        </p:txBody>
      </p:sp>
      <p:sp>
        <p:nvSpPr>
          <p:cNvPr id="13" name="">
            <a:extLst xmlns:a="http://schemas.openxmlformats.org/drawingml/2006/main">
              <a:ext uri="{FF2B5EF4-FFF2-40B4-BE49-F238E27FC236}">
                <a16:creationId xmlns:a16="http://schemas.microsoft.com/office/drawing/2014/main" id="{7C90D0B0-BD7B-4120-AFB2-F65B3E646E3A}"/>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33</a:t>
            </a:r>
          </a:p>
        </p:txBody>
      </p:sp>
    </p:spTree>
    <p:extLst>
      <p:ext uri="{BB962C8B-B14F-4D97-AF65-F5344CB8AC3E}">
        <p14:creationId xmlns:p14="http://schemas.microsoft.com/office/powerpoint/2010/main" val="961631818"/>
      </p:ext>
    </p:extLst>
  </p:cSld>
</p:sld>
</file>

<file path=ppt/slides/slide3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B7A68F7-5111-4D25-8702-22E29B84C054}"/>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Aprendizajes para llevar al siguiente proyecto</a:t>
            </a:r>
          </a:p>
        </p:txBody>
      </p:sp>
      <p:sp>
        <p:nvSpPr>
          <p:cNvPr id="2" name="">
            <a:extLst xmlns:a="http://schemas.openxmlformats.org/drawingml/2006/main">
              <a:ext uri="{FF2B5EF4-FFF2-40B4-BE49-F238E27FC236}">
                <a16:creationId xmlns:a16="http://schemas.microsoft.com/office/drawing/2014/main" id="{0CA0E2E8-0A02-4E97-B359-D459637438FD}"/>
              </a:ext>
            </a:extLst>
          </p:cNvPr>
          <p:cNvSpPr>
            <a:spLocks xmlns:a="http://schemas.openxmlformats.org/drawingml/2006/main" noGrp="1"/>
          </p:cNvSpPr>
          <p:nvPr/>
        </p:nvSpPr>
        <p:spPr>
          <a:xfrm xmlns:a="http://schemas.openxmlformats.org/drawingml/2006/main">
            <a:off x="685800" y="1847850"/>
            <a:ext cx="6648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C77"/>
                </a:solidFill>
                <a:latin typeface="DejaVu Sans"/>
                <a:ea typeface="DejaVu Sans"/>
                <a:cs typeface="DejaVu Sans"/>
              </a:defRPr>
            </a:pPr>
            <a:r>
              <a:rPr sz="2550" b="1">
                <a:solidFill>
                  <a:srgbClr val="087C77"/>
                </a:solidFill>
                <a:latin typeface="DejaVu Sans"/>
                <a:ea typeface="DejaVu Sans"/>
                <a:cs typeface="DejaVu Sans"/>
              </a:rPr>
              <a:t>Qué aportó el trabajo humano</a:t>
            </a:r>
          </a:p>
        </p:txBody>
      </p:sp>
      <p:sp>
        <p:nvSpPr>
          <p:cNvPr id="3" name="">
            <a:extLst xmlns:a="http://schemas.openxmlformats.org/drawingml/2006/main">
              <a:ext uri="{FF2B5EF4-FFF2-40B4-BE49-F238E27FC236}">
                <a16:creationId xmlns:a16="http://schemas.microsoft.com/office/drawing/2014/main" id="{F4F57C5B-D399-4DA1-8F72-7A48D86A8D11}"/>
              </a:ext>
            </a:extLst>
          </p:cNvPr>
          <p:cNvSpPr>
            <a:spLocks xmlns:a="http://schemas.openxmlformats.org/drawingml/2006/main" noGrp="1"/>
          </p:cNvSpPr>
          <p:nvPr/>
        </p:nvSpPr>
        <p:spPr>
          <a:xfrm xmlns:a="http://schemas.openxmlformats.org/drawingml/2006/main">
            <a:off x="7953375" y="1847850"/>
            <a:ext cx="657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C77"/>
                </a:solidFill>
                <a:latin typeface="DejaVu Sans"/>
                <a:ea typeface="DejaVu Sans"/>
                <a:cs typeface="DejaVu Sans"/>
              </a:defRPr>
            </a:pPr>
            <a:r>
              <a:rPr sz="2550" b="1">
                <a:solidFill>
                  <a:srgbClr val="087C77"/>
                </a:solidFill>
                <a:latin typeface="DejaVu Sans"/>
                <a:ea typeface="DejaVu Sans"/>
                <a:cs typeface="DejaVu Sans"/>
              </a:rPr>
              <a:t>Qué evaluar con SDD</a:t>
            </a:r>
          </a:p>
        </p:txBody>
      </p:sp>
      <p:sp>
        <p:nvSpPr>
          <p:cNvPr id="4" name="">
            <a:extLst xmlns:a="http://schemas.openxmlformats.org/drawingml/2006/main">
              <a:ext uri="{FF2B5EF4-FFF2-40B4-BE49-F238E27FC236}">
                <a16:creationId xmlns:a16="http://schemas.microsoft.com/office/drawing/2014/main" id="{586D9D8F-FFF8-4AA9-BC65-DDA3064ACC02}"/>
              </a:ext>
            </a:extLst>
          </p:cNvPr>
          <p:cNvSpPr>
            <a:spLocks xmlns:a="http://schemas.openxmlformats.org/drawingml/2006/main" noGrp="1"/>
          </p:cNvSpPr>
          <p:nvPr/>
        </p:nvSpPr>
        <p:spPr>
          <a:xfrm xmlns:a="http://schemas.openxmlformats.org/drawingml/2006/main">
            <a:off x="685800" y="2657475"/>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Definir adopción, estándar e implementación.</a:t>
            </a:r>
          </a:p>
        </p:txBody>
      </p:sp>
      <p:sp>
        <p:nvSpPr>
          <p:cNvPr id="5" name="">
            <a:extLst xmlns:a="http://schemas.openxmlformats.org/drawingml/2006/main">
              <a:ext uri="{FF2B5EF4-FFF2-40B4-BE49-F238E27FC236}">
                <a16:creationId xmlns:a16="http://schemas.microsoft.com/office/drawing/2014/main" id="{4D2605BD-10D4-4744-BBF9-A6BA1D388CA0}"/>
              </a:ext>
            </a:extLst>
          </p:cNvPr>
          <p:cNvSpPr>
            <a:spLocks xmlns:a="http://schemas.openxmlformats.org/drawingml/2006/main" noGrp="1"/>
          </p:cNvSpPr>
          <p:nvPr/>
        </p:nvSpPr>
        <p:spPr>
          <a:xfrm xmlns:a="http://schemas.openxmlformats.org/drawingml/2006/main">
            <a:off x="685800" y="3776663"/>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Aclarar responsables y reglas por empresa.</a:t>
            </a:r>
          </a:p>
        </p:txBody>
      </p:sp>
      <p:sp>
        <p:nvSpPr>
          <p:cNvPr id="6" name="">
            <a:extLst xmlns:a="http://schemas.openxmlformats.org/drawingml/2006/main">
              <a:ext uri="{FF2B5EF4-FFF2-40B4-BE49-F238E27FC236}">
                <a16:creationId xmlns:a16="http://schemas.microsoft.com/office/drawing/2014/main" id="{B2676ABF-BA62-4A01-ACAA-0CC6A9F46D65}"/>
              </a:ext>
            </a:extLst>
          </p:cNvPr>
          <p:cNvSpPr>
            <a:spLocks xmlns:a="http://schemas.openxmlformats.org/drawingml/2006/main" noGrp="1"/>
          </p:cNvSpPr>
          <p:nvPr/>
        </p:nvSpPr>
        <p:spPr>
          <a:xfrm xmlns:a="http://schemas.openxmlformats.org/drawingml/2006/main">
            <a:off x="685800" y="4895850"/>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Corregir propuestas con el contexto del negocio.</a:t>
            </a:r>
          </a:p>
        </p:txBody>
      </p:sp>
      <p:sp>
        <p:nvSpPr>
          <p:cNvPr id="7" name="">
            <a:extLst xmlns:a="http://schemas.openxmlformats.org/drawingml/2006/main">
              <a:ext uri="{FF2B5EF4-FFF2-40B4-BE49-F238E27FC236}">
                <a16:creationId xmlns:a16="http://schemas.microsoft.com/office/drawing/2014/main" id="{21D49AA8-6B88-4353-B74A-1764C091FCDA}"/>
              </a:ext>
            </a:extLst>
          </p:cNvPr>
          <p:cNvSpPr>
            <a:spLocks xmlns:a="http://schemas.openxmlformats.org/drawingml/2006/main" noGrp="1"/>
          </p:cNvSpPr>
          <p:nvPr/>
        </p:nvSpPr>
        <p:spPr>
          <a:xfrm xmlns:a="http://schemas.openxmlformats.org/drawingml/2006/main">
            <a:off x="685800" y="6015038"/>
            <a:ext cx="65341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Decidir qué evidencia permite aceptar el cambio.</a:t>
            </a:r>
          </a:p>
        </p:txBody>
      </p:sp>
      <p:sp>
        <p:nvSpPr>
          <p:cNvPr id="8" name="">
            <a:extLst xmlns:a="http://schemas.openxmlformats.org/drawingml/2006/main">
              <a:ext uri="{FF2B5EF4-FFF2-40B4-BE49-F238E27FC236}">
                <a16:creationId xmlns:a16="http://schemas.microsoft.com/office/drawing/2014/main" id="{E2DBC45E-7A3B-4C2E-A24E-840CA8866D41}"/>
              </a:ext>
            </a:extLst>
          </p:cNvPr>
          <p:cNvSpPr>
            <a:spLocks xmlns:a="http://schemas.openxmlformats.org/drawingml/2006/main" noGrp="1"/>
          </p:cNvSpPr>
          <p:nvPr/>
        </p:nvSpPr>
        <p:spPr>
          <a:xfrm xmlns:a="http://schemas.openxmlformats.org/drawingml/2006/main">
            <a:off x="7953375" y="2657475"/>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Menos requisitos omitidos en la revisión.</a:t>
            </a:r>
          </a:p>
        </p:txBody>
      </p:sp>
      <p:sp>
        <p:nvSpPr>
          <p:cNvPr id="9" name="">
            <a:extLst xmlns:a="http://schemas.openxmlformats.org/drawingml/2006/main">
              <a:ext uri="{FF2B5EF4-FFF2-40B4-BE49-F238E27FC236}">
                <a16:creationId xmlns:a16="http://schemas.microsoft.com/office/drawing/2014/main" id="{C80422D2-60FC-4F54-B6BC-7A992C9688F3}"/>
              </a:ext>
            </a:extLst>
          </p:cNvPr>
          <p:cNvSpPr>
            <a:spLocks xmlns:a="http://schemas.openxmlformats.org/drawingml/2006/main" noGrp="1"/>
          </p:cNvSpPr>
          <p:nvPr/>
        </p:nvSpPr>
        <p:spPr>
          <a:xfrm xmlns:a="http://schemas.openxmlformats.org/drawingml/2006/main">
            <a:off x="7953375" y="3776663"/>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Decisiones fáciles de localizar y explicar.</a:t>
            </a:r>
          </a:p>
        </p:txBody>
      </p:sp>
      <p:sp>
        <p:nvSpPr>
          <p:cNvPr id="10" name="">
            <a:extLst xmlns:a="http://schemas.openxmlformats.org/drawingml/2006/main">
              <a:ext uri="{FF2B5EF4-FFF2-40B4-BE49-F238E27FC236}">
                <a16:creationId xmlns:a16="http://schemas.microsoft.com/office/drawing/2014/main" id="{9CCAC1E3-F4B3-4453-B0CF-E793BE92327B}"/>
              </a:ext>
            </a:extLst>
          </p:cNvPr>
          <p:cNvSpPr>
            <a:spLocks xmlns:a="http://schemas.openxmlformats.org/drawingml/2006/main" noGrp="1"/>
          </p:cNvSpPr>
          <p:nvPr/>
        </p:nvSpPr>
        <p:spPr>
          <a:xfrm xmlns:a="http://schemas.openxmlformats.org/drawingml/2006/main">
            <a:off x="7953375" y="4895850"/>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Cambios más fáciles de retomar con otro agente.</a:t>
            </a:r>
          </a:p>
        </p:txBody>
      </p:sp>
      <p:sp>
        <p:nvSpPr>
          <p:cNvPr id="11" name="">
            <a:extLst xmlns:a="http://schemas.openxmlformats.org/drawingml/2006/main">
              <a:ext uri="{FF2B5EF4-FFF2-40B4-BE49-F238E27FC236}">
                <a16:creationId xmlns:a16="http://schemas.microsoft.com/office/drawing/2014/main" id="{DDB659D4-BD17-46C3-8990-5F6E52AFC3A0}"/>
              </a:ext>
            </a:extLst>
          </p:cNvPr>
          <p:cNvSpPr>
            <a:spLocks xmlns:a="http://schemas.openxmlformats.org/drawingml/2006/main" noGrp="1"/>
          </p:cNvSpPr>
          <p:nvPr/>
        </p:nvSpPr>
        <p:spPr>
          <a:xfrm xmlns:a="http://schemas.openxmlformats.org/drawingml/2006/main">
            <a:off x="7953375" y="6015038"/>
            <a:ext cx="6572250" cy="1004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F41"/>
                </a:solidFill>
                <a:latin typeface="DejaVu Sans"/>
                <a:ea typeface="DejaVu Sans"/>
                <a:cs typeface="DejaVu Sans"/>
              </a:defRPr>
            </a:pPr>
            <a:r>
              <a:rPr sz="2325" b="0">
                <a:solidFill>
                  <a:srgbClr val="152F41"/>
                </a:solidFill>
                <a:latin typeface="DejaVu Sans"/>
                <a:ea typeface="DejaVu Sans"/>
                <a:cs typeface="DejaVu Sans"/>
              </a:rPr>
              <a:t>Tiempo de revisión y retrabajo medidos.</a:t>
            </a:r>
          </a:p>
        </p:txBody>
      </p:sp>
      <p:sp>
        <p:nvSpPr>
          <p:cNvPr id="12" name="">
            <a:extLst xmlns:a="http://schemas.openxmlformats.org/drawingml/2006/main">
              <a:ext uri="{FF2B5EF4-FFF2-40B4-BE49-F238E27FC236}">
                <a16:creationId xmlns:a16="http://schemas.microsoft.com/office/drawing/2014/main" id="{714FCC12-F31B-4F7C-9A58-2E99F0867E96}"/>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La evaluación se basa en comportamiento y evidencia, no en líneas de código.</a:t>
            </a:r>
          </a:p>
        </p:txBody>
      </p:sp>
      <p:sp>
        <p:nvSpPr>
          <p:cNvPr id="13" name="">
            <a:extLst xmlns:a="http://schemas.openxmlformats.org/drawingml/2006/main">
              <a:ext uri="{FF2B5EF4-FFF2-40B4-BE49-F238E27FC236}">
                <a16:creationId xmlns:a16="http://schemas.microsoft.com/office/drawing/2014/main" id="{BF0BDC5C-B334-40AB-9A75-A98D6D9D48E8}"/>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34</a:t>
            </a:r>
          </a:p>
        </p:txBody>
      </p:sp>
    </p:spTree>
    <p:extLst>
      <p:ext uri="{BB962C8B-B14F-4D97-AF65-F5344CB8AC3E}">
        <p14:creationId xmlns:p14="http://schemas.microsoft.com/office/powerpoint/2010/main" val="1569983833"/>
      </p:ext>
    </p:extLst>
  </p:cSld>
</p:sld>
</file>

<file path=ppt/slides/slide35.xml><?xml version="1.0" encoding="utf-8"?>
<p:sld xmlns:p="http://schemas.openxmlformats.org/presentationml/2006/main">
  <p:cSld>
    <p:bg>
      <p:bgPr>
        <a:solidFill xmlns:a="http://schemas.openxmlformats.org/drawingml/2006/main">
          <a:srgbClr val="102D4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4CFDF4D-F103-4549-84F3-2235FCFCB8EB}"/>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Actividad de cierre · Revisión entre pares</a:t>
            </a:r>
          </a:p>
        </p:txBody>
      </p:sp>
      <p:sp>
        <p:nvSpPr>
          <p:cNvPr id="2" name="">
            <a:extLst xmlns:a="http://schemas.openxmlformats.org/drawingml/2006/main">
              <a:ext uri="{FF2B5EF4-FFF2-40B4-BE49-F238E27FC236}">
                <a16:creationId xmlns:a16="http://schemas.microsoft.com/office/drawing/2014/main" id="{6E06B0F4-3C2F-45F4-BCD6-7FE6A1296BD2}"/>
              </a:ext>
            </a:extLst>
          </p:cNvPr>
          <p:cNvSpPr>
            <a:spLocks xmlns:a="http://schemas.openxmlformats.org/drawingml/2006/main" noGrp="1"/>
          </p:cNvSpPr>
          <p:nvPr/>
        </p:nvSpPr>
        <p:spPr>
          <a:xfrm xmlns:a="http://schemas.openxmlformats.org/drawingml/2006/main">
            <a:off x="742950" y="1828800"/>
            <a:ext cx="13573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9EDDD1"/>
                </a:solidFill>
                <a:latin typeface="DejaVu Sans"/>
                <a:ea typeface="DejaVu Sans"/>
                <a:cs typeface="DejaVu Sans"/>
              </a:defRPr>
            </a:pPr>
            <a:r>
              <a:rPr sz="2850" b="0">
                <a:solidFill>
                  <a:srgbClr val="9EDDD1"/>
                </a:solidFill>
                <a:latin typeface="DejaVu Sans"/>
                <a:ea typeface="DejaVu Sans"/>
                <a:cs typeface="DejaVu Sans"/>
              </a:rPr>
              <a:t>Intercambia tu especificación con otra pareja.</a:t>
            </a:r>
          </a:p>
        </p:txBody>
      </p:sp>
      <p:sp>
        <p:nvSpPr>
          <p:cNvPr id="3" name="">
            <a:extLst xmlns:a="http://schemas.openxmlformats.org/drawingml/2006/main">
              <a:ext uri="{FF2B5EF4-FFF2-40B4-BE49-F238E27FC236}">
                <a16:creationId xmlns:a16="http://schemas.microsoft.com/office/drawing/2014/main" id="{0553BC03-372E-4E18-BA2E-332861FBB514}"/>
              </a:ext>
            </a:extLst>
          </p:cNvPr>
          <p:cNvSpPr>
            <a:spLocks xmlns:a="http://schemas.openxmlformats.org/drawingml/2006/main" noGrp="1"/>
          </p:cNvSpPr>
          <p:nvPr/>
        </p:nvSpPr>
        <p:spPr>
          <a:xfrm xmlns:a="http://schemas.openxmlformats.org/drawingml/2006/main">
            <a:off x="742950" y="2952750"/>
            <a:ext cx="13716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DejaVu Sans"/>
                <a:ea typeface="DejaVu Sans"/>
                <a:cs typeface="DejaVu Sans"/>
              </a:defRPr>
            </a:pPr>
            <a:r>
              <a:rPr sz="2550" b="0">
                <a:solidFill>
                  <a:srgbClr val="FFFFFF"/>
                </a:solidFill>
                <a:latin typeface="DejaVu Sans"/>
                <a:ea typeface="DejaVu Sans"/>
                <a:cs typeface="DejaVu Sans"/>
              </a:rPr>
              <a:t>1. ¿Otra persona puede comprobar cada criterio sin adivinar?</a:t>
            </a:r>
          </a:p>
        </p:txBody>
      </p:sp>
      <p:sp>
        <p:nvSpPr>
          <p:cNvPr id="4" name="">
            <a:extLst xmlns:a="http://schemas.openxmlformats.org/drawingml/2006/main">
              <a:ext uri="{FF2B5EF4-FFF2-40B4-BE49-F238E27FC236}">
                <a16:creationId xmlns:a16="http://schemas.microsoft.com/office/drawing/2014/main" id="{9EBE0034-7240-4295-B89F-31F4A944B6F2}"/>
              </a:ext>
            </a:extLst>
          </p:cNvPr>
          <p:cNvSpPr>
            <a:spLocks xmlns:a="http://schemas.openxmlformats.org/drawingml/2006/main" noGrp="1"/>
          </p:cNvSpPr>
          <p:nvPr/>
        </p:nvSpPr>
        <p:spPr>
          <a:xfrm xmlns:a="http://schemas.openxmlformats.org/drawingml/2006/main">
            <a:off x="742950" y="3838575"/>
            <a:ext cx="13716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DejaVu Sans"/>
                <a:ea typeface="DejaVu Sans"/>
                <a:cs typeface="DejaVu Sans"/>
              </a:defRPr>
            </a:pPr>
            <a:r>
              <a:rPr sz="2550" b="0">
                <a:solidFill>
                  <a:srgbClr val="FFFFFF"/>
                </a:solidFill>
                <a:latin typeface="DejaVu Sans"/>
                <a:ea typeface="DejaVu Sans"/>
                <a:cs typeface="DejaVu Sans"/>
              </a:rPr>
              <a:t>2. ¿Se distingue estándar corporativo de implementación?</a:t>
            </a:r>
          </a:p>
        </p:txBody>
      </p:sp>
      <p:sp>
        <p:nvSpPr>
          <p:cNvPr id="5" name="">
            <a:extLst xmlns:a="http://schemas.openxmlformats.org/drawingml/2006/main">
              <a:ext uri="{FF2B5EF4-FFF2-40B4-BE49-F238E27FC236}">
                <a16:creationId xmlns:a16="http://schemas.microsoft.com/office/drawing/2014/main" id="{59EA7A46-28F6-41FC-88B1-B1AA39502429}"/>
              </a:ext>
            </a:extLst>
          </p:cNvPr>
          <p:cNvSpPr>
            <a:spLocks xmlns:a="http://schemas.openxmlformats.org/drawingml/2006/main" noGrp="1"/>
          </p:cNvSpPr>
          <p:nvPr/>
        </p:nvSpPr>
        <p:spPr>
          <a:xfrm xmlns:a="http://schemas.openxmlformats.org/drawingml/2006/main">
            <a:off x="742950" y="4724400"/>
            <a:ext cx="13716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DejaVu Sans"/>
                <a:ea typeface="DejaVu Sans"/>
                <a:cs typeface="DejaVu Sans"/>
              </a:defRPr>
            </a:pPr>
            <a:r>
              <a:rPr sz="2550" b="0">
                <a:solidFill>
                  <a:srgbClr val="FFFFFF"/>
                </a:solidFill>
                <a:latin typeface="DejaVu Sans"/>
                <a:ea typeface="DejaVu Sans"/>
                <a:cs typeface="DejaVu Sans"/>
              </a:rPr>
              <a:t>3. ¿Los permisos se comprueban también en servidor?</a:t>
            </a:r>
          </a:p>
        </p:txBody>
      </p:sp>
      <p:sp>
        <p:nvSpPr>
          <p:cNvPr id="6" name="">
            <a:extLst xmlns:a="http://schemas.openxmlformats.org/drawingml/2006/main">
              <a:ext uri="{FF2B5EF4-FFF2-40B4-BE49-F238E27FC236}">
                <a16:creationId xmlns:a16="http://schemas.microsoft.com/office/drawing/2014/main" id="{EDB7F684-6AD0-4E11-BFD6-312A4C8F7B13}"/>
              </a:ext>
            </a:extLst>
          </p:cNvPr>
          <p:cNvSpPr>
            <a:spLocks xmlns:a="http://schemas.openxmlformats.org/drawingml/2006/main" noGrp="1"/>
          </p:cNvSpPr>
          <p:nvPr/>
        </p:nvSpPr>
        <p:spPr>
          <a:xfrm xmlns:a="http://schemas.openxmlformats.org/drawingml/2006/main">
            <a:off x="742950" y="5610225"/>
            <a:ext cx="13716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DejaVu Sans"/>
                <a:ea typeface="DejaVu Sans"/>
                <a:cs typeface="DejaVu Sans"/>
              </a:defRPr>
            </a:pPr>
            <a:r>
              <a:rPr sz="2550" b="0">
                <a:solidFill>
                  <a:srgbClr val="FFFFFF"/>
                </a:solidFill>
                <a:latin typeface="DejaVu Sans"/>
                <a:ea typeface="DejaVu Sans"/>
                <a:cs typeface="DejaVu Sans"/>
              </a:rPr>
              <a:t>4. ¿Un nuevo agente sabría qué falta y dónde continuar?</a:t>
            </a:r>
          </a:p>
        </p:txBody>
      </p:sp>
      <p:sp>
        <p:nvSpPr>
          <p:cNvPr id="7" name="">
            <a:extLst xmlns:a="http://schemas.openxmlformats.org/drawingml/2006/main">
              <a:ext uri="{FF2B5EF4-FFF2-40B4-BE49-F238E27FC236}">
                <a16:creationId xmlns:a16="http://schemas.microsoft.com/office/drawing/2014/main" id="{146CD63B-B828-4628-93C8-E7CEBC528076}"/>
              </a:ext>
            </a:extLst>
          </p:cNvPr>
          <p:cNvSpPr>
            <a:spLocks xmlns:a="http://schemas.openxmlformats.org/drawingml/2006/main" noGrp="1"/>
          </p:cNvSpPr>
          <p:nvPr/>
        </p:nvSpPr>
        <p:spPr>
          <a:xfrm xmlns:a="http://schemas.openxmlformats.org/drawingml/2006/main">
            <a:off x="742950" y="696277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9EDDD1"/>
                </a:solidFill>
                <a:latin typeface="DejaVu Sans"/>
                <a:ea typeface="DejaVu Sans"/>
                <a:cs typeface="DejaVu Sans"/>
              </a:defRPr>
            </a:pPr>
            <a:r>
              <a:rPr sz="2325" b="1">
                <a:solidFill>
                  <a:srgbClr val="9EDDD1"/>
                </a:solidFill>
                <a:latin typeface="DejaVu Sans"/>
                <a:ea typeface="DejaVu Sans"/>
                <a:cs typeface="DejaVu Sans"/>
              </a:rPr>
              <a:t>Mejora un criterio ambiguo y explica cómo lo probarías.</a:t>
            </a:r>
          </a:p>
        </p:txBody>
      </p:sp>
      <p:sp>
        <p:nvSpPr>
          <p:cNvPr id="8" name="">
            <a:extLst xmlns:a="http://schemas.openxmlformats.org/drawingml/2006/main">
              <a:ext uri="{FF2B5EF4-FFF2-40B4-BE49-F238E27FC236}">
                <a16:creationId xmlns:a16="http://schemas.microsoft.com/office/drawing/2014/main" id="{70B5B5A4-8425-4B3F-9941-40F573885FFE}"/>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C9DFE4"/>
                </a:solidFill>
                <a:latin typeface="DejaVu Sans"/>
                <a:ea typeface="DejaVu Sans"/>
                <a:cs typeface="DejaVu Sans"/>
              </a:defRPr>
            </a:pPr>
            <a:r>
              <a:rPr sz="1725" b="0">
                <a:solidFill>
                  <a:srgbClr val="C9DFE4"/>
                </a:solidFill>
                <a:latin typeface="DejaVu Sans"/>
                <a:ea typeface="DejaVu Sans"/>
                <a:cs typeface="DejaVu Sans"/>
              </a:rPr>
              <a:t>Criterio de logro: especificación clara, alcance controlado y prueba trazable.</a:t>
            </a:r>
          </a:p>
        </p:txBody>
      </p:sp>
      <p:sp>
        <p:nvSpPr>
          <p:cNvPr id="9" name="">
            <a:extLst xmlns:a="http://schemas.openxmlformats.org/drawingml/2006/main">
              <a:ext uri="{FF2B5EF4-FFF2-40B4-BE49-F238E27FC236}">
                <a16:creationId xmlns:a16="http://schemas.microsoft.com/office/drawing/2014/main" id="{F792B71C-264C-4E1D-AEF9-786CBDBF0336}"/>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C9DFE4"/>
                </a:solidFill>
                <a:latin typeface="DejaVu Sans"/>
                <a:ea typeface="DejaVu Sans"/>
                <a:cs typeface="DejaVu Sans"/>
              </a:defRPr>
            </a:pPr>
            <a:r>
              <a:rPr sz="1500" b="0">
                <a:solidFill>
                  <a:srgbClr val="C9DFE4"/>
                </a:solidFill>
                <a:latin typeface="DejaVu Sans"/>
                <a:ea typeface="DejaVu Sans"/>
                <a:cs typeface="DejaVu Sans"/>
              </a:rPr>
              <a:t>35</a:t>
            </a:r>
          </a:p>
        </p:txBody>
      </p:sp>
    </p:spTree>
    <p:extLst>
      <p:ext uri="{BB962C8B-B14F-4D97-AF65-F5344CB8AC3E}">
        <p14:creationId xmlns:p14="http://schemas.microsoft.com/office/powerpoint/2010/main" val="275641065"/>
      </p:ext>
    </p:extLst>
  </p:cSld>
</p:sld>
</file>

<file path=ppt/slides/slide3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2489F7-2D74-4B57-B792-35FC359191CF}"/>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Fuentes para profundizar en los frameworks</a:t>
            </a:r>
          </a:p>
        </p:txBody>
      </p:sp>
      <p:graphicFrame>
        <p:nvGraphicFramePr>
          <p:cNvPr id="6" name=""/>
          <p:cNvGraphicFramePr/>
          <p:nvPr/>
        </p:nvGraphicFramePr>
        <p:xfrm>
          <a:off xmlns:a="http://schemas.openxmlformats.org/drawingml/2006/main" x="628650" y="1952625"/>
          <a:ext xmlns:a="http://schemas.openxmlformats.org/drawingml/2006/main" cx="14001750" cy="5105400"/>
        </p:xfrm>
        <a:graphic xmlns:a="http://schemas.openxmlformats.org/drawingml/2006/main">
          <a:graphicData uri="http://schemas.openxmlformats.org/drawingml/2006/table">
            <a:tbl>
              <a:tblPr/>
              <a:tblGrid>
                <a:gridCol w="7905750"/>
                <a:gridCol w="6096000"/>
              </a:tblGrid>
              <a:tr h="638175">
                <a:tc>
                  <a:txBody>
                    <a:bodyPr/>
                    <a:lstStyle/>
                    <a:p>
                      <a:r>
                        <a:rPr sz="1950" b="1">
                          <a:solidFill>
                            <a:srgbClr val="FFFFFF"/>
                          </a:solidFill>
                          <a:latin typeface="DejaVu Sans"/>
                          <a:ea typeface="DejaVu Sans"/>
                          <a:cs typeface="DejaVu Sans"/>
                        </a:rPr>
                        <a:t>Fuente oficial</a:t>
                      </a:r>
                    </a:p>
                  </a:txBody>
                  <a:tcPr marL="91440" marR="91440" marT="45720" marB="45720">
                    <a:solidFill>
                      <a:srgbClr val="183F4C"/>
                    </a:solidFill>
                  </a:tcPr>
                </a:tc>
                <a:tc>
                  <a:txBody>
                    <a:bodyPr/>
                    <a:lstStyle/>
                    <a:p>
                      <a:r>
                        <a:rPr sz="1950" b="1">
                          <a:solidFill>
                            <a:srgbClr val="FFFFFF"/>
                          </a:solidFill>
                          <a:latin typeface="DejaVu Sans"/>
                          <a:ea typeface="DejaVu Sans"/>
                          <a:cs typeface="DejaVu Sans"/>
                        </a:rPr>
                        <a:t>Qué consultar</a:t>
                      </a:r>
                    </a:p>
                  </a:txBody>
                  <a:tcPr marL="91440" marR="91440" marT="45720" marB="45720">
                    <a:solidFill>
                      <a:srgbClr val="183F4C"/>
                    </a:solidFill>
                  </a:tcPr>
                </a:tc>
              </a:tr>
              <a:tr h="638175">
                <a:tc>
                  <a:txBody>
                    <a:bodyPr/>
                    <a:lstStyle/>
                    <a:p>
                      <a:r>
                        <a:rPr sz="1950" b="0">
                          <a:solidFill>
                            <a:srgbClr val="152F41"/>
                          </a:solidFill>
                          <a:latin typeface="DejaVu Sans"/>
                          <a:ea typeface="DejaVu Sans"/>
                          <a:cs typeface="DejaVu Sans"/>
                        </a:rPr>
                        <a:t>github.com/Fission-AI/OpenSpec</a:t>
                      </a:r>
                    </a:p>
                  </a:txBody>
                  <a:tcPr marL="91440" marR="91440" marT="45720" marB="45720">
                    <a:solidFill>
                      <a:srgbClr val="F7F5EF"/>
                    </a:solidFill>
                  </a:tcPr>
                </a:tc>
                <a:tc>
                  <a:txBody>
                    <a:bodyPr/>
                    <a:lstStyle/>
                    <a:p>
                      <a:r>
                        <a:rPr sz="1950" b="0">
                          <a:solidFill>
                            <a:srgbClr val="152F41"/>
                          </a:solidFill>
                          <a:latin typeface="DejaVu Sans"/>
                          <a:ea typeface="DejaVu Sans"/>
                          <a:cs typeface="DejaVu Sans"/>
                        </a:rPr>
                        <a:t>Instalación, filosofía y requisitos de Node</a:t>
                      </a:r>
                    </a:p>
                  </a:txBody>
                  <a:tcPr marL="91440" marR="91440" marT="45720" marB="45720">
                    <a:solidFill>
                      <a:srgbClr val="F7F5EF"/>
                    </a:solidFill>
                  </a:tcPr>
                </a:tc>
              </a:tr>
              <a:tr h="638175">
                <a:tc>
                  <a:txBody>
                    <a:bodyPr/>
                    <a:lstStyle/>
                    <a:p>
                      <a:r>
                        <a:rPr sz="1950" b="0">
                          <a:solidFill>
                            <a:srgbClr val="152F41"/>
                          </a:solidFill>
                          <a:latin typeface="DejaVu Sans"/>
                          <a:ea typeface="DejaVu Sans"/>
                          <a:cs typeface="DejaVu Sans"/>
                        </a:rPr>
                        <a:t>OpenSpec/docs/getting-started.md</a:t>
                      </a:r>
                    </a:p>
                  </a:txBody>
                  <a:tcPr marL="91440" marR="91440" marT="45720" marB="45720">
                    <a:solidFill>
                      <a:srgbClr val="F7F5EF"/>
                    </a:solidFill>
                  </a:tcPr>
                </a:tc>
                <a:tc>
                  <a:txBody>
                    <a:bodyPr/>
                    <a:lstStyle/>
                    <a:p>
                      <a:r>
                        <a:rPr sz="1950" b="0">
                          <a:solidFill>
                            <a:srgbClr val="152F41"/>
                          </a:solidFill>
                          <a:latin typeface="DejaVu Sans"/>
                          <a:ea typeface="DejaVu Sans"/>
                          <a:cs typeface="DejaVu Sans"/>
                        </a:rPr>
                        <a:t>Estructura y primer cambio</a:t>
                      </a:r>
                    </a:p>
                  </a:txBody>
                  <a:tcPr marL="91440" marR="91440" marT="45720" marB="45720">
                    <a:solidFill>
                      <a:srgbClr val="F7F5EF"/>
                    </a:solidFill>
                  </a:tcPr>
                </a:tc>
              </a:tr>
              <a:tr h="638175">
                <a:tc>
                  <a:txBody>
                    <a:bodyPr/>
                    <a:lstStyle/>
                    <a:p>
                      <a:r>
                        <a:rPr sz="1950" b="0">
                          <a:solidFill>
                            <a:srgbClr val="152F41"/>
                          </a:solidFill>
                          <a:latin typeface="DejaVu Sans"/>
                          <a:ea typeface="DejaVu Sans"/>
                          <a:cs typeface="DejaVu Sans"/>
                        </a:rPr>
                        <a:t>OpenSpec/docs/concepts.md</a:t>
                      </a:r>
                    </a:p>
                  </a:txBody>
                  <a:tcPr marL="91440" marR="91440" marT="45720" marB="45720">
                    <a:solidFill>
                      <a:srgbClr val="F7F5EF"/>
                    </a:solidFill>
                  </a:tcPr>
                </a:tc>
                <a:tc>
                  <a:txBody>
                    <a:bodyPr/>
                    <a:lstStyle/>
                    <a:p>
                      <a:r>
                        <a:rPr sz="1950" b="0">
                          <a:solidFill>
                            <a:srgbClr val="152F41"/>
                          </a:solidFill>
                          <a:latin typeface="DejaVu Sans"/>
                          <a:ea typeface="DejaVu Sans"/>
                          <a:cs typeface="DejaVu Sans"/>
                        </a:rPr>
                        <a:t>Especificaciones vigentes y cambios</a:t>
                      </a:r>
                    </a:p>
                  </a:txBody>
                  <a:tcPr marL="91440" marR="91440" marT="45720" marB="45720">
                    <a:solidFill>
                      <a:srgbClr val="F7F5EF"/>
                    </a:solidFill>
                  </a:tcPr>
                </a:tc>
              </a:tr>
              <a:tr h="638175">
                <a:tc>
                  <a:txBody>
                    <a:bodyPr/>
                    <a:lstStyle/>
                    <a:p>
                      <a:r>
                        <a:rPr sz="1950" b="0">
                          <a:solidFill>
                            <a:srgbClr val="152F41"/>
                          </a:solidFill>
                          <a:latin typeface="DejaVu Sans"/>
                          <a:ea typeface="DejaVu Sans"/>
                          <a:cs typeface="DejaVu Sans"/>
                        </a:rPr>
                        <a:t>OpenSpec/docs/commands.md y cli.md</a:t>
                      </a:r>
                    </a:p>
                  </a:txBody>
                  <a:tcPr marL="91440" marR="91440" marT="45720" marB="45720">
                    <a:solidFill>
                      <a:srgbClr val="F7F5EF"/>
                    </a:solidFill>
                  </a:tcPr>
                </a:tc>
                <a:tc>
                  <a:txBody>
                    <a:bodyPr/>
                    <a:lstStyle/>
                    <a:p>
                      <a:r>
                        <a:rPr sz="1950" b="0">
                          <a:solidFill>
                            <a:srgbClr val="152F41"/>
                          </a:solidFill>
                          <a:latin typeface="DejaVu Sans"/>
                          <a:ea typeface="DejaVu Sans"/>
                          <a:cs typeface="DejaVu Sans"/>
                        </a:rPr>
                        <a:t>Chat del agente frente a terminal</a:t>
                      </a:r>
                    </a:p>
                  </a:txBody>
                  <a:tcPr marL="91440" marR="91440" marT="45720" marB="45720">
                    <a:solidFill>
                      <a:srgbClr val="F7F5EF"/>
                    </a:solidFill>
                  </a:tcPr>
                </a:tc>
              </a:tr>
              <a:tr h="638175">
                <a:tc>
                  <a:txBody>
                    <a:bodyPr/>
                    <a:lstStyle/>
                    <a:p>
                      <a:r>
                        <a:rPr sz="1950" b="0">
                          <a:solidFill>
                            <a:srgbClr val="152F41"/>
                          </a:solidFill>
                          <a:latin typeface="DejaVu Sans"/>
                          <a:ea typeface="DejaVu Sans"/>
                          <a:cs typeface="DejaVu Sans"/>
                        </a:rPr>
                        <a:t>github.com/github/spec-kit</a:t>
                      </a:r>
                    </a:p>
                  </a:txBody>
                  <a:tcPr marL="91440" marR="91440" marT="45720" marB="45720">
                    <a:solidFill>
                      <a:srgbClr val="F7F5EF"/>
                    </a:solidFill>
                  </a:tcPr>
                </a:tc>
                <a:tc>
                  <a:txBody>
                    <a:bodyPr/>
                    <a:lstStyle/>
                    <a:p>
                      <a:r>
                        <a:rPr sz="1950" b="0">
                          <a:solidFill>
                            <a:srgbClr val="152F41"/>
                          </a:solidFill>
                          <a:latin typeface="DejaVu Sans"/>
                          <a:ea typeface="DejaVu Sans"/>
                          <a:cs typeface="DejaVu Sans"/>
                        </a:rPr>
                        <a:t>Flujo de especificación y planificación</a:t>
                      </a:r>
                    </a:p>
                  </a:txBody>
                  <a:tcPr marL="91440" marR="91440" marT="45720" marB="45720">
                    <a:solidFill>
                      <a:srgbClr val="F7F5EF"/>
                    </a:solidFill>
                  </a:tcPr>
                </a:tc>
              </a:tr>
              <a:tr h="638175">
                <a:tc>
                  <a:txBody>
                    <a:bodyPr/>
                    <a:lstStyle/>
                    <a:p>
                      <a:r>
                        <a:rPr sz="1950" b="0">
                          <a:solidFill>
                            <a:srgbClr val="152F41"/>
                          </a:solidFill>
                          <a:latin typeface="DejaVu Sans"/>
                          <a:ea typeface="DejaVu Sans"/>
                          <a:cs typeface="DejaVu Sans"/>
                        </a:rPr>
                        <a:t>github.com/bmad-code-org/BMAD-METHOD</a:t>
                      </a:r>
                    </a:p>
                  </a:txBody>
                  <a:tcPr marL="91440" marR="91440" marT="45720" marB="45720">
                    <a:solidFill>
                      <a:srgbClr val="F7F5EF"/>
                    </a:solidFill>
                  </a:tcPr>
                </a:tc>
                <a:tc>
                  <a:txBody>
                    <a:bodyPr/>
                    <a:lstStyle/>
                    <a:p>
                      <a:r>
                        <a:rPr sz="1950" b="0">
                          <a:solidFill>
                            <a:srgbClr val="152F41"/>
                          </a:solidFill>
                          <a:latin typeface="DejaVu Sans"/>
                          <a:ea typeface="DejaVu Sans"/>
                          <a:cs typeface="DejaVu Sans"/>
                        </a:rPr>
                        <a:t>Roles y flujos del método</a:t>
                      </a:r>
                    </a:p>
                  </a:txBody>
                  <a:tcPr marL="91440" marR="91440" marT="45720" marB="45720">
                    <a:solidFill>
                      <a:srgbClr val="F7F5EF"/>
                    </a:solidFill>
                  </a:tcPr>
                </a:tc>
              </a:tr>
              <a:tr h="638175">
                <a:tc>
                  <a:txBody>
                    <a:bodyPr/>
                    <a:lstStyle/>
                    <a:p>
                      <a:r>
                        <a:rPr sz="1950" b="0">
                          <a:solidFill>
                            <a:srgbClr val="152F41"/>
                          </a:solidFill>
                          <a:latin typeface="DejaVu Sans"/>
                          <a:ea typeface="DejaVu Sans"/>
                          <a:cs typeface="DejaVu Sans"/>
                        </a:rPr>
                        <a:t>kiro.dev/docs/specs/</a:t>
                      </a:r>
                    </a:p>
                  </a:txBody>
                  <a:tcPr marL="91440" marR="91440" marT="45720" marB="45720">
                    <a:solidFill>
                      <a:srgbClr val="F7F5EF"/>
                    </a:solidFill>
                  </a:tcPr>
                </a:tc>
                <a:tc>
                  <a:txBody>
                    <a:bodyPr/>
                    <a:lstStyle/>
                    <a:p>
                      <a:r>
                        <a:rPr sz="1950" b="0">
                          <a:solidFill>
                            <a:srgbClr val="152F41"/>
                          </a:solidFill>
                          <a:latin typeface="DejaVu Sans"/>
                          <a:ea typeface="DejaVu Sans"/>
                          <a:cs typeface="DejaVu Sans"/>
                        </a:rPr>
                        <a:t>Especificaciones dentro de Kiro</a:t>
                      </a:r>
                    </a:p>
                  </a:txBody>
                  <a:tcPr marL="91440" marR="91440" marT="45720" marB="45720">
                    <a:solidFill>
                      <a:srgbClr val="F7F5EF"/>
                    </a:solidFill>
                  </a:tcPr>
                </a:tc>
              </a:tr>
            </a:tbl>
          </a:graphicData>
        </a:graphic>
      </p:graphicFrame>
      <p:sp>
        <p:nvSpPr>
          <p:cNvPr id="3" name="">
            <a:extLst xmlns:a="http://schemas.openxmlformats.org/drawingml/2006/main">
              <a:ext uri="{FF2B5EF4-FFF2-40B4-BE49-F238E27FC236}">
                <a16:creationId xmlns:a16="http://schemas.microsoft.com/office/drawing/2014/main" id="{C2615C93-3E67-4CE0-BE4B-0FF1CDB89A5D}"/>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Enlaces completos en las notas del expositor. Consulta: septiembre de 2026.</a:t>
            </a:r>
          </a:p>
        </p:txBody>
      </p:sp>
      <p:sp>
        <p:nvSpPr>
          <p:cNvPr id="4" name="">
            <a:extLst xmlns:a="http://schemas.openxmlformats.org/drawingml/2006/main">
              <a:ext uri="{FF2B5EF4-FFF2-40B4-BE49-F238E27FC236}">
                <a16:creationId xmlns:a16="http://schemas.microsoft.com/office/drawing/2014/main" id="{81B52E25-62FD-4322-AFD8-713F025D56A7}"/>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36</a:t>
            </a:r>
          </a:p>
        </p:txBody>
      </p:sp>
    </p:spTree>
    <p:extLst>
      <p:ext uri="{BB962C8B-B14F-4D97-AF65-F5344CB8AC3E}">
        <p14:creationId xmlns:p14="http://schemas.microsoft.com/office/powerpoint/2010/main" val="2041773671"/>
      </p:ext>
    </p:extLst>
  </p:cSld>
</p:sld>
</file>

<file path=ppt/slides/slide3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934798-6D77-44C2-BBB6-E47B21AA3D39}"/>
              </a:ext>
            </a:extLst>
          </p:cNvPr>
          <p:cNvSpPr>
            <a:spLocks xmlns:a="http://schemas.openxmlformats.org/drawingml/2006/main" noGrp="1"/>
          </p:cNvSpPr>
          <p:nvPr/>
        </p:nvSpPr>
        <p:spPr>
          <a:xfrm xmlns:a="http://schemas.openxmlformats.org/drawingml/2006/main">
            <a:off x="619125" y="419100"/>
            <a:ext cx="1400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3246"/>
                </a:solidFill>
                <a:latin typeface="DejaVu Sans"/>
                <a:ea typeface="DejaVu Sans"/>
                <a:cs typeface="DejaVu Sans"/>
              </a:defRPr>
            </a:pPr>
            <a:r>
              <a:rPr sz="3600" b="1">
                <a:solidFill>
                  <a:srgbClr val="143246"/>
                </a:solidFill>
                <a:latin typeface="DejaVu Sans"/>
                <a:ea typeface="DejaVu Sans"/>
                <a:cs typeface="DejaVu Sans"/>
              </a:rPr>
              <a:t>Documentación técnica y videos de referencia</a:t>
            </a:r>
          </a:p>
        </p:txBody>
      </p:sp>
      <p:graphicFrame>
        <p:nvGraphicFramePr>
          <p:cNvPr id="6" name=""/>
          <p:cNvGraphicFramePr/>
          <p:nvPr/>
        </p:nvGraphicFramePr>
        <p:xfrm>
          <a:off xmlns:a="http://schemas.openxmlformats.org/drawingml/2006/main" x="628650" y="1952625"/>
          <a:ext xmlns:a="http://schemas.openxmlformats.org/drawingml/2006/main" cx="14001750" cy="5105400"/>
        </p:xfrm>
        <a:graphic xmlns:a="http://schemas.openxmlformats.org/drawingml/2006/main">
          <a:graphicData uri="http://schemas.openxmlformats.org/drawingml/2006/table">
            <a:tbl>
              <a:tblPr/>
              <a:tblGrid>
                <a:gridCol w="7905750"/>
                <a:gridCol w="6096000"/>
              </a:tblGrid>
              <a:tr h="638175">
                <a:tc>
                  <a:txBody>
                    <a:bodyPr/>
                    <a:lstStyle/>
                    <a:p>
                      <a:r>
                        <a:rPr sz="1950" b="1">
                          <a:solidFill>
                            <a:srgbClr val="FFFFFF"/>
                          </a:solidFill>
                          <a:latin typeface="DejaVu Sans"/>
                          <a:ea typeface="DejaVu Sans"/>
                          <a:cs typeface="DejaVu Sans"/>
                        </a:rPr>
                        <a:t>Recurso</a:t>
                      </a:r>
                    </a:p>
                  </a:txBody>
                  <a:tcPr marL="91440" marR="91440" marT="45720" marB="45720">
                    <a:solidFill>
                      <a:srgbClr val="183F4C"/>
                    </a:solidFill>
                  </a:tcPr>
                </a:tc>
                <a:tc>
                  <a:txBody>
                    <a:bodyPr/>
                    <a:lstStyle/>
                    <a:p>
                      <a:r>
                        <a:rPr sz="1950" b="1">
                          <a:solidFill>
                            <a:srgbClr val="FFFFFF"/>
                          </a:solidFill>
                          <a:latin typeface="DejaVu Sans"/>
                          <a:ea typeface="DejaVu Sans"/>
                          <a:cs typeface="DejaVu Sans"/>
                        </a:rPr>
                        <a:t>Uso en la clase</a:t>
                      </a:r>
                    </a:p>
                  </a:txBody>
                  <a:tcPr marL="91440" marR="91440" marT="45720" marB="45720">
                    <a:solidFill>
                      <a:srgbClr val="183F4C"/>
                    </a:solidFill>
                  </a:tcPr>
                </a:tc>
              </a:tr>
              <a:tr h="638175">
                <a:tc>
                  <a:txBody>
                    <a:bodyPr/>
                    <a:lstStyle/>
                    <a:p>
                      <a:r>
                        <a:rPr sz="1950" b="0">
                          <a:solidFill>
                            <a:srgbClr val="152F41"/>
                          </a:solidFill>
                          <a:latin typeface="DejaVu Sans"/>
                          <a:ea typeface="DejaVu Sans"/>
                          <a:cs typeface="DejaVu Sans"/>
                        </a:rPr>
                        <a:t>OpenAI · Codex CLI y AGENTS.md</a:t>
                      </a:r>
                    </a:p>
                  </a:txBody>
                  <a:tcPr marL="91440" marR="91440" marT="45720" marB="45720">
                    <a:solidFill>
                      <a:srgbClr val="F7F5EF"/>
                    </a:solidFill>
                  </a:tcPr>
                </a:tc>
                <a:tc>
                  <a:txBody>
                    <a:bodyPr/>
                    <a:lstStyle/>
                    <a:p>
                      <a:r>
                        <a:rPr sz="1950" b="0">
                          <a:solidFill>
                            <a:srgbClr val="152F41"/>
                          </a:solidFill>
                          <a:latin typeface="DejaVu Sans"/>
                          <a:ea typeface="DejaVu Sans"/>
                          <a:cs typeface="DejaVu Sans"/>
                        </a:rPr>
                        <a:t>Agente e instrucciones del proyecto</a:t>
                      </a:r>
                    </a:p>
                  </a:txBody>
                  <a:tcPr marL="91440" marR="91440" marT="45720" marB="45720">
                    <a:solidFill>
                      <a:srgbClr val="F7F5EF"/>
                    </a:solidFill>
                  </a:tcPr>
                </a:tc>
              </a:tr>
              <a:tr h="638175">
                <a:tc>
                  <a:txBody>
                    <a:bodyPr/>
                    <a:lstStyle/>
                    <a:p>
                      <a:r>
                        <a:rPr sz="1950" b="0">
                          <a:solidFill>
                            <a:srgbClr val="152F41"/>
                          </a:solidFill>
                          <a:latin typeface="DejaVu Sans"/>
                          <a:ea typeface="DejaVu Sans"/>
                          <a:cs typeface="DejaVu Sans"/>
                        </a:rPr>
                        <a:t>Microsoft Learn · EF Core y User Secrets</a:t>
                      </a:r>
                    </a:p>
                  </a:txBody>
                  <a:tcPr marL="91440" marR="91440" marT="45720" marB="45720">
                    <a:solidFill>
                      <a:srgbClr val="F7F5EF"/>
                    </a:solidFill>
                  </a:tcPr>
                </a:tc>
                <a:tc>
                  <a:txBody>
                    <a:bodyPr/>
                    <a:lstStyle/>
                    <a:p>
                      <a:r>
                        <a:rPr sz="1950" b="0">
                          <a:solidFill>
                            <a:srgbClr val="152F41"/>
                          </a:solidFill>
                          <a:latin typeface="DejaVu Sans"/>
                          <a:ea typeface="DejaVu Sans"/>
                          <a:cs typeface="DejaVu Sans"/>
                        </a:rPr>
                        <a:t>Modelo de datos y configuración local</a:t>
                      </a:r>
                    </a:p>
                  </a:txBody>
                  <a:tcPr marL="91440" marR="91440" marT="45720" marB="45720">
                    <a:solidFill>
                      <a:srgbClr val="F7F5EF"/>
                    </a:solidFill>
                  </a:tcPr>
                </a:tc>
              </a:tr>
              <a:tr h="638175">
                <a:tc>
                  <a:txBody>
                    <a:bodyPr/>
                    <a:lstStyle/>
                    <a:p>
                      <a:r>
                        <a:rPr sz="1950" b="0">
                          <a:solidFill>
                            <a:srgbClr val="152F41"/>
                          </a:solidFill>
                          <a:latin typeface="DejaVu Sans"/>
                          <a:ea typeface="DejaVu Sans"/>
                          <a:cs typeface="DejaVu Sans"/>
                        </a:rPr>
                        <a:t>GitHub Docs · Hello World</a:t>
                      </a:r>
                    </a:p>
                  </a:txBody>
                  <a:tcPr marL="91440" marR="91440" marT="45720" marB="45720">
                    <a:solidFill>
                      <a:srgbClr val="F7F5EF"/>
                    </a:solidFill>
                  </a:tcPr>
                </a:tc>
                <a:tc>
                  <a:txBody>
                    <a:bodyPr/>
                    <a:lstStyle/>
                    <a:p>
                      <a:r>
                        <a:rPr sz="1950" b="0">
                          <a:solidFill>
                            <a:srgbClr val="152F41"/>
                          </a:solidFill>
                          <a:latin typeface="DejaVu Sans"/>
                          <a:ea typeface="DejaVu Sans"/>
                          <a:cs typeface="DejaVu Sans"/>
                        </a:rPr>
                        <a:t>Ramas y pull requests</a:t>
                      </a:r>
                    </a:p>
                  </a:txBody>
                  <a:tcPr marL="91440" marR="91440" marT="45720" marB="45720">
                    <a:solidFill>
                      <a:srgbClr val="F7F5EF"/>
                    </a:solidFill>
                  </a:tcPr>
                </a:tc>
              </a:tr>
              <a:tr h="638175">
                <a:tc>
                  <a:txBody>
                    <a:bodyPr/>
                    <a:lstStyle/>
                    <a:p>
                      <a:r>
                        <a:rPr sz="1950" b="0">
                          <a:solidFill>
                            <a:srgbClr val="152F41"/>
                          </a:solidFill>
                          <a:latin typeface="DejaVu Sans"/>
                          <a:ea typeface="DejaVu Sans"/>
                          <a:cs typeface="DejaVu Sans"/>
                        </a:rPr>
                        <a:t>Cursor Docs y Google Codelabs</a:t>
                      </a:r>
                    </a:p>
                  </a:txBody>
                  <a:tcPr marL="91440" marR="91440" marT="45720" marB="45720">
                    <a:solidFill>
                      <a:srgbClr val="F7F5EF"/>
                    </a:solidFill>
                  </a:tcPr>
                </a:tc>
                <a:tc>
                  <a:txBody>
                    <a:bodyPr/>
                    <a:lstStyle/>
                    <a:p>
                      <a:r>
                        <a:rPr sz="1950" b="0">
                          <a:solidFill>
                            <a:srgbClr val="152F41"/>
                          </a:solidFill>
                          <a:latin typeface="DejaVu Sans"/>
                          <a:ea typeface="DejaVu Sans"/>
                          <a:cs typeface="DejaVu Sans"/>
                        </a:rPr>
                        <a:t>Agentes y artefactos de trabajo</a:t>
                      </a:r>
                    </a:p>
                  </a:txBody>
                  <a:tcPr marL="91440" marR="91440" marT="45720" marB="45720">
                    <a:solidFill>
                      <a:srgbClr val="F7F5EF"/>
                    </a:solidFill>
                  </a:tcPr>
                </a:tc>
              </a:tr>
              <a:tr h="638175">
                <a:tc>
                  <a:txBody>
                    <a:bodyPr/>
                    <a:lstStyle/>
                    <a:p>
                      <a:r>
                        <a:rPr sz="1950" b="0">
                          <a:solidFill>
                            <a:srgbClr val="152F41"/>
                          </a:solidFill>
                          <a:latin typeface="DejaVu Sans"/>
                          <a:ea typeface="DejaVu Sans"/>
                          <a:cs typeface="DejaVu Sans"/>
                        </a:rPr>
                        <a:t>Video 0gd_w98aAHo</a:t>
                      </a:r>
                    </a:p>
                  </a:txBody>
                  <a:tcPr marL="91440" marR="91440" marT="45720" marB="45720">
                    <a:solidFill>
                      <a:srgbClr val="F7F5EF"/>
                    </a:solidFill>
                  </a:tcPr>
                </a:tc>
                <a:tc>
                  <a:txBody>
                    <a:bodyPr/>
                    <a:lstStyle/>
                    <a:p>
                      <a:r>
                        <a:rPr sz="1950" b="0">
                          <a:solidFill>
                            <a:srgbClr val="152F41"/>
                          </a:solidFill>
                          <a:latin typeface="DejaVu Sans"/>
                          <a:ea typeface="DejaVu Sans"/>
                          <a:cs typeface="DejaVu Sans"/>
                        </a:rPr>
                        <a:t>Kiro frente a Google Antigravity</a:t>
                      </a:r>
                    </a:p>
                  </a:txBody>
                  <a:tcPr marL="91440" marR="91440" marT="45720" marB="45720">
                    <a:solidFill>
                      <a:srgbClr val="F7F5EF"/>
                    </a:solidFill>
                  </a:tcPr>
                </a:tc>
              </a:tr>
              <a:tr h="638175">
                <a:tc>
                  <a:txBody>
                    <a:bodyPr/>
                    <a:lstStyle/>
                    <a:p>
                      <a:r>
                        <a:rPr sz="1950" b="0">
                          <a:solidFill>
                            <a:srgbClr val="152F41"/>
                          </a:solidFill>
                          <a:latin typeface="DejaVu Sans"/>
                          <a:ea typeface="DejaVu Sans"/>
                          <a:cs typeface="DejaVu Sans"/>
                        </a:rPr>
                        <a:t>Video XJiIhQ_FkdA</a:t>
                      </a:r>
                    </a:p>
                  </a:txBody>
                  <a:tcPr marL="91440" marR="91440" marT="45720" marB="45720">
                    <a:solidFill>
                      <a:srgbClr val="F7F5EF"/>
                    </a:solidFill>
                  </a:tcPr>
                </a:tc>
                <a:tc>
                  <a:txBody>
                    <a:bodyPr/>
                    <a:lstStyle/>
                    <a:p>
                      <a:r>
                        <a:rPr sz="1950" b="0">
                          <a:solidFill>
                            <a:srgbClr val="152F41"/>
                          </a:solidFill>
                          <a:latin typeface="DejaVu Sans"/>
                          <a:ea typeface="DejaVu Sans"/>
                          <a:cs typeface="DejaVu Sans"/>
                        </a:rPr>
                        <a:t>Kiro, Spec Kit y OpenSpec para SDD</a:t>
                      </a:r>
                    </a:p>
                  </a:txBody>
                  <a:tcPr marL="91440" marR="91440" marT="45720" marB="45720">
                    <a:solidFill>
                      <a:srgbClr val="F7F5EF"/>
                    </a:solidFill>
                  </a:tcPr>
                </a:tc>
              </a:tr>
              <a:tr h="638175">
                <a:tc>
                  <a:txBody>
                    <a:bodyPr/>
                    <a:lstStyle/>
                    <a:p>
                      <a:r>
                        <a:rPr sz="1950" b="0">
                          <a:solidFill>
                            <a:srgbClr val="152F41"/>
                          </a:solidFill>
                          <a:latin typeface="DejaVu Sans"/>
                          <a:ea typeface="DejaVu Sans"/>
                          <a:cs typeface="DejaVu Sans"/>
                        </a:rPr>
                        <a:t>Video LbH0aMnb_Wk, desde 00:44</a:t>
                      </a:r>
                    </a:p>
                  </a:txBody>
                  <a:tcPr marL="91440" marR="91440" marT="45720" marB="45720">
                    <a:solidFill>
                      <a:srgbClr val="F7F5EF"/>
                    </a:solidFill>
                  </a:tcPr>
                </a:tc>
                <a:tc>
                  <a:txBody>
                    <a:bodyPr/>
                    <a:lstStyle/>
                    <a:p>
                      <a:r>
                        <a:rPr sz="1950" b="0">
                          <a:solidFill>
                            <a:srgbClr val="152F41"/>
                          </a:solidFill>
                          <a:latin typeface="DejaVu Sans"/>
                          <a:ea typeface="DejaVu Sans"/>
                          <a:cs typeface="DejaVu Sans"/>
                        </a:rPr>
                        <a:t>Referencia aportada por Jean</a:t>
                      </a:r>
                    </a:p>
                  </a:txBody>
                  <a:tcPr marL="91440" marR="91440" marT="45720" marB="45720">
                    <a:solidFill>
                      <a:srgbClr val="F7F5EF"/>
                    </a:solidFill>
                  </a:tcPr>
                </a:tc>
              </a:tr>
            </a:tbl>
          </a:graphicData>
        </a:graphic>
      </p:graphicFrame>
      <p:sp>
        <p:nvSpPr>
          <p:cNvPr id="3" name="">
            <a:extLst xmlns:a="http://schemas.openxmlformats.org/drawingml/2006/main">
              <a:ext uri="{FF2B5EF4-FFF2-40B4-BE49-F238E27FC236}">
                <a16:creationId xmlns:a16="http://schemas.microsoft.com/office/drawing/2014/main" id="{938C148F-4186-45E6-A2A4-69D18FD10E41}"/>
              </a:ext>
            </a:extLst>
          </p:cNvPr>
          <p:cNvSpPr>
            <a:spLocks xmlns:a="http://schemas.openxmlformats.org/drawingml/2006/main" noGrp="1"/>
          </p:cNvSpPr>
          <p:nvPr/>
        </p:nvSpPr>
        <p:spPr>
          <a:xfrm xmlns:a="http://schemas.openxmlformats.org/drawingml/2006/main">
            <a:off x="685800" y="7829550"/>
            <a:ext cx="13335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873"/>
                </a:solidFill>
                <a:latin typeface="DejaVu Sans"/>
                <a:ea typeface="DejaVu Sans"/>
                <a:cs typeface="DejaVu Sans"/>
              </a:defRPr>
            </a:pPr>
            <a:r>
              <a:rPr sz="1725" b="0">
                <a:solidFill>
                  <a:srgbClr val="506873"/>
                </a:solidFill>
                <a:latin typeface="DejaVu Sans"/>
                <a:ea typeface="DejaVu Sans"/>
                <a:cs typeface="DejaVu Sans"/>
              </a:rPr>
              <a:t>Videos complementarios: sin transcripciones verificadas.</a:t>
            </a:r>
          </a:p>
        </p:txBody>
      </p:sp>
      <p:sp>
        <p:nvSpPr>
          <p:cNvPr id="4" name="">
            <a:extLst xmlns:a="http://schemas.openxmlformats.org/drawingml/2006/main">
              <a:ext uri="{FF2B5EF4-FFF2-40B4-BE49-F238E27FC236}">
                <a16:creationId xmlns:a16="http://schemas.microsoft.com/office/drawing/2014/main" id="{81ABC41F-554D-403F-AAB6-D6BE54ED46B3}"/>
              </a:ext>
            </a:extLst>
          </p:cNvPr>
          <p:cNvSpPr>
            <a:spLocks xmlns:a="http://schemas.openxmlformats.org/drawingml/2006/main" noGrp="1"/>
          </p:cNvSpPr>
          <p:nvPr/>
        </p:nvSpPr>
        <p:spPr>
          <a:xfrm xmlns:a="http://schemas.openxmlformats.org/drawingml/2006/main">
            <a:off x="14192250" y="7934325"/>
            <a:ext cx="619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06873"/>
                </a:solidFill>
                <a:latin typeface="DejaVu Sans"/>
                <a:ea typeface="DejaVu Sans"/>
                <a:cs typeface="DejaVu Sans"/>
              </a:defRPr>
            </a:pPr>
            <a:r>
              <a:rPr sz="1500" b="0">
                <a:solidFill>
                  <a:srgbClr val="506873"/>
                </a:solidFill>
                <a:latin typeface="DejaVu Sans"/>
                <a:ea typeface="DejaVu Sans"/>
                <a:cs typeface="DejaVu Sans"/>
              </a:rPr>
              <a:t>37</a:t>
            </a:r>
          </a:p>
        </p:txBody>
      </p:sp>
    </p:spTree>
    <p:extLst>
      <p:ext uri="{BB962C8B-B14F-4D97-AF65-F5344CB8AC3E}">
        <p14:creationId xmlns:p14="http://schemas.microsoft.com/office/powerpoint/2010/main" val="1727407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2026-09-12T07:00:59.5390000Z</dcterms:created>
  <dcterms:modified xsi:type="dcterms:W3CDTF">2026-09-12T07:00:59.5390000Z</dcterms:modified>
</coreProperties>
</file>