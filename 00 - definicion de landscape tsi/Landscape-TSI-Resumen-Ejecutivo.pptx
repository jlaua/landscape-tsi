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6a7361fde94a88" /><Relationship Type="http://schemas.openxmlformats.org/officeDocument/2006/relationships/extended-properties" Target="/docProps/app.xml" Id="R3f0edbe73f08487d" /><Relationship Type="http://schemas.openxmlformats.org/officeDocument/2006/relationships/officeDocument" Target="/ppt/presentation.xml" Id="R1ecbb36ffc7943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e5fa77414f4e64"/>
  </p:sldMasterIdLst>
  <p:notesMasterIdLst>
    <p:notesMasterId xmlns:r="http://schemas.openxmlformats.org/officeDocument/2006/relationships" r:id="R549c417b4fd04f94"/>
  </p:notesMasterIdLst>
  <p:sldIdLst>
    <p:sldId xmlns:r="http://schemas.openxmlformats.org/officeDocument/2006/relationships" id="256" r:id="Rfbff3871bc3d41e4"/>
    <p:sldId xmlns:r="http://schemas.openxmlformats.org/officeDocument/2006/relationships" id="257" r:id="R82e76b3cb69442c2"/>
    <p:sldId xmlns:r="http://schemas.openxmlformats.org/officeDocument/2006/relationships" id="258" r:id="R0f5fed26e0aa4a78"/>
    <p:sldId xmlns:r="http://schemas.openxmlformats.org/officeDocument/2006/relationships" id="259" r:id="R4fed02296c344d5d"/>
    <p:sldId xmlns:r="http://schemas.openxmlformats.org/officeDocument/2006/relationships" id="260" r:id="Re2bb6332ec2e4a06"/>
    <p:sldId xmlns:r="http://schemas.openxmlformats.org/officeDocument/2006/relationships" id="261" r:id="R6a219cc709234ec3"/>
    <p:sldId xmlns:r="http://schemas.openxmlformats.org/officeDocument/2006/relationships" id="262" r:id="R451e58bc34294c6d"/>
    <p:sldId xmlns:r="http://schemas.openxmlformats.org/officeDocument/2006/relationships" id="263" r:id="R645d074db3ff443d"/>
    <p:sldId xmlns:r="http://schemas.openxmlformats.org/officeDocument/2006/relationships" id="264" r:id="R9a5bbb98e2e04df7"/>
    <p:sldId xmlns:r="http://schemas.openxmlformats.org/officeDocument/2006/relationships" id="265" r:id="R98a5eb59812f4aa8"/>
    <p:sldId xmlns:r="http://schemas.openxmlformats.org/officeDocument/2006/relationships" id="266" r:id="R079b2bbea1dc43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3d210d0e8a439c" /><Relationship Type="http://schemas.openxmlformats.org/officeDocument/2006/relationships/slideMaster" Target="/ppt/slideMasters/slideMaster1.xml" Id="R91e5fa77414f4e64" /><Relationship Type="http://schemas.openxmlformats.org/officeDocument/2006/relationships/notesMaster" Target="/ppt/notesMasters/notesMaster1.xml" Id="R549c417b4fd04f94" /><Relationship Type="http://schemas.openxmlformats.org/officeDocument/2006/relationships/presProps" Target="/ppt/presProps.xml" Id="R25f239a797254d7d" /><Relationship Type="http://schemas.openxmlformats.org/officeDocument/2006/relationships/tableStyles" Target="/ppt/tableStyles.xml" Id="Rce8cdbe9f05e4d06" /><Relationship Type="http://schemas.openxmlformats.org/officeDocument/2006/relationships/slide" Target="/ppt/slides/slide1.xml" Id="Rfbff3871bc3d41e4" /><Relationship Type="http://schemas.openxmlformats.org/officeDocument/2006/relationships/slide" Target="/ppt/slides/slide2.xml" Id="R82e76b3cb69442c2" /><Relationship Type="http://schemas.openxmlformats.org/officeDocument/2006/relationships/slide" Target="/ppt/slides/slide3.xml" Id="R0f5fed26e0aa4a78" /><Relationship Type="http://schemas.openxmlformats.org/officeDocument/2006/relationships/slide" Target="/ppt/slides/slide4.xml" Id="R4fed02296c344d5d" /><Relationship Type="http://schemas.openxmlformats.org/officeDocument/2006/relationships/slide" Target="/ppt/slides/slide5.xml" Id="Re2bb6332ec2e4a06" /><Relationship Type="http://schemas.openxmlformats.org/officeDocument/2006/relationships/slide" Target="/ppt/slides/slide6.xml" Id="R6a219cc709234ec3" /><Relationship Type="http://schemas.openxmlformats.org/officeDocument/2006/relationships/slide" Target="/ppt/slides/slide7.xml" Id="R451e58bc34294c6d" /><Relationship Type="http://schemas.openxmlformats.org/officeDocument/2006/relationships/slide" Target="/ppt/slides/slide8.xml" Id="R645d074db3ff443d" /><Relationship Type="http://schemas.openxmlformats.org/officeDocument/2006/relationships/slide" Target="/ppt/slides/slide9.xml" Id="R9a5bbb98e2e04df7" /><Relationship Type="http://schemas.openxmlformats.org/officeDocument/2006/relationships/slide" Target="/ppt/slides/slide10.xml" Id="R98a5eb59812f4aa8" /><Relationship Type="http://schemas.openxmlformats.org/officeDocument/2006/relationships/slide" Target="/ppt/slides/slide11.xml" Id="R079b2bbea1dc43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0921fd966548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9dbe036bc14537" /><Relationship Type="http://schemas.openxmlformats.org/officeDocument/2006/relationships/notesMaster" Target="/ppt/notesMasters/notesMaster1.xml" Id="Rb1a88b6c210f4f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5695b3e8184d3d" /><Relationship Type="http://schemas.openxmlformats.org/officeDocument/2006/relationships/notesMaster" Target="/ppt/notesMasters/notesMaster1.xml" Id="Rff3a5f72b7b746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d1647630914eb3" /><Relationship Type="http://schemas.openxmlformats.org/officeDocument/2006/relationships/notesMaster" Target="/ppt/notesMasters/notesMaster1.xml" Id="Rca1a397d0fef49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11e2ca5e63472f" /><Relationship Type="http://schemas.openxmlformats.org/officeDocument/2006/relationships/notesMaster" Target="/ppt/notesMasters/notesMaster1.xml" Id="R7c94e98b09a54c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7ee4fcdc914f2c" /><Relationship Type="http://schemas.openxmlformats.org/officeDocument/2006/relationships/notesMaster" Target="/ppt/notesMasters/notesMaster1.xml" Id="R49b97e5a8c4644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86f1ac17e44a88" /><Relationship Type="http://schemas.openxmlformats.org/officeDocument/2006/relationships/notesMaster" Target="/ppt/notesMasters/notesMaster1.xml" Id="Rd201871ea25640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2826386dcc4743" /><Relationship Type="http://schemas.openxmlformats.org/officeDocument/2006/relationships/notesMaster" Target="/ppt/notesMasters/notesMaster1.xml" Id="Rf60a71b4dbf541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1487dd499242f2" /><Relationship Type="http://schemas.openxmlformats.org/officeDocument/2006/relationships/notesMaster" Target="/ppt/notesMasters/notesMaster1.xml" Id="Ra4d1a9b7dcb94b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3a3dc9791a4f81" /><Relationship Type="http://schemas.openxmlformats.org/officeDocument/2006/relationships/notesMaster" Target="/ppt/notesMasters/notesMaster1.xml" Id="R33230b4f62344c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e60f6765f044fd" /><Relationship Type="http://schemas.openxmlformats.org/officeDocument/2006/relationships/notesMaster" Target="/ppt/notesMasters/notesMaster1.xml" Id="R6db389315ae646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b124c5e50b47b0" /><Relationship Type="http://schemas.openxmlformats.org/officeDocument/2006/relationships/notesMaster" Target="/ppt/notesMasters/notesMaster1.xml" Id="R924ef9d9a2cc46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Estimación al 19/09/2026. Sin impuestos. Tipo de cambio supuesto S/3,80/USD. No es cotización BCP. Incluye 200 horas de implementación, 20% contingencia, US$170/mes Azure y 16 horas/mes de mantenimiento a S/120/h.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Supuestos de densidad: 10 empresas, 2 tecnologías por empresa–BB, 30 evaluaciones por implementación. No son mediciones. Fuente límites S2: https://learn.microsoft.com/en-us/azure/azure-sql/database/resource-limits-dtu-single-databases?view=azuresql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se atribuye un precio separado a los componentes incluidos. SQL y App Service se cobran en el cuadro por ambiente. Fuentes: https://azure.microsoft.com/en-us/pricing/details/azure-sql-database/single/ https://azure.microsoft.com/en-us/pricing/details/app-service/windows/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South Central US. Precios públicos consultados 19/09/2026. 730 h/mes. B1 Windows 0.075 USD/h. S2 2.42 USD/día. Reservas estimadas. https://prices.azure.com/api/retail/prices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https://learn.microsoft.com/en-us/azure/azure-sql/database/free-offer?view=azuresql https://azure.microsoft.com/en-us/pricing/details/app-service/windows/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https://learn.microsoft.com/en-us/azure/azure-sql/database/automated-backups-overview?view=azuresql https://learn.microsoft.com/en-us/azure/azure-sql/database/recovery-using-backups?view=azuresql https://learn.microsoft.com/en-us/azure/azure-sql/database/free-offer?view=azuresql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Supuestos propios sujetos a revisión del código. 200 horas × S/120/h = S/24.000. Contingencia 20% = S/4.800.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Indeed: S/3.072/mes, 40 salarios, actualizado 07/09/2026. Promedio general, no senior ni BCP. Tarifas de servicio propuestas como hipótesis de presupuesto. https://pe.indeed.com/career/desarrollador-.net/salaries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Supuestos: tarifas de S/120/h. Se incluye prueba trimestral de recuperación en la bolsa seleccionada. Sin SLA 24/7.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Presupuesto de planificación. SQL S2 y B1 sujetos a pruebas de rendimiento. Desarrollo free sujeto a cuota. No incluye DR multirregión, levantamiento masivo de datos ni módulos nuevos mayores.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aa90a90b746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987aec5324a2a" /><Relationship Type="http://schemas.openxmlformats.org/officeDocument/2006/relationships/slideLayout" Target="/ppt/slideLayouts/slideLayout1.xml" Id="R03bf6a173f5548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bf6a173f5548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fb9c115a34be5" /><Relationship Type="http://schemas.openxmlformats.org/officeDocument/2006/relationships/notesSlide" Target="/ppt/notesSlides/notesSlide1.xml" Id="Rf61c5ceb6a1e4c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4aad897be4810" /><Relationship Type="http://schemas.openxmlformats.org/officeDocument/2006/relationships/notesSlide" Target="/ppt/notesSlides/notesSlide2.xml" Id="Ra270c8c6c7de42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2c40d4a1c406e" /><Relationship Type="http://schemas.openxmlformats.org/officeDocument/2006/relationships/notesSlide" Target="/ppt/notesSlides/notesSlide3.xml" Id="Rb0b02cb0ccc548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6d5fa63b94be0" /><Relationship Type="http://schemas.openxmlformats.org/officeDocument/2006/relationships/notesSlide" Target="/ppt/notesSlides/notesSlide4.xml" Id="R5ccbd583d1834f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96f0ea5534921" /><Relationship Type="http://schemas.openxmlformats.org/officeDocument/2006/relationships/notesSlide" Target="/ppt/notesSlides/notesSlide5.xml" Id="Re9bb375a49e249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f7db474e74113" /><Relationship Type="http://schemas.openxmlformats.org/officeDocument/2006/relationships/notesSlide" Target="/ppt/notesSlides/notesSlide6.xml" Id="R476c72e74fac49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aa41775dd4021" /><Relationship Type="http://schemas.openxmlformats.org/officeDocument/2006/relationships/notesSlide" Target="/ppt/notesSlides/notesSlide7.xml" Id="R67d5993c41b849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0721576b74c87" /><Relationship Type="http://schemas.openxmlformats.org/officeDocument/2006/relationships/notesSlide" Target="/ppt/notesSlides/notesSlide8.xml" Id="R390b5d59690343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f59c49f3e4abd" /><Relationship Type="http://schemas.openxmlformats.org/officeDocument/2006/relationships/notesSlide" Target="/ppt/notesSlides/notesSlide9.xml" Id="R01879e459ae64f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9af109d9b4df1" /><Relationship Type="http://schemas.openxmlformats.org/officeDocument/2006/relationships/notesSlide" Target="/ppt/notesSlides/notesSlide10.xml" Id="R48228b1293094d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d45e7a8f14f8e" /><Relationship Type="http://schemas.openxmlformats.org/officeDocument/2006/relationships/notesSlide" Target="/ppt/notesSlides/notesSlide11.xml" Id="R9e44fe1e10e74f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CF310-9958-4B82-A893-B572071F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Landscape TSI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A77A2-10C7-4857-A279-0205F6A3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Presupuesto del primer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90D9B-E35E-43A0-9604-7F3E5C7F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S/59.592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00320-692B-4931-83BA-5F368D29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6E4EF"/>
                </a:solidFill>
                <a:latin typeface="Arial"/>
                <a:ea typeface="Arial"/>
                <a:cs typeface="Arial"/>
              </a:rPr>
              <a:t>Implementación y 12 meses de operación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56217-0251-47DB-A66C-9F36383D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4EF"/>
                </a:solidFill>
                <a:latin typeface="Arial"/>
                <a:ea typeface="Arial"/>
                <a:cs typeface="Arial"/>
              </a:rPr>
              <a:t>15 usuarios · Producción Windows · Desarrollo gratuito</a:t>
            </a:r>
          </a:p>
        </p:txBody>
      </p:sp>
    </p:spTree>
    <p:extLst>
      <p:ext uri="{BB962C8B-B14F-4D97-AF65-F5344CB8AC3E}">
        <p14:creationId xmlns:p14="http://schemas.microsoft.com/office/powerpoint/2010/main" val="772665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95433-36B0-405C-9647-BD4C0ED5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Composición del presupuesto anual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381500"/>
                <a:gridCol w="2686050"/>
              </a:tblGrid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Concepto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 de cálculo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Primer año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200 h × S/120 + 20%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S/28.800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Azure y reservas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US$170 × 12 × S/3,80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S/7.752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Mantenimiento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16 h × S/120 ×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S/23.040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12 meses de operación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S/59.592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B5FB0-F21B-4FAB-81DF-DFBD19AA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578"/>
                </a:solidFill>
                <a:latin typeface="Arial"/>
                <a:ea typeface="Arial"/>
                <a:cs typeface="Arial"/>
              </a:rPr>
              <a:t>Operación posterior: S/30.792/año. Estimación sin impuestos ni evolutivos mayores.</a:t>
            </a:r>
          </a:p>
        </p:txBody>
      </p:sp>
    </p:spTree>
    <p:extLst>
      <p:ext uri="{BB962C8B-B14F-4D97-AF65-F5344CB8AC3E}">
        <p14:creationId xmlns:p14="http://schemas.microsoft.com/office/powerpoint/2010/main" val="1329406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73CC3-18E0-42C6-BE8C-939B4219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Capacidad prevista para 147 Building Blocks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809875"/>
                <a:gridCol w="3971925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Concepto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Estimación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Usuarios / empresas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15 / 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Empresas: supuesto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Evaluaciones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88.200 registros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147 × 10 × 2 × 30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SQL durante el primer año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1–3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Datos e índices, sin adjuntos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Capacidad SQL de planificación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10 GB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S2 incluye hasta 250 GB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Documentos en Blob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20 GB iniciales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Ejemplo calculado: 8,82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C367E-841C-4A7B-A811-E770BEC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578"/>
                </a:solidFill>
                <a:latin typeface="Arial"/>
                <a:ea typeface="Arial"/>
                <a:cs typeface="Arial"/>
              </a:rPr>
              <a:t>El archivo de log actual no representa el volumen de información de negocio.</a:t>
            </a:r>
          </a:p>
        </p:txBody>
      </p:sp>
    </p:spTree>
    <p:extLst>
      <p:ext uri="{BB962C8B-B14F-4D97-AF65-F5344CB8AC3E}">
        <p14:creationId xmlns:p14="http://schemas.microsoft.com/office/powerpoint/2010/main" val="7539585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83438-3147-4497-8978-F17B5987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Licencias incluidas en los servicios Azure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762250"/>
                <a:gridCol w="2762250"/>
                <a:gridCol w="220980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Producción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Desarrollo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Cargo separado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Motor 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Azure SQL S2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Oferta gratuita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US$0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Sistema operativo web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App Service B1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App Service F1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US$0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Runtime .NET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Sin cargo separado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Sin cargo separado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US$0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Acceso a Landscape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Aplicación propia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Aplicación propia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US$0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6D790-F0A3-4231-9FEF-56A06DE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578"/>
                </a:solidFill>
                <a:latin typeface="Arial"/>
                <a:ea typeface="Arial"/>
                <a:cs typeface="Arial"/>
              </a:rPr>
              <a:t>IDE, asistentes IA y Power BI no están incluidos. El costo del servicio Azure se cuenta una sola vez.</a:t>
            </a:r>
          </a:p>
        </p:txBody>
      </p:sp>
    </p:spTree>
    <p:extLst>
      <p:ext uri="{BB962C8B-B14F-4D97-AF65-F5344CB8AC3E}">
        <p14:creationId xmlns:p14="http://schemas.microsoft.com/office/powerpoint/2010/main" val="1949915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907D7-7E4C-4164-9425-804BFA90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Costos por ambiente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1895475"/>
                <a:gridCol w="1895475"/>
                <a:gridCol w="1895475"/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Servicio, USD/mes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Producción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Desarrollo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App Service B1 / 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54,75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0,00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54,75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SQL S2 / gratuito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73,61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0,00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73,61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LTR + restauración temporal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15,00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0,00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15,00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Blob + monitoreo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10,00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12,00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Subtotal estimado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153,36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155,36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Margen compartido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14,64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Presupuesto mensual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170,00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928D8-0550-4C33-80A3-92161B0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578"/>
                </a:solidFill>
                <a:latin typeface="Arial"/>
                <a:ea typeface="Arial"/>
                <a:cs typeface="Arial"/>
              </a:rPr>
              <a:t>PITR incluido. Alternativa Linux: presupuesto de US$125/mes. Son opciones excluyentes.</a:t>
            </a:r>
          </a:p>
        </p:txBody>
      </p:sp>
    </p:spTree>
    <p:extLst>
      <p:ext uri="{BB962C8B-B14F-4D97-AF65-F5344CB8AC3E}">
        <p14:creationId xmlns:p14="http://schemas.microsoft.com/office/powerpoint/2010/main" val="288455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BFCDA-0A35-42FC-8BE3-EE6AA972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Desarrollo gratuito con límites explícitos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191000"/>
                <a:gridCol w="3638550"/>
              </a:tblGrid>
              <a:tr h="8191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Recurso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Oferta gratuita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Condición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Web App 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60 min CPU/día, 1 GB RAM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Sin SLA. Pruebas funcionales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Azure SQL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32 GB datos + 32 GB backups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100.000 segundos-vCore/mes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Control de costos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Pausa al agotar la cuota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Puede interrumpir el desarrollo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Carga de información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Scripts y transferencia lógica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Sin restore directo hacia free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41562-CBFD-4CD5-89B4-80F1D3F9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578"/>
                </a:solidFill>
                <a:latin typeface="Arial"/>
                <a:ea typeface="Arial"/>
                <a:cs typeface="Arial"/>
              </a:rPr>
              <a:t>Si la cuota resulta insuficiente: SQL S0 añade aproximadamente US$14,72/mes.</a:t>
            </a:r>
          </a:p>
        </p:txBody>
      </p:sp>
    </p:spTree>
    <p:extLst>
      <p:ext uri="{BB962C8B-B14F-4D97-AF65-F5344CB8AC3E}">
        <p14:creationId xmlns:p14="http://schemas.microsoft.com/office/powerpoint/2010/main" val="15301077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A1F60-1742-419C-B28B-D3361D6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Respaldos y recuperación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409700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4067175"/>
                <a:gridCol w="33337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Política propuesta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PITR de producción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35 días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Incluido en SQL DTU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Retención histórica LTR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Copia mensual, 12 meses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Reserva de US$10/mes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Restauración temporal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Prueba trimestral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Reserva de US$5/mes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Validación y documentación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Integradas al mantenimiento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Dentro de las 16 h/mes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PITR de desarrollo free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7 días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Según límites de la oferta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40FDA-9638-40E2-9BEF-903BE6AE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578"/>
                </a:solidFill>
                <a:latin typeface="Arial"/>
                <a:ea typeface="Arial"/>
                <a:cs typeface="Arial"/>
              </a:rPr>
              <a:t>Azure restaura a una nueva BD. El procedimiento .bak del VPS no se traslada a Azure SQL Database.</a:t>
            </a:r>
          </a:p>
        </p:txBody>
      </p:sp>
    </p:spTree>
    <p:extLst>
      <p:ext uri="{BB962C8B-B14F-4D97-AF65-F5344CB8AC3E}">
        <p14:creationId xmlns:p14="http://schemas.microsoft.com/office/powerpoint/2010/main" val="1260409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F2AE1-62DD-4C3F-8EA5-DE509348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Servicios de implementación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953250"/>
                <a:gridCol w="1428750"/>
                <a:gridCol w="2590800"/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Paquete de trabajo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Horas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Costo PEN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Revisión y ajustes funcionales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9.600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Preparación de datos y ambientes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5.760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Despliegue, backups y recuperación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2.880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Pruebas y transferencia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5.760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Subtotal + contingencia 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28.800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E2C22-A206-42C6-9E22-01576363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578"/>
                </a:solidFill>
                <a:latin typeface="Arial"/>
                <a:ea typeface="Arial"/>
                <a:cs typeface="Arial"/>
              </a:rPr>
              <a:t>Incluye completar el release existente. No incluye levantar y digitar toda la información real de los 147 BB.</a:t>
            </a:r>
          </a:p>
        </p:txBody>
      </p:sp>
    </p:spTree>
    <p:extLst>
      <p:ext uri="{BB962C8B-B14F-4D97-AF65-F5344CB8AC3E}">
        <p14:creationId xmlns:p14="http://schemas.microsoft.com/office/powerpoint/2010/main" val="1813684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BE1AB-0CCB-4ABC-84AF-32528AE1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Referencia de mano de obra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3571875"/>
                <a:gridCol w="35433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Modalidad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Rango de planificación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Tratamiento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Costo interno experimentado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S/54–91 por hora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Sueldo × factor / horas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Profesional externo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S/100–160 por hora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Base elegida: S/120/h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Proveedor con equipo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S/160–240 por hora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Cotización comercial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Solo puesta en producción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48–80 horas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S/5.760–9.600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Release existente completo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160–240 horas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S/19.200–28.800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39745-DB60-4075-89EA-7721EE12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578"/>
                </a:solidFill>
                <a:latin typeface="Arial"/>
                <a:ea typeface="Arial"/>
                <a:cs typeface="Arial"/>
              </a:rPr>
              <a:t>No son tarifas verificadas de BCP. Los alcances alternativos no se suman y excluyen contingencia.</a:t>
            </a:r>
          </a:p>
        </p:txBody>
      </p:sp>
    </p:spTree>
    <p:extLst>
      <p:ext uri="{BB962C8B-B14F-4D97-AF65-F5344CB8AC3E}">
        <p14:creationId xmlns:p14="http://schemas.microsoft.com/office/powerpoint/2010/main" val="182344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9FC47-747F-404E-BD86-BD979159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Mantenimiento mensual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1809750"/>
                <a:gridCol w="2152650"/>
                <a:gridCol w="2152650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Modalidad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Horas/mes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PEN/mes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PEN/año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Básico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960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11.520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Recomendado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1.920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23.040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Evolutivo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3.840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46.080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B6159-B570-4CD2-9768-7D330792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La bolsa recomendada cubre revisión operativa, dependencias, correctivos menores y pruebas de recuperación.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1E876-F73B-403E-A578-333BCFFD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578"/>
                </a:solidFill>
                <a:latin typeface="Arial"/>
                <a:ea typeface="Arial"/>
                <a:cs typeface="Arial"/>
              </a:rPr>
              <a:t>Atención en horario acordado. Funcionalidades mayores requieren estimación adicional.</a:t>
            </a:r>
          </a:p>
        </p:txBody>
      </p:sp>
    </p:spTree>
    <p:extLst>
      <p:ext uri="{BB962C8B-B14F-4D97-AF65-F5344CB8AC3E}">
        <p14:creationId xmlns:p14="http://schemas.microsoft.com/office/powerpoint/2010/main" val="755053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01A6E-007D-45F4-A4AC-928B638F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Alcance del presupuesto y próximos acuerdos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ADE85-041A-461B-A095-A20FEA70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5E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5E91"/>
                </a:solidFill>
                <a:latin typeface="Arial"/>
                <a:ea typeface="Arial"/>
                <a:cs typeface="Arial"/>
              </a:rPr>
              <a:t>Incluido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F07D1-5267-470B-8822-5D7BD27A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Una instancia productiva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Desarrollo básico separado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Respaldos y pruebas de recuperación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200 horas de implementación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16 horas mensuales de mantenimiento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7008D-0892-4F55-A977-AC094F72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10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5E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5E91"/>
                </a:solidFill>
                <a:latin typeface="Arial"/>
                <a:ea typeface="Arial"/>
                <a:cs typeface="Arial"/>
              </a:rPr>
              <a:t>Pendiente de cotizar o validar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FB93D-7462-4107-A52A-4E9C46E2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5105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Inventario de código y funcionalidades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Carga real de empresas y documentos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WAF, red privada y soporte 24/7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Licencias IDE/IA y Power BI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Impuestos y condiciones corporativas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7D6CC-CD45-4AD6-9102-03A5608C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4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578"/>
                </a:solidFill>
                <a:latin typeface="Arial"/>
                <a:ea typeface="Arial"/>
                <a:cs typeface="Arial"/>
              </a:rPr>
              <a:t>El Excel permite ajustar tarifas, horas y tipo de cambio. La presentación refleja el escenario inicial.</a:t>
            </a:r>
          </a:p>
        </p:txBody>
      </p:sp>
    </p:spTree>
    <p:extLst>
      <p:ext uri="{BB962C8B-B14F-4D97-AF65-F5344CB8AC3E}">
        <p14:creationId xmlns:p14="http://schemas.microsoft.com/office/powerpoint/2010/main" val="579438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2026-09-19T04:38:32.2250000Z</dcterms:created>
  <dcterms:modified xsi:type="dcterms:W3CDTF">2026-09-19T04:38:32.2250000Z</dcterms:modified>
</coreProperties>
</file>